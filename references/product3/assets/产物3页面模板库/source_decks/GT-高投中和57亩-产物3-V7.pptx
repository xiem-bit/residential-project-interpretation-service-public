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79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8" r:id="rId2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本线稿聚焦项目化的第二、三章。第一章公司简介与第四章交付履约沿用标准模板。</a:t>
            </a:r>
          </a:p>
          <a:p/>
          <a:p>
            <a:r>
              <a:t>[Transition]</a:t>
            </a:r>
          </a:p>
          <a:p>
            <a:r>
              <a:t>项目理解从客户真实选择开始。</a:t>
            </a:r>
          </a:p>
          <a:p/>
          <a:p>
            <a:r>
              <a:t>[Sources]</a:t>
            </a:r>
          </a:p>
          <a:p>
            <a:r>
              <a:t>- 07-产物1-竞争问题与竞争力判断-甲方版.md</a:t>
            </a:r>
          </a:p>
          <a:p>
            <a:r>
              <a:t>- 08-产物2-购买决策与客户声音深研-甲方版.md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第二章向甲方证明两个结果：真实竞争已经被准确理解，项目核心价值从事实与客户选择中逐级推导。</a:t>
            </a:r>
          </a:p>
          <a:p/>
          <a:p>
            <a:r>
              <a:t>[Transition]</a:t>
            </a:r>
          </a:p>
          <a:p>
            <a:r>
              <a:t>客户会把哪些生活方案放在同一张候选清单中。</a:t>
            </a:r>
          </a:p>
          <a:p/>
          <a:p>
            <a:r>
              <a:t>[Sources]</a:t>
            </a:r>
          </a:p>
          <a:p>
            <a:r>
              <a:t>- 15-产物3第二章生产消费合同.json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客户不是在单一的区位或户型之间选择，而是在成熟中和、新川新规、跨板块高阶产品与继续居住之间权衡：每个方向各有吸引点，也各有需要承担的代价。本案以“白天高效，回家松弛”重设比较标准。</a:t>
            </a:r>
          </a:p>
          <a:p/>
          <a:p>
            <a:r>
              <a:t>[Transition]</a:t>
            </a:r>
          </a:p>
          <a:p>
            <a:r>
              <a:t>接下来以区域、规划、户型三张同口径竞争地图，逐步说明本案为什么更适合这次改善。</a:t>
            </a:r>
          </a:p>
          <a:p/>
          <a:p>
            <a:r>
              <a:t>[Sources]</a:t>
            </a:r>
          </a:p>
          <a:p>
            <a:r>
              <a:t>- 08-产物2-购买决策与客户声音深研-甲方版.md#三类家庭的共同判断</a:t>
            </a:r>
          </a:p>
          <a:p>
            <a:r>
              <a:t>- 15-产物3第二章生产消费合同.json#candidate_and_substitute_relations</a:t>
            </a:r>
          </a:p>
          <a:p>
            <a:r>
              <a:t>- 05-客户研究样本底稿.md#有效选择事件（脱敏转述）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区域竞争承认新川新规与成熟存量的合理吸引。本案以三大板块的高效连接、成熟中和生活和陆肖新增资源形成自己的位置答案。</a:t>
            </a:r>
          </a:p>
          <a:p/>
          <a:p>
            <a:r>
              <a:t>[Transition]</a:t>
            </a:r>
          </a:p>
          <a:p>
            <a:r>
              <a:t>规划竞争继续回答改善能否从户内延伸到社区。</a:t>
            </a:r>
          </a:p>
          <a:p/>
          <a:p>
            <a:r>
              <a:t>[Sources]</a:t>
            </a:r>
          </a:p>
          <a:p>
            <a:r>
              <a:t>- 03-第一闸口-项目身份物理底盘与竞争候选.md</a:t>
            </a:r>
          </a:p>
          <a:p>
            <a:r>
              <a:t>- 04-经营基本盘与竞品QA.md</a:t>
            </a:r>
          </a:p>
          <a:p>
            <a:r>
              <a:t>- 13-高新南补充收集-查询计划与回执.md#5.2</a:t>
            </a:r>
          </a:p>
          <a:p>
            <a:r>
              <a:t>- 15-产物3第二章生产消费合同.json#REG</a:t>
            </a:r>
          </a:p>
          <a:p>
            <a:r>
              <a:t>- ArcGIS World Imagery｜公开影像瓦片</a:t>
            </a:r>
          </a:p>
          <a:p>
            <a:r>
              <a:t>- .tmp/产物3规则重构卫星图/coordinate_registry.csv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规划竞争把新规吸引、社区完整性和高频使用放在同一张比较页中。</a:t>
            </a:r>
          </a:p>
          <a:p/>
          <a:p>
            <a:r>
              <a:t>[Transition]</a:t>
            </a:r>
          </a:p>
          <a:p>
            <a:r>
              <a:t>户型竞争继续回答哪一档投入真正适合家庭下一阶段。</a:t>
            </a:r>
          </a:p>
          <a:p/>
          <a:p>
            <a:r>
              <a:t>[Sources]</a:t>
            </a:r>
          </a:p>
          <a:p>
            <a:r>
              <a:t>- 甲方建筑、景观与精装资料</a:t>
            </a:r>
          </a:p>
          <a:p>
            <a:r>
              <a:t>- 15-产物3第二章生产消费合同.json#PLAN</a:t>
            </a:r>
          </a:p>
          <a:p>
            <a:r>
              <a:t>- ArcGIS World Imagery｜公开影像瓦片</a:t>
            </a:r>
          </a:p>
          <a:p>
            <a:r>
              <a:t>- .tmp/产物3规则重构卫星图/coordinate_registry.csv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本案三档户型分别承接主流改善、公共空间升级与家庭长期居住。竞品新规四房和现房洋房都拥有清晰吸引力，本案用空间品质与完整社区形成另一种完整答案。</a:t>
            </a:r>
          </a:p>
          <a:p/>
          <a:p>
            <a:r>
              <a:t>[Transition]</a:t>
            </a:r>
          </a:p>
          <a:p>
            <a:r>
              <a:t>三张竞争地图的结论进入本案三大竞争优势。</a:t>
            </a:r>
          </a:p>
          <a:p/>
          <a:p>
            <a:r>
              <a:t>[Sources]</a:t>
            </a:r>
          </a:p>
          <a:p>
            <a:r>
              <a:t>- 04-经营基本盘与竞品QA.md#面积梯度经营假设</a:t>
            </a:r>
          </a:p>
          <a:p>
            <a:r>
              <a:t>- 08-产物2-购买决策与客户声音深研-甲方版.md</a:t>
            </a:r>
          </a:p>
          <a:p>
            <a:r>
              <a:t>- 13-高新南补充收集-查询计划与回执.md#5.2</a:t>
            </a:r>
          </a:p>
          <a:p>
            <a:r>
              <a:t>- 18-产物3第二章营销表达补充检索回执.md#W-MKT-01</a:t>
            </a:r>
          </a:p>
          <a:p>
            <a:r>
              <a:t>- 18-产物3第二章营销表达补充检索回执.md#W-MKT-03</a:t>
            </a:r>
          </a:p>
          <a:p>
            <a:r>
              <a:t>- 15-产物3第二章生产消费合同.json#UNIT</a:t>
            </a:r>
          </a:p>
          <a:p>
            <a:r>
              <a:t>- ArcGIS World Imagery｜公开影像瓦片</a:t>
            </a:r>
          </a:p>
          <a:p>
            <a:r>
              <a:t>- .tmp/产物3规则重构卫星图/coordinate_registry.csv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三张竞争地图共同说明，本案以高新南黄金中场、双TOD生活圈和完整纯改善社区形成三大竞争优势。</a:t>
            </a:r>
          </a:p>
          <a:p/>
          <a:p>
            <a:r>
              <a:t>[Transition]</a:t>
            </a:r>
          </a:p>
          <a:p>
            <a:r>
              <a:t>三条竞争力共同指向本案价值锚点。</a:t>
            </a:r>
          </a:p>
          <a:p/>
          <a:p>
            <a:r>
              <a:t>[Sources]</a:t>
            </a:r>
          </a:p>
          <a:p>
            <a:r>
              <a:t>- 07-产物1-竞争问题与竞争力判断-甲方版.md#三</a:t>
            </a:r>
          </a:p>
          <a:p>
            <a:r>
              <a:t>- 15-产物3第二章生产消费合同.json#advantage_matrix</a:t>
            </a:r>
          </a:p>
          <a:p>
            <a:r>
              <a:t>- https://www.nngroup.com/articles/be-succinct-writing-for-the-web/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第二章已经把三张竞争地图收敛为同一价值锚点：高新南效率中心，最具“松弛感”的生活方式。第三章不再重述共同答案，而是按三条超级竞争力把客户会看见什么、怎样形成判断讲清。</a:t>
            </a:r>
          </a:p>
          <a:p/>
          <a:p>
            <a:r>
              <a:t>[Transition]</a:t>
            </a:r>
          </a:p>
          <a:p>
            <a:r>
              <a:t>先从高新南黄金中场展开。</a:t>
            </a:r>
          </a:p>
          <a:p/>
          <a:p>
            <a:r>
              <a:t>[Sources]</a:t>
            </a:r>
          </a:p>
          <a:p>
            <a:r>
              <a:t>- 07-产物1-竞争问题与竞争力判断-甲方版.md#三大竞争力与价值锚点</a:t>
            </a:r>
          </a:p>
          <a:p>
            <a:r>
              <a:t>- 06-新旧判断复检与统一语义.md#三条超级竞争力的决策顺序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第二章向甲方证明两个结果：真实竞争已经被准确理解，项目核心价值从事实与客户选择中逐级推导。</a:t>
            </a:r>
          </a:p>
          <a:p/>
          <a:p>
            <a:r>
              <a:t>[Transition]</a:t>
            </a:r>
          </a:p>
          <a:p>
            <a:r>
              <a:t>客户会把哪些生活方案放在同一张候选清单中。</a:t>
            </a:r>
          </a:p>
          <a:p/>
          <a:p>
            <a:r>
              <a:t>[Sources]</a:t>
            </a:r>
          </a:p>
          <a:p>
            <a:r>
              <a:t>- 15-产物3第二章生产消费合同.json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本页先让客户建立城市关系，再把关系切换到自己的工作和生活任务。客户由此看见：本案不是把某一个方向说得更强，而是把多方向的效率与成熟日常放进同一次改善。</a:t>
            </a:r>
          </a:p>
          <a:p/>
          <a:p>
            <a:r>
              <a:t>[Sources]</a:t>
            </a:r>
          </a:p>
          <a:p>
            <a:r>
              <a:t>- 07-产物1-竞争问题与竞争力判断-甲方版.md#超级竞争力01</a:t>
            </a:r>
          </a:p>
          <a:p>
            <a:r>
              <a:t>- 06-新旧判断复检与统一语义.md#城市关系证明链</a:t>
            </a:r>
          </a:p>
          <a:p>
            <a:r>
              <a:t>- 案例截图素材语义台账.xlsx#CASE-032、CASE-025（展示机制参考，不构成高投项目事实或承诺）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置业顾问从客户常去的工作、接送和照应坐标出发，先在城市关系图中建立多方向连接，再回到项目如何承接。竞争判断不贬低任何一方：新川的新增界面与中和的成熟日常各有价值，本案的优势是同时组织两者。</a:t>
            </a:r>
          </a:p>
          <a:p/>
          <a:p>
            <a:r>
              <a:t>[Sources]</a:t>
            </a:r>
          </a:p>
          <a:p>
            <a:r>
              <a:t>- 15-产物3第二章生产消费合同.json#regional_map</a:t>
            </a:r>
          </a:p>
          <a:p>
            <a:r>
              <a:t>- 06-新旧判断复检与统一语义.md#SC1证明</a:t>
            </a:r>
          </a:p>
          <a:p>
            <a:r>
              <a:t>- 案例截图素材语义台账.xlsx#CASE-031、CASE-038（展示机制参考，不构成高投项目事实或承诺）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双TOD不是两个站点的并列介绍，而是客户每天的路线组织。张家寺承接已经熟悉的日常，陆肖连接新增资源；顾问按一天的真实任务切换路径，让客户判断效率是否真正服务家庭。</a:t>
            </a:r>
          </a:p>
          <a:p/>
          <a:p>
            <a:r>
              <a:t>[Sources]</a:t>
            </a:r>
          </a:p>
          <a:p>
            <a:r>
              <a:t>- 07-产物1-竞争问题与竞争力判断-甲方版.md#超级竞争力02</a:t>
            </a:r>
          </a:p>
          <a:p>
            <a:r>
              <a:t>- 06-新旧判断复检与统一语义.md#SC2证明</a:t>
            </a:r>
          </a:p>
          <a:p>
            <a:r>
              <a:t>- 案例截图素材语义台账.xlsx#CASE-070、CASE-075（展示机制参考，不构成高投项目事实或承诺）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本页把双TOD变成具体的家庭时间安排。顾问选择两个工作点、学校或照应点后切换路线；客户看到的不是抽象交通优势，而是更可持续的日常组织。比较时保留边界：竞品也可提供连接，本案强调的是成熟日常与新增资源的双向组合。</a:t>
            </a:r>
          </a:p>
          <a:p/>
          <a:p>
            <a:r>
              <a:t>[Sources]</a:t>
            </a:r>
          </a:p>
          <a:p>
            <a:r>
              <a:t>- 15-产物3第三章生产消费合同.json#MODULE-TOD</a:t>
            </a:r>
          </a:p>
          <a:p>
            <a:r>
              <a:t>- 08-产物2-购买决策与客户声音深研-甲方版.md#双工作地与家庭变化</a:t>
            </a:r>
          </a:p>
          <a:p>
            <a:r>
              <a:t>- 案例截图素材语义台账.xlsx#CASE-074、CASE-039（展示机制参考，不构成高投项目事实或承诺）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第三条竞争力不把产品停留在户型卖点。客户先理解完整社区的总体尺度，再进入归家、公区和户内，看见“白天高效，回家松弛”怎样被完整地承接。</a:t>
            </a:r>
          </a:p>
          <a:p/>
          <a:p>
            <a:r>
              <a:t>[Sources]</a:t>
            </a:r>
          </a:p>
          <a:p>
            <a:r>
              <a:t>- 07-产物1-竞争问题与竞争力判断-甲方版.md#超级竞争力03</a:t>
            </a:r>
          </a:p>
          <a:p>
            <a:r>
              <a:t>- 06-新旧判断复检与统一语义.md#SC3证明</a:t>
            </a:r>
          </a:p>
          <a:p>
            <a:r>
              <a:t>- 案例截图素材语义台账.xlsx#CASE-098、CASE-045（展示机制参考，不构成高投项目事实或承诺）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本页从甲方已授权方案效果图回到项目本身：低密、建筑尺度、户数与公共活动空间共同构成完整社区。产品比较不回避新规四房的吸引力，而是把客户的判断从单一房间数量推进到长期居住的整体体验。</a:t>
            </a:r>
          </a:p>
          <a:p/>
          <a:p>
            <a:r>
              <a:t>[Sources]</a:t>
            </a:r>
          </a:p>
          <a:p>
            <a:r>
              <a:t>- 07-产物1-竞争问题与竞争力判断-甲方版.md#项目产品事实</a:t>
            </a:r>
          </a:p>
          <a:p>
            <a:r>
              <a:t>- 建筑-20250905-中和57亩文本.pdf#指标与总图</a:t>
            </a:r>
          </a:p>
          <a:p>
            <a:r>
              <a:t>- 景观-2026.03.02 高投中和57亩展示区完整方案水印.pdf#景观与公共空间</a:t>
            </a:r>
          </a:p>
          <a:p>
            <a:r>
              <a:t>- 10-产物5-住宅UE交互视觉原型/public/assets/project-aerial-hq.png（甲方方案效果图）</a:t>
            </a:r>
          </a:p>
          <a:p>
            <a:r>
              <a:t>- 10-产物5-住宅UE交互视觉原型/public/assets/community-garden.png（甲方方案效果图）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本页把三类家庭的改善目的、选择重点、面积和参考总价放在同一张图中。</a:t>
            </a:r>
          </a:p>
          <a:p/>
          <a:p>
            <a:r>
              <a:t>[Transition]</a:t>
            </a:r>
          </a:p>
          <a:p>
            <a:r>
              <a:t>生活秩序升级家庭从熟悉生活与完整改善开始。</a:t>
            </a:r>
          </a:p>
          <a:p/>
          <a:p>
            <a:r>
              <a:t>[Sources]</a:t>
            </a:r>
          </a:p>
          <a:p>
            <a:r>
              <a:t>- 08-产物2-购买决策与客户声音深研-甲方版.md#三</a:t>
            </a:r>
          </a:p>
          <a:p>
            <a:r>
              <a:t>- 04-经营基本盘与竞品QA.md</a:t>
            </a:r>
          </a:p>
          <a:p>
            <a:r>
              <a:t>- 16-产物3第三章生产消费合同.json#family_routes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生活秩序升级型家庭要保留已经稳定的工作、接送、照应与采购网络，同时升级收纳、双卫、隐私和公共生活。顾问从生活连续性进入，再以124／139㎡与完整社区完成匹配。</a:t>
            </a:r>
          </a:p>
          <a:p/>
          <a:p>
            <a:r>
              <a:t>[Sources]</a:t>
            </a:r>
          </a:p>
          <a:p>
            <a:r>
              <a:t>- 08-产物2-购买决策与客户声音深研-甲方版.md#生活秩序升级</a:t>
            </a:r>
          </a:p>
          <a:p>
            <a:r>
              <a:t>- 15-产物3第三章生产消费合同.json#FAMILY-PATH-01</a:t>
            </a:r>
          </a:p>
          <a:p>
            <a:r>
              <a:t>- 案例截图素材语义台账.xlsx#CASE-101、CASE-102（展示机制参考，不构成高投项目事实或承诺）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双工作地与家庭变化型家庭的关键不是面积标签，而是两条通勤、支付能力、四房需求、父母短住与居家办公能否同时成立。顾问先听两人坐标和家庭变化，再以黄金中场、双TOD和124／139㎡给出匹配。</a:t>
            </a:r>
          </a:p>
          <a:p/>
          <a:p>
            <a:r>
              <a:t>[Sources]</a:t>
            </a:r>
          </a:p>
          <a:p>
            <a:r>
              <a:t>- 08-产物2-购买决策与客户声音深研-甲方版.md#双工作地与家庭变化</a:t>
            </a:r>
          </a:p>
          <a:p>
            <a:r>
              <a:t>- 15-产物3第三章生产消费合同.json#FAMILY-PATH-02</a:t>
            </a:r>
          </a:p>
          <a:p>
            <a:r>
              <a:t>- 案例截图素材语义台账.xlsx#CASE-007、CASE-104（展示机制参考，不构成高投项目事实或承诺）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长周期家庭关系改善型家庭要解决工作、亲情、社交与独处的长期共处。165㎡、四房三卫、3.15米层高与完整低密社区共同承接更长的居住周期；大平层、洋房与现房仍是其真实替代选择。</a:t>
            </a:r>
          </a:p>
          <a:p/>
          <a:p>
            <a:r>
              <a:t>[Sources]</a:t>
            </a:r>
          </a:p>
          <a:p>
            <a:r>
              <a:t>- 08-产物2-购买决策与客户声音深研-甲方版.md#长周期家庭关系改善</a:t>
            </a:r>
          </a:p>
          <a:p>
            <a:r>
              <a:t>- 15-产物3第三章生产消费合同.json#FAMILY-PATH-03</a:t>
            </a:r>
          </a:p>
          <a:p>
            <a:r>
              <a:t>- 案例截图素材语义台账.xlsx#CASE-106、CASE-107（展示机制参考，不构成高投项目事实或承诺）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系统先完成对本案的共同理解，再按不同家庭进入更适合的空间和房源。采购范围围绕已经成立的三条竞争力和三类家庭选择组织，不按传统功能目录机械展开。</a:t>
            </a:r>
          </a:p>
          <a:p/>
          <a:p>
            <a:r>
              <a:t>[Transition]</a:t>
            </a:r>
          </a:p>
          <a:p>
            <a:r>
              <a:t>以下三页确认进入本轮制作的核心模块。</a:t>
            </a:r>
          </a:p>
          <a:p/>
          <a:p>
            <a:r>
              <a:t>[Sources]</a:t>
            </a:r>
          </a:p>
          <a:p>
            <a:r>
              <a:t>- 15-产物3第三章生产消费合同.json#system_architecture</a:t>
            </a:r>
          </a:p>
          <a:p>
            <a:r>
              <a:t>- 16-产物3第三章生产消费合同.json#modules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[Talk Track]</a:t>
            </a:r>
          </a:p>
          <a:p>
            <a:r>
              <a:t>整套方案从真实竞争推导价值锚点，用三条竞争力建立共同答案，再沿家庭任务进入产品与具体画面。</a:t>
            </a:r>
          </a:p>
          <a:p/>
          <a:p>
            <a:r>
              <a:t>[Transition]</a:t>
            </a:r>
          </a:p>
          <a:p>
            <a:r>
              <a:t>第二、三章结束，第一、四章使用标准模板完成正式技术标。</a:t>
            </a:r>
          </a:p>
          <a:p/>
          <a:p>
            <a:r>
              <a:t>[Sources]</a:t>
            </a:r>
          </a:p>
          <a:p>
            <a:r>
              <a:t>- 15-产物3第二章生产消费合同.json</a:t>
            </a:r>
          </a:p>
          <a:p>
            <a:r>
              <a:t>- 16-产物3第三章生产消费合同.json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42950" y="1619250"/>
            <a:ext cx="6858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高投中和57亩</a:t>
            </a:r>
            <a:endParaRPr sz="4350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2647950"/>
            <a:ext cx="723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E8D2BF"/>
                </a:solidFill>
              </a:defRPr>
            </a:pPr>
            <a:r>
              <a:rPr sz="2850" b="1">
                <a:solidFill>
                  <a:srgbClr val="E8D2BF"/>
                </a:solidFill>
                <a:latin typeface="微软雅黑" charset="0"/>
                <a:ea typeface="微软雅黑" charset="0"/>
              </a:rPr>
              <a:t>白天高效，回家松弛</a:t>
            </a:r>
            <a:endParaRPr sz="2850" b="1">
              <a:solidFill>
                <a:srgbClr val="E8D2B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3714750"/>
            <a:ext cx="3333750" cy="47625"/>
          </a:xfrm>
          <a:prstGeom prst="rect">
            <a:avLst/>
          </a:prstGeom>
          <a:solidFill>
            <a:srgbClr val="C66A36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4095750"/>
            <a:ext cx="5905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C9D7D2"/>
                </a:solidFill>
              </a:defRPr>
            </a:pPr>
            <a:r>
              <a:rPr sz="1650" b="0">
                <a:solidFill>
                  <a:srgbClr val="C9D7D2"/>
                </a:solidFill>
                <a:latin typeface="微软雅黑" charset="0"/>
                <a:ea typeface="微软雅黑" charset="0"/>
                <a:cs typeface="微软雅黑" charset="0"/>
              </a:rPr>
              <a:t>第二章｜项目理解与展示策略分析</a:t>
            </a:r>
            <a:endParaRPr sz="1650" b="0">
              <a:solidFill>
                <a:srgbClr val="C9D7D2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5000"/>
              </a:lnSpc>
              <a:buNone/>
              <a:defRPr sz="1650" b="0">
                <a:solidFill>
                  <a:srgbClr val="C9D7D2"/>
                </a:solidFill>
              </a:defRPr>
            </a:pPr>
            <a:r>
              <a:rPr sz="1650" b="0">
                <a:solidFill>
                  <a:srgbClr val="C9D7D2"/>
                </a:solidFill>
                <a:latin typeface="微软雅黑" charset="0"/>
                <a:ea typeface="微软雅黑" charset="0"/>
                <a:cs typeface="微软雅黑" charset="0"/>
              </a:rPr>
              <a:t>第三章｜明源UE系统解决方案</a:t>
            </a:r>
            <a:endParaRPr sz="1650" b="0">
              <a:solidFill>
                <a:srgbClr val="C9D7D2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762000" y="2143125"/>
            <a:ext cx="9334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750" b="1">
                <a:solidFill>
                  <a:srgbClr val="FFFFFF"/>
                </a:solidFill>
              </a:defRPr>
            </a:pPr>
            <a:r>
              <a:rPr lang="en-US" sz="3750" b="1">
                <a:solidFill>
                  <a:srgbClr val="FFFFFF"/>
                </a:solidFill>
                <a:latin typeface="微软雅黑" charset="0"/>
                <a:ea typeface="微软雅黑" charset="0"/>
              </a:rPr>
              <a:t>No.2 </a:t>
            </a:r>
            <a:r>
              <a:rPr sz="3750" b="1">
                <a:solidFill>
                  <a:srgbClr val="FFFFFF"/>
                </a:solidFill>
                <a:latin typeface="微软雅黑" charset="0"/>
                <a:ea typeface="微软雅黑" charset="0"/>
              </a:rPr>
              <a:t>项目理解与展示策略分析</a:t>
            </a:r>
            <a:endParaRPr sz="3750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3314700"/>
            <a:ext cx="8858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75" b="0">
                <a:solidFill>
                  <a:srgbClr val="C9D7D2"/>
                </a:solidFill>
              </a:defRPr>
            </a:pPr>
            <a:r>
              <a:rPr sz="1875" b="0">
                <a:solidFill>
                  <a:srgbClr val="C9D7D2"/>
                </a:solidFill>
                <a:latin typeface="微软雅黑" charset="0"/>
                <a:ea typeface="微软雅黑" charset="0"/>
              </a:rPr>
              <a:t>从高新南的真实竞争出发，找到本案的价值锚点与三条超级竞争力</a:t>
            </a:r>
            <a:endParaRPr sz="1875" b="0">
              <a:solidFill>
                <a:srgbClr val="C9D7D2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4762500"/>
            <a:ext cx="3714750" cy="47625"/>
          </a:xfrm>
          <a:prstGeom prst="rect">
            <a:avLst/>
          </a:prstGeom>
          <a:solidFill>
            <a:srgbClr val="C66A36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圆角矩形 29"/>
          <p:cNvSpPr>
            <a:spLocks noGrp="1"/>
          </p:cNvSpPr>
          <p:nvPr/>
        </p:nvSpPr>
        <p:spPr>
          <a:xfrm>
            <a:off x="609600" y="3238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04850" y="37147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客户真实选择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09600" y="819150"/>
            <a:ext cx="10668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623"/>
                </a:solidFill>
              </a:defRPr>
            </a:pPr>
            <a:r>
              <a:rPr sz="2700" b="1">
                <a:solidFill>
                  <a:srgbClr val="172623"/>
                </a:solidFill>
                <a:latin typeface="微软雅黑" charset="0"/>
                <a:ea typeface="微软雅黑" charset="0"/>
              </a:rPr>
              <a:t>一家人的现实条件，让不同改善方案进入同一场比较</a:t>
            </a:r>
            <a:endParaRPr sz="2700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504950"/>
            <a:ext cx="1057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5716D"/>
                </a:solidFill>
              </a:defRPr>
            </a:pPr>
            <a:r>
              <a:rPr sz="1350" b="0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通勤、照应、日常、投入与居住品质共同决定下一步；本案要把比较带回“效率与松弛能否同时得到”。</a:t>
            </a:r>
            <a:endParaRPr sz="1350" b="0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0" y="2643505"/>
            <a:ext cx="19050" cy="2381250"/>
          </a:xfrm>
          <a:prstGeom prst="rect">
            <a:avLst/>
          </a:prstGeom>
          <a:solidFill>
            <a:srgbClr val="CBD3C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857500" y="3829050"/>
            <a:ext cx="6477000" cy="19050"/>
          </a:xfrm>
          <a:prstGeom prst="rect">
            <a:avLst/>
          </a:prstGeom>
          <a:solidFill>
            <a:srgbClr val="CBD3CF"/>
          </a:solidFill>
          <a:ln w="0">
            <a:noFill/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609600" y="2238375"/>
            <a:ext cx="2895600" cy="1428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762000" y="2371725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0E9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4193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446879"/>
                </a:solidFill>
              </a:defRPr>
            </a:pPr>
            <a:r>
              <a:rPr sz="97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成熟中和</a:t>
            </a:r>
            <a:endParaRPr sz="97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2790825"/>
            <a:ext cx="2552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 anchorCtr="0">
            <a:normAutofit fontScale="90681"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2531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25312D"/>
                </a:solidFill>
                <a:latin typeface="微软雅黑" charset="0"/>
                <a:ea typeface="微软雅黑" charset="0"/>
                <a:cs typeface="PingFang SC" panose="020B0400000000000000" charset="-122"/>
              </a:rPr>
              <a:t>熟悉的通勤、接送与消费</a:t>
            </a:r>
            <a:endParaRPr sz="1200" b="0">
              <a:solidFill>
                <a:srgbClr val="25312D"/>
              </a:solidFill>
              <a:latin typeface="微软雅黑" charset="0"/>
              <a:ea typeface="微软雅黑" charset="0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2531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25312D"/>
                </a:solidFill>
                <a:latin typeface="微软雅黑" charset="0"/>
                <a:ea typeface="微软雅黑" charset="0"/>
                <a:cs typeface="PingFang SC" panose="020B0400000000000000" charset="-122"/>
              </a:rPr>
              <a:t>较低的生活改变成本</a:t>
            </a:r>
            <a:endParaRPr sz="1200" b="0">
              <a:solidFill>
                <a:srgbClr val="25312D"/>
              </a:solidFill>
              <a:latin typeface="微软雅黑" charset="0"/>
              <a:ea typeface="微软雅黑" charset="0"/>
              <a:cs typeface="PingFang SC" panose="020B04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686800" y="2238375"/>
            <a:ext cx="2895600" cy="1428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8839200" y="2371725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0E9ED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934450" y="24193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446879"/>
                </a:solidFill>
              </a:defRPr>
            </a:pPr>
            <a:r>
              <a:rPr sz="97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新川新规</a:t>
            </a:r>
            <a:endParaRPr sz="97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858250" y="2790825"/>
            <a:ext cx="2552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 anchorCtr="0">
            <a:normAutofit fontScale="90681"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2531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25312D"/>
                </a:solidFill>
                <a:latin typeface="微软雅黑" charset="0"/>
                <a:ea typeface="微软雅黑" charset="0"/>
                <a:cs typeface="PingFang SC" panose="020B0400000000000000" charset="-122"/>
              </a:rPr>
              <a:t>新规四房与更高空间利用率</a:t>
            </a:r>
            <a:endParaRPr sz="1200" b="0">
              <a:solidFill>
                <a:srgbClr val="25312D"/>
              </a:solidFill>
              <a:latin typeface="微软雅黑" charset="0"/>
              <a:ea typeface="微软雅黑" charset="0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2531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25312D"/>
                </a:solidFill>
                <a:latin typeface="微软雅黑" charset="0"/>
                <a:ea typeface="微软雅黑" charset="0"/>
                <a:cs typeface="PingFang SC" panose="020B0400000000000000" charset="-122"/>
              </a:rPr>
              <a:t>新的城市界面</a:t>
            </a:r>
            <a:endParaRPr sz="1200" b="0">
              <a:solidFill>
                <a:srgbClr val="25312D"/>
              </a:solidFill>
              <a:latin typeface="微软雅黑" charset="0"/>
              <a:ea typeface="微软雅黑" charset="0"/>
              <a:cs typeface="PingFang SC" panose="020B04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09600" y="4010025"/>
            <a:ext cx="2895600" cy="1428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762000" y="4143375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0E9ED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7250" y="41910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446879"/>
                </a:solidFill>
              </a:defRPr>
            </a:pPr>
            <a:r>
              <a:rPr sz="97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跨板块高阶</a:t>
            </a:r>
            <a:endParaRPr sz="97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1050" y="4562475"/>
            <a:ext cx="2552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 anchorCtr="0">
            <a:normAutofit fontScale="90681"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2531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25312D"/>
                </a:solidFill>
                <a:latin typeface="微软雅黑" charset="0"/>
                <a:ea typeface="微软雅黑" charset="0"/>
                <a:cs typeface="PingFang SC" panose="020B0400000000000000" charset="-122"/>
              </a:rPr>
              <a:t>更大面积、洋房与现房</a:t>
            </a:r>
            <a:endParaRPr sz="1200" b="0">
              <a:solidFill>
                <a:srgbClr val="25312D"/>
              </a:solidFill>
              <a:latin typeface="微软雅黑" charset="0"/>
              <a:ea typeface="微软雅黑" charset="0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2531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25312D"/>
                </a:solidFill>
                <a:latin typeface="微软雅黑" charset="0"/>
                <a:ea typeface="微软雅黑" charset="0"/>
                <a:cs typeface="PingFang SC" panose="020B0400000000000000" charset="-122"/>
              </a:rPr>
              <a:t>更高阶的居住体验</a:t>
            </a:r>
            <a:endParaRPr sz="1200" b="0">
              <a:solidFill>
                <a:srgbClr val="25312D"/>
              </a:solidFill>
              <a:latin typeface="微软雅黑" charset="0"/>
              <a:ea typeface="微软雅黑" charset="0"/>
              <a:cs typeface="PingFang SC" panose="020B0400000000000000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686800" y="4010025"/>
            <a:ext cx="2895600" cy="1428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8839200" y="4143375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0E9ED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934450" y="41910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446879"/>
                </a:solidFill>
              </a:defRPr>
            </a:pPr>
            <a:r>
              <a:rPr sz="97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继续居住</a:t>
            </a:r>
            <a:endParaRPr sz="97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858250" y="4562475"/>
            <a:ext cx="2552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 anchorCtr="0">
            <a:normAutofit fontScale="90681"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2531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25312D"/>
                </a:solidFill>
                <a:latin typeface="微软雅黑" charset="0"/>
                <a:ea typeface="微软雅黑" charset="0"/>
                <a:cs typeface="PingFang SC" panose="020B0400000000000000" charset="-122"/>
              </a:rPr>
              <a:t>熟悉生活继续运行</a:t>
            </a:r>
            <a:endParaRPr sz="1200" b="0">
              <a:solidFill>
                <a:srgbClr val="25312D"/>
              </a:solidFill>
              <a:latin typeface="微软雅黑" charset="0"/>
              <a:ea typeface="微软雅黑" charset="0"/>
              <a:cs typeface="PingFang SC" panose="020B0400000000000000" charset="-122"/>
            </a:endParaRPr>
          </a:p>
          <a:p>
            <a:pPr algn="l">
              <a:lnSpc>
                <a:spcPct val="112000"/>
              </a:lnSpc>
              <a:buNone/>
              <a:defRPr sz="1200" b="0">
                <a:solidFill>
                  <a:srgbClr val="2531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25312D"/>
                </a:solidFill>
                <a:latin typeface="微软雅黑" charset="0"/>
                <a:ea typeface="微软雅黑" charset="0"/>
                <a:cs typeface="PingFang SC" panose="020B0400000000000000" charset="-122"/>
              </a:rPr>
              <a:t>翻新与继续持有</a:t>
            </a:r>
            <a:endParaRPr sz="1200" b="0">
              <a:solidFill>
                <a:srgbClr val="25312D"/>
              </a:solidFill>
              <a:latin typeface="微软雅黑" charset="0"/>
              <a:ea typeface="微软雅黑" charset="0"/>
              <a:cs typeface="PingFang SC" panose="020B0400000000000000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4362450" y="2876550"/>
            <a:ext cx="3467100" cy="2000250"/>
          </a:xfrm>
          <a:prstGeom prst="roundRect">
            <a:avLst>
              <a:gd name="adj" fmla="val 7619"/>
            </a:avLst>
          </a:prstGeom>
          <a:solidFill>
            <a:srgbClr val="1F4D40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762500" y="314325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高投中和57亩</a:t>
            </a:r>
            <a:endParaRPr sz="2100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686300" y="3781425"/>
            <a:ext cx="28194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DCE8E3"/>
                </a:solidFill>
              </a:defRPr>
            </a:pPr>
            <a:r>
              <a:rPr sz="1350" b="0">
                <a:solidFill>
                  <a:srgbClr val="DCE8E3"/>
                </a:solidFill>
                <a:latin typeface="微软雅黑" charset="0"/>
                <a:ea typeface="微软雅黑" charset="0"/>
                <a:cs typeface="微软雅黑" charset="0"/>
              </a:rPr>
              <a:t>高效连接金融城、大源与新川</a:t>
            </a:r>
            <a:endParaRPr sz="1350" b="0">
              <a:solidFill>
                <a:srgbClr val="DCE8E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>
              <a:lnSpc>
                <a:spcPct val="105000"/>
              </a:lnSpc>
              <a:buNone/>
              <a:defRPr sz="1350" b="0">
                <a:solidFill>
                  <a:srgbClr val="DCE8E3"/>
                </a:solidFill>
              </a:defRPr>
            </a:pPr>
            <a:r>
              <a:rPr sz="1350" b="0">
                <a:solidFill>
                  <a:srgbClr val="DCE8E3"/>
                </a:solidFill>
                <a:latin typeface="微软雅黑" charset="0"/>
                <a:ea typeface="微软雅黑" charset="0"/>
                <a:cs typeface="微软雅黑" charset="0"/>
              </a:rPr>
              <a:t>完整低密社区</a:t>
            </a:r>
            <a:endParaRPr sz="1350" b="0">
              <a:solidFill>
                <a:srgbClr val="DCE8E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>
              <a:lnSpc>
                <a:spcPct val="105000"/>
              </a:lnSpc>
              <a:buNone/>
              <a:defRPr sz="1350" b="0">
                <a:solidFill>
                  <a:srgbClr val="DCE8E3"/>
                </a:solidFill>
              </a:defRPr>
            </a:pPr>
            <a:r>
              <a:rPr sz="1350" b="0">
                <a:solidFill>
                  <a:srgbClr val="DCE8E3"/>
                </a:solidFill>
                <a:latin typeface="微软雅黑" charset="0"/>
                <a:ea typeface="微软雅黑" charset="0"/>
                <a:cs typeface="微软雅黑" charset="0"/>
              </a:rPr>
              <a:t>124／139／165㎡三档改善户型</a:t>
            </a:r>
            <a:endParaRPr sz="1350" b="0">
              <a:solidFill>
                <a:srgbClr val="DCE8E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1485900" y="5715000"/>
            <a:ext cx="9220200" cy="552450"/>
          </a:xfrm>
          <a:prstGeom prst="roundRect">
            <a:avLst>
              <a:gd name="adj" fmla="val 20690"/>
            </a:avLst>
          </a:prstGeom>
          <a:solidFill>
            <a:srgbClr val="E9EFEA"/>
          </a:solidFill>
          <a:ln w="9525">
            <a:solidFill>
              <a:srgbClr val="B8C9C1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752600" y="5876925"/>
            <a:ext cx="8686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1F4D40"/>
                </a:solidFill>
              </a:defRPr>
            </a:pPr>
            <a:r>
              <a:rPr sz="1350" b="1">
                <a:solidFill>
                  <a:srgbClr val="1F4D40"/>
                </a:solidFill>
                <a:latin typeface="微软雅黑" charset="0"/>
                <a:ea typeface="微软雅黑" charset="0"/>
              </a:rPr>
              <a:t>本案从城市效率、完整社区与长期居住三方面回答这次改善，让选择回到一家人真正想保留和获得的生活。</a:t>
            </a:r>
            <a:endParaRPr sz="1350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1" name="客户原声标签 1"/>
          <p:cNvSpPr>
            <a:spLocks noGrp="1"/>
          </p:cNvSpPr>
          <p:nvPr/>
        </p:nvSpPr>
        <p:spPr>
          <a:xfrm>
            <a:off x="781050" y="3209925"/>
            <a:ext cx="2552700" cy="142875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algn="l">
              <a:buNone/>
              <a:defRPr sz="790" b="1">
                <a:solidFill>
                  <a:srgbClr val="78908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789087"/>
                </a:solidFill>
                <a:latin typeface="微软雅黑" charset="0"/>
                <a:ea typeface="微软雅黑" charset="0"/>
                <a:cs typeface="PingFang SC" panose="020B0400000000000000" charset="-122"/>
              </a:rPr>
              <a:t>客户原声｜脱敏转述</a:t>
            </a:r>
            <a:endParaRPr sz="790" b="1">
              <a:solidFill>
                <a:srgbClr val="789087"/>
              </a:solidFill>
              <a:latin typeface="微软雅黑" charset="0"/>
              <a:ea typeface="微软雅黑" charset="0"/>
              <a:cs typeface="PingFang SC" panose="020B0400000000000000" charset="-122"/>
            </a:endParaRPr>
          </a:p>
        </p:txBody>
      </p:sp>
      <p:sp>
        <p:nvSpPr>
          <p:cNvPr id="32" name="客户原声正文 1"/>
          <p:cNvSpPr>
            <a:spLocks noGrp="1"/>
          </p:cNvSpPr>
          <p:nvPr/>
        </p:nvSpPr>
        <p:spPr>
          <a:xfrm>
            <a:off x="781050" y="3371850"/>
            <a:ext cx="2552700" cy="2286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/>
          <a:p>
            <a:pPr algn="l">
              <a:lnSpc>
                <a:spcPct val="105000"/>
              </a:lnSpc>
              <a:buNone/>
              <a:defRPr sz="940">
                <a:solidFill>
                  <a:srgbClr val="4C5A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>
                <a:solidFill>
                  <a:srgbClr val="4C5A55"/>
                </a:solidFill>
                <a:latin typeface="微软雅黑" charset="0"/>
                <a:ea typeface="微软雅黑" charset="0"/>
                <a:cs typeface="PingFang SC" panose="020B0400000000000000" charset="-122"/>
              </a:rPr>
              <a:t>我想把熟悉的通勤和生活都保留下来</a:t>
            </a:r>
            <a:endParaRPr sz="940">
              <a:solidFill>
                <a:srgbClr val="4C5A55"/>
              </a:solidFill>
              <a:latin typeface="微软雅黑" charset="0"/>
              <a:ea typeface="微软雅黑" charset="0"/>
              <a:cs typeface="PingFang SC" panose="020B0400000000000000" charset="-122"/>
            </a:endParaRPr>
          </a:p>
        </p:txBody>
      </p:sp>
      <p:sp>
        <p:nvSpPr>
          <p:cNvPr id="33" name="客户原声标签 2"/>
          <p:cNvSpPr>
            <a:spLocks noGrp="1"/>
          </p:cNvSpPr>
          <p:nvPr/>
        </p:nvSpPr>
        <p:spPr>
          <a:xfrm>
            <a:off x="8858250" y="3209925"/>
            <a:ext cx="2552700" cy="142875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algn="l">
              <a:buNone/>
              <a:defRPr sz="790" b="1">
                <a:solidFill>
                  <a:srgbClr val="78908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789087"/>
                </a:solidFill>
                <a:latin typeface="微软雅黑" charset="0"/>
                <a:ea typeface="微软雅黑" charset="0"/>
                <a:cs typeface="PingFang SC" panose="020B0400000000000000" charset="-122"/>
              </a:rPr>
              <a:t>客户原声｜公开原句</a:t>
            </a:r>
            <a:endParaRPr sz="790" b="1">
              <a:solidFill>
                <a:srgbClr val="789087"/>
              </a:solidFill>
              <a:latin typeface="微软雅黑" charset="0"/>
              <a:ea typeface="微软雅黑" charset="0"/>
              <a:cs typeface="PingFang SC" panose="020B0400000000000000" charset="-122"/>
            </a:endParaRPr>
          </a:p>
        </p:txBody>
      </p:sp>
      <p:sp>
        <p:nvSpPr>
          <p:cNvPr id="34" name="客户原声正文 2"/>
          <p:cNvSpPr>
            <a:spLocks noGrp="1"/>
          </p:cNvSpPr>
          <p:nvPr/>
        </p:nvSpPr>
        <p:spPr>
          <a:xfrm>
            <a:off x="8858250" y="3371850"/>
            <a:ext cx="2552700" cy="2286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/>
          <a:p>
            <a:pPr algn="l">
              <a:lnSpc>
                <a:spcPct val="105000"/>
              </a:lnSpc>
              <a:buNone/>
              <a:defRPr sz="940">
                <a:solidFill>
                  <a:srgbClr val="4C5A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>
                <a:solidFill>
                  <a:srgbClr val="4C5A55"/>
                </a:solidFill>
                <a:latin typeface="微软雅黑" charset="0"/>
                <a:ea typeface="微软雅黑" charset="0"/>
                <a:cs typeface="PingFang SC" panose="020B0400000000000000" charset="-122"/>
              </a:rPr>
              <a:t>还是得实用和喜欢</a:t>
            </a:r>
            <a:endParaRPr sz="940">
              <a:solidFill>
                <a:srgbClr val="4C5A55"/>
              </a:solidFill>
              <a:latin typeface="微软雅黑" charset="0"/>
              <a:ea typeface="微软雅黑" charset="0"/>
              <a:cs typeface="PingFang SC" panose="020B0400000000000000" charset="-122"/>
            </a:endParaRPr>
          </a:p>
        </p:txBody>
      </p:sp>
      <p:sp>
        <p:nvSpPr>
          <p:cNvPr id="35" name="客户原声标签 3"/>
          <p:cNvSpPr>
            <a:spLocks noGrp="1"/>
          </p:cNvSpPr>
          <p:nvPr/>
        </p:nvSpPr>
        <p:spPr>
          <a:xfrm>
            <a:off x="781050" y="4981575"/>
            <a:ext cx="2552700" cy="142875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algn="l">
              <a:buNone/>
              <a:defRPr sz="790" b="1">
                <a:solidFill>
                  <a:srgbClr val="78908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789087"/>
                </a:solidFill>
                <a:latin typeface="微软雅黑" charset="0"/>
                <a:ea typeface="微软雅黑" charset="0"/>
                <a:cs typeface="PingFang SC" panose="020B0400000000000000" charset="-122"/>
              </a:rPr>
              <a:t>客户原声｜脱敏转述</a:t>
            </a:r>
            <a:endParaRPr sz="790" b="1">
              <a:solidFill>
                <a:srgbClr val="789087"/>
              </a:solidFill>
              <a:latin typeface="微软雅黑" charset="0"/>
              <a:ea typeface="微软雅黑" charset="0"/>
              <a:cs typeface="PingFang SC" panose="020B0400000000000000" charset="-122"/>
            </a:endParaRPr>
          </a:p>
        </p:txBody>
      </p:sp>
      <p:sp>
        <p:nvSpPr>
          <p:cNvPr id="36" name="客户原声正文 3"/>
          <p:cNvSpPr>
            <a:spLocks noGrp="1"/>
          </p:cNvSpPr>
          <p:nvPr/>
        </p:nvSpPr>
        <p:spPr>
          <a:xfrm>
            <a:off x="781050" y="5143500"/>
            <a:ext cx="2552700" cy="2286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/>
          <a:p>
            <a:pPr algn="l">
              <a:lnSpc>
                <a:spcPct val="105000"/>
              </a:lnSpc>
              <a:buNone/>
              <a:defRPr sz="940">
                <a:solidFill>
                  <a:srgbClr val="4C5A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>
                <a:solidFill>
                  <a:srgbClr val="4C5A55"/>
                </a:solidFill>
                <a:latin typeface="微软雅黑" charset="0"/>
                <a:ea typeface="微软雅黑" charset="0"/>
                <a:cs typeface="PingFang SC" panose="020B0400000000000000" charset="-122"/>
              </a:rPr>
              <a:t>我更看重低密、阳台和性价比</a:t>
            </a:r>
            <a:endParaRPr sz="940">
              <a:solidFill>
                <a:srgbClr val="4C5A55"/>
              </a:solidFill>
              <a:latin typeface="微软雅黑" charset="0"/>
              <a:ea typeface="微软雅黑" charset="0"/>
              <a:cs typeface="PingFang SC" panose="020B0400000000000000" charset="-122"/>
            </a:endParaRPr>
          </a:p>
        </p:txBody>
      </p:sp>
      <p:sp>
        <p:nvSpPr>
          <p:cNvPr id="37" name="客户原声标签 4"/>
          <p:cNvSpPr>
            <a:spLocks noGrp="1"/>
          </p:cNvSpPr>
          <p:nvPr/>
        </p:nvSpPr>
        <p:spPr>
          <a:xfrm>
            <a:off x="8858250" y="4981575"/>
            <a:ext cx="2552700" cy="142875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/>
          <a:p>
            <a:pPr algn="l">
              <a:buNone/>
              <a:defRPr sz="790" b="1">
                <a:solidFill>
                  <a:srgbClr val="78908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789087"/>
                </a:solidFill>
                <a:latin typeface="微软雅黑" charset="0"/>
                <a:ea typeface="微软雅黑" charset="0"/>
                <a:cs typeface="PingFang SC" panose="020B0400000000000000" charset="-122"/>
              </a:rPr>
              <a:t>客户原声｜脱敏转述</a:t>
            </a:r>
            <a:endParaRPr sz="790" b="1">
              <a:solidFill>
                <a:srgbClr val="789087"/>
              </a:solidFill>
              <a:latin typeface="微软雅黑" charset="0"/>
              <a:ea typeface="微软雅黑" charset="0"/>
              <a:cs typeface="PingFang SC" panose="020B0400000000000000" charset="-122"/>
            </a:endParaRPr>
          </a:p>
        </p:txBody>
      </p:sp>
      <p:sp>
        <p:nvSpPr>
          <p:cNvPr id="38" name="客户原声正文 4"/>
          <p:cNvSpPr>
            <a:spLocks noGrp="1"/>
          </p:cNvSpPr>
          <p:nvPr/>
        </p:nvSpPr>
        <p:spPr>
          <a:xfrm>
            <a:off x="8858250" y="5143500"/>
            <a:ext cx="2552700" cy="2286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/>
          <a:p>
            <a:pPr algn="l">
              <a:lnSpc>
                <a:spcPct val="105000"/>
              </a:lnSpc>
              <a:buNone/>
              <a:defRPr sz="940">
                <a:solidFill>
                  <a:srgbClr val="4C5A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>
                <a:solidFill>
                  <a:srgbClr val="4C5A55"/>
                </a:solidFill>
                <a:latin typeface="微软雅黑" charset="0"/>
                <a:ea typeface="微软雅黑" charset="0"/>
                <a:cs typeface="PingFang SC" panose="020B0400000000000000" charset="-122"/>
              </a:rPr>
              <a:t>现在的房子还能住，换房要真正解决问题</a:t>
            </a:r>
            <a:endParaRPr sz="940">
              <a:solidFill>
                <a:srgbClr val="4C5A55"/>
              </a:solidFill>
              <a:latin typeface="微软雅黑" charset="0"/>
              <a:ea typeface="微软雅黑" charset="0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3" name="图片 4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466850"/>
          </a:xfrm>
          <a:prstGeom prst="rect">
            <a:avLst/>
          </a:prstGeom>
          <a:solidFill>
            <a:srgbClr val="101A18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400050" y="209550"/>
            <a:ext cx="1485900" cy="285750"/>
          </a:xfrm>
          <a:prstGeom prst="roundRect">
            <a:avLst>
              <a:gd name="adj" fmla="val 50000"/>
            </a:avLst>
          </a:prstGeom>
          <a:solidFill>
            <a:srgbClr val="284B42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257175"/>
            <a:ext cx="1295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D9E8E2"/>
                </a:solidFill>
              </a:defRPr>
            </a:pPr>
            <a:r>
              <a:rPr sz="975" b="1">
                <a:solidFill>
                  <a:srgbClr val="D9E8E2"/>
                </a:solidFill>
                <a:latin typeface="微软雅黑" charset="0"/>
                <a:ea typeface="微软雅黑" charset="0"/>
                <a:cs typeface="微软雅黑" charset="0"/>
              </a:rPr>
              <a:t>竞争地图——区域</a:t>
            </a:r>
            <a:endParaRPr sz="975" b="1">
              <a:solidFill>
                <a:srgbClr val="D9E8E2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552450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  <a:latin typeface="微软雅黑" charset="0"/>
                <a:ea typeface="微软雅黑" charset="0"/>
              </a:rPr>
              <a:t>连接金融城、大源与新川，本案把工作效率和成熟生活放在同一处</a:t>
            </a:r>
            <a:endParaRPr sz="2250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0668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E7D3C4"/>
                </a:solidFill>
              </a:defRPr>
            </a:pPr>
            <a:r>
              <a:rPr sz="1275" b="1">
                <a:solidFill>
                  <a:srgbClr val="E7D3C4"/>
                </a:solidFill>
                <a:latin typeface="微软雅黑" charset="0"/>
                <a:ea typeface="微软雅黑" charset="0"/>
              </a:rPr>
              <a:t>客户最关心：日常通勤、孩子接送、父母照应和家庭消费能否兼顾</a:t>
            </a:r>
            <a:endParaRPr sz="1275" b="1">
              <a:solidFill>
                <a:srgbClr val="E7D3C4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858250" y="1104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AFC1BB"/>
                </a:solidFill>
              </a:defRPr>
            </a:pPr>
            <a:r>
              <a:rPr sz="825" b="0">
                <a:solidFill>
                  <a:srgbClr val="AFC1BB"/>
                </a:solidFill>
                <a:latin typeface="微软雅黑" charset="0"/>
                <a:ea typeface="微软雅黑" charset="0"/>
              </a:rPr>
              <a:t>以本案为中心，直观比较板块与项目关系</a:t>
            </a:r>
            <a:endParaRPr sz="825" b="0">
              <a:solidFill>
                <a:srgbClr val="AFC1BB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5935485" y="3267679"/>
            <a:ext cx="323850" cy="323850"/>
          </a:xfrm>
          <a:prstGeom prst="ellipse">
            <a:avLst/>
          </a:prstGeom>
          <a:solidFill>
            <a:srgbClr val="C66A36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935485" y="3343879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P</a:t>
            </a:r>
            <a:endParaRPr sz="82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326010" y="3277204"/>
            <a:ext cx="1809750" cy="285750"/>
          </a:xfrm>
          <a:prstGeom prst="roundRect">
            <a:avLst>
              <a:gd name="adj" fmla="val 20000"/>
            </a:avLst>
          </a:prstGeom>
          <a:solidFill>
            <a:srgbClr val="111B1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402210" y="3334354"/>
            <a:ext cx="1657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高投中和57亩</a:t>
            </a:r>
            <a:endParaRPr sz="900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6105870" y="5832053"/>
            <a:ext cx="247650" cy="247650"/>
          </a:xfrm>
          <a:prstGeom prst="ellipse">
            <a:avLst/>
          </a:prstGeom>
          <a:solidFill>
            <a:srgbClr val="2F78C7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105870" y="5870153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A</a:t>
            </a:r>
            <a:endParaRPr sz="82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381845" y="5860628"/>
            <a:ext cx="1695450" cy="285750"/>
          </a:xfrm>
          <a:prstGeom prst="roundRect">
            <a:avLst>
              <a:gd name="adj" fmla="val 20000"/>
            </a:avLst>
          </a:prstGeom>
          <a:solidFill>
            <a:srgbClr val="111B1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458045" y="5917778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启鸣宸序｜约3.43km</a:t>
            </a:r>
            <a:endParaRPr sz="900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5991924" y="2819596"/>
            <a:ext cx="247650" cy="247650"/>
          </a:xfrm>
          <a:prstGeom prst="ellipse">
            <a:avLst/>
          </a:prstGeom>
          <a:solidFill>
            <a:srgbClr val="2F78C7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991924" y="2857696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B</a:t>
            </a:r>
            <a:endParaRPr sz="82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191699" y="2848171"/>
            <a:ext cx="1695450" cy="285750"/>
          </a:xfrm>
          <a:prstGeom prst="roundRect">
            <a:avLst>
              <a:gd name="adj" fmla="val 20000"/>
            </a:avLst>
          </a:prstGeom>
          <a:solidFill>
            <a:srgbClr val="111B1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267899" y="2905321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万科璟南堂｜约0.66km</a:t>
            </a:r>
            <a:endParaRPr sz="900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266700" y="1657350"/>
            <a:ext cx="3714750" cy="1257300"/>
          </a:xfrm>
          <a:prstGeom prst="roundRect">
            <a:avLst>
              <a:gd name="adj" fmla="val 9091"/>
            </a:avLst>
          </a:prstGeom>
          <a:solidFill>
            <a:srgbClr val="FDFDFC"/>
          </a:solidFill>
          <a:ln w="9525">
            <a:solidFill>
              <a:srgbClr val="91AACA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266700" y="1657350"/>
            <a:ext cx="3714750" cy="323850"/>
          </a:xfrm>
          <a:prstGeom prst="roundRect">
            <a:avLst>
              <a:gd name="adj" fmla="val 35294"/>
            </a:avLst>
          </a:prstGeom>
          <a:solidFill>
            <a:srgbClr val="437BC2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00050" y="1724025"/>
            <a:ext cx="3448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启鸣宸序｜新川新规四房</a:t>
            </a:r>
            <a:endParaRPr sz="112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19100" y="2066925"/>
            <a:ext cx="3409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172623"/>
                </a:solidFill>
              </a:defRPr>
            </a:pPr>
            <a:r>
              <a:rPr sz="97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1. 新规四房与更高空间利用率</a:t>
            </a:r>
            <a:endParaRPr sz="97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None/>
              <a:defRPr sz="975" b="0">
                <a:solidFill>
                  <a:srgbClr val="172623"/>
                </a:solidFill>
              </a:defRPr>
            </a:pPr>
            <a:r>
              <a:rPr sz="97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2. 高投品牌与新川城市界面</a:t>
            </a:r>
            <a:endParaRPr sz="97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00050" y="2590800"/>
            <a:ext cx="3448050" cy="9525"/>
          </a:xfrm>
          <a:prstGeom prst="rect">
            <a:avLst/>
          </a:prstGeom>
          <a:solidFill>
            <a:srgbClr val="CED9E5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19100" y="2647950"/>
            <a:ext cx="3409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825" b="1">
                <a:solidFill>
                  <a:srgbClr val="446879"/>
                </a:solidFill>
              </a:defRPr>
            </a:pPr>
            <a:r>
              <a:rPr sz="82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客户关注：迁往新川，也意味着重新安排熟悉的日常生活</a:t>
            </a:r>
            <a:endParaRPr sz="82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266700" y="3067050"/>
            <a:ext cx="3714750" cy="1257300"/>
          </a:xfrm>
          <a:prstGeom prst="roundRect">
            <a:avLst>
              <a:gd name="adj" fmla="val 9091"/>
            </a:avLst>
          </a:prstGeom>
          <a:solidFill>
            <a:srgbClr val="FDFDFC"/>
          </a:solidFill>
          <a:ln w="9525">
            <a:solidFill>
              <a:srgbClr val="91AACA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266700" y="3067050"/>
            <a:ext cx="3714750" cy="323850"/>
          </a:xfrm>
          <a:prstGeom prst="roundRect">
            <a:avLst>
              <a:gd name="adj" fmla="val 35294"/>
            </a:avLst>
          </a:prstGeom>
          <a:solidFill>
            <a:srgbClr val="437BC2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00050" y="3133725"/>
            <a:ext cx="3448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万科璟南堂｜成熟中和存量</a:t>
            </a:r>
            <a:endParaRPr sz="112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19100" y="3476625"/>
            <a:ext cx="3409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172623"/>
                </a:solidFill>
              </a:defRPr>
            </a:pPr>
            <a:r>
              <a:rPr sz="97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1. 成熟日常与即住体验</a:t>
            </a:r>
            <a:endParaRPr sz="97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None/>
              <a:defRPr sz="975" b="0">
                <a:solidFill>
                  <a:srgbClr val="172623"/>
                </a:solidFill>
              </a:defRPr>
            </a:pPr>
            <a:r>
              <a:rPr sz="97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2. 较低总价维持原有生活半径</a:t>
            </a:r>
            <a:endParaRPr sz="97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00050" y="4000500"/>
            <a:ext cx="3448050" cy="9525"/>
          </a:xfrm>
          <a:prstGeom prst="rect">
            <a:avLst/>
          </a:prstGeom>
          <a:solidFill>
            <a:srgbClr val="CED9E5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19100" y="4057650"/>
            <a:ext cx="3409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825" b="1">
                <a:solidFill>
                  <a:srgbClr val="446879"/>
                </a:solidFill>
              </a:defRPr>
            </a:pPr>
            <a:r>
              <a:rPr sz="82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客户关注：产品年代与社区品质影响下一轮改善</a:t>
            </a:r>
            <a:endParaRPr sz="82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8210550" y="1657350"/>
            <a:ext cx="3714750" cy="1409700"/>
          </a:xfrm>
          <a:prstGeom prst="roundRect">
            <a:avLst>
              <a:gd name="adj" fmla="val 8108"/>
            </a:avLst>
          </a:prstGeom>
          <a:solidFill>
            <a:srgbClr val="FDFDFC"/>
          </a:solidFill>
          <a:ln w="9525">
            <a:solidFill>
              <a:srgbClr val="C66A36"/>
            </a:solidFill>
            <a:prstDash val="solid"/>
          </a:ln>
        </p:spPr>
      </p:sp>
      <p:sp>
        <p:nvSpPr>
          <p:cNvPr id="33" name="圆角矩形 32"/>
          <p:cNvSpPr>
            <a:spLocks noGrp="1"/>
          </p:cNvSpPr>
          <p:nvPr/>
        </p:nvSpPr>
        <p:spPr>
          <a:xfrm>
            <a:off x="8210550" y="1657350"/>
            <a:ext cx="3714750" cy="323850"/>
          </a:xfrm>
          <a:prstGeom prst="roundRect">
            <a:avLst>
              <a:gd name="adj" fmla="val 35294"/>
            </a:avLst>
          </a:prstGeom>
          <a:solidFill>
            <a:srgbClr val="C66A36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343900" y="1724025"/>
            <a:ext cx="3448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高投中和57亩｜本案主要价值</a:t>
            </a:r>
            <a:endParaRPr sz="1125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362950" y="2066925"/>
            <a:ext cx="34099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72623"/>
                </a:solidFill>
              </a:defRPr>
            </a:pPr>
            <a:r>
              <a:rPr sz="975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1. 高效连接金融城、大源、新川三大板块</a:t>
            </a:r>
            <a:endParaRPr sz="975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None/>
              <a:defRPr sz="975" b="1">
                <a:solidFill>
                  <a:srgbClr val="172623"/>
                </a:solidFill>
              </a:defRPr>
            </a:pPr>
            <a:r>
              <a:rPr sz="975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2. 张家寺成熟生活圈承接日常所需</a:t>
            </a:r>
            <a:endParaRPr sz="975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None/>
              <a:defRPr sz="975" b="1">
                <a:solidFill>
                  <a:srgbClr val="172623"/>
                </a:solidFill>
              </a:defRPr>
            </a:pPr>
            <a:r>
              <a:rPr sz="975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3. 陆肖TOD与万象天地带来新的商业和公共生活</a:t>
            </a:r>
            <a:endParaRPr sz="975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7658100" y="4686300"/>
            <a:ext cx="4267200" cy="1676400"/>
          </a:xfrm>
          <a:prstGeom prst="roundRect">
            <a:avLst>
              <a:gd name="adj" fmla="val 6818"/>
            </a:avLst>
          </a:prstGeom>
          <a:solidFill>
            <a:srgbClr val="FDFDFC"/>
          </a:solidFill>
          <a:ln w="9525">
            <a:solidFill>
              <a:srgbClr val="1F4D40"/>
            </a:solidFill>
            <a:prstDash val="solid"/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7658100" y="4686300"/>
            <a:ext cx="4267200" cy="323850"/>
          </a:xfrm>
          <a:prstGeom prst="roundRect">
            <a:avLst>
              <a:gd name="adj" fmla="val 35294"/>
            </a:avLst>
          </a:prstGeom>
          <a:solidFill>
            <a:srgbClr val="1F4D40"/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810500" y="47529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本案机会</a:t>
            </a:r>
            <a:endParaRPr sz="112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829550" y="5143500"/>
            <a:ext cx="38862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172623"/>
                </a:solidFill>
              </a:defRPr>
            </a:pPr>
            <a:r>
              <a:rPr sz="1050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1. 工作、接送与家庭照应拥有更灵活的方向选择</a:t>
            </a:r>
            <a:endParaRPr sz="1050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None/>
              <a:defRPr sz="1050" b="1">
                <a:solidFill>
                  <a:srgbClr val="172623"/>
                </a:solidFill>
              </a:defRPr>
            </a:pPr>
            <a:r>
              <a:rPr sz="1050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2. 熟悉的中和生活继续运行，换房成本更低</a:t>
            </a:r>
            <a:endParaRPr sz="1050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None/>
              <a:defRPr sz="1050" b="1">
                <a:solidFill>
                  <a:srgbClr val="172623"/>
                </a:solidFill>
              </a:defRPr>
            </a:pPr>
            <a:r>
              <a:rPr sz="1050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3. 陆肖TOD与万象天地为成熟生活增加新内容</a:t>
            </a:r>
            <a:endParaRPr sz="1050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3" name="图片 4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466850"/>
          </a:xfrm>
          <a:prstGeom prst="rect">
            <a:avLst/>
          </a:prstGeom>
          <a:solidFill>
            <a:srgbClr val="101A18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400050" y="209550"/>
            <a:ext cx="1485900" cy="285750"/>
          </a:xfrm>
          <a:prstGeom prst="roundRect">
            <a:avLst>
              <a:gd name="adj" fmla="val 50000"/>
            </a:avLst>
          </a:prstGeom>
          <a:solidFill>
            <a:srgbClr val="284B42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257175"/>
            <a:ext cx="1295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D9E8E2"/>
                </a:solidFill>
              </a:defRPr>
            </a:pPr>
            <a:r>
              <a:rPr sz="975" b="1">
                <a:solidFill>
                  <a:srgbClr val="D9E8E2"/>
                </a:solidFill>
                <a:latin typeface="微软雅黑" charset="0"/>
                <a:ea typeface="微软雅黑" charset="0"/>
                <a:cs typeface="微软雅黑" charset="0"/>
              </a:rPr>
              <a:t>竞争地图——规划</a:t>
            </a:r>
            <a:endParaRPr sz="975" b="1">
              <a:solidFill>
                <a:srgbClr val="D9E8E2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552450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  <a:latin typeface="微软雅黑" charset="0"/>
                <a:ea typeface="微软雅黑" charset="0"/>
              </a:rPr>
              <a:t>低密小高层、园林会所与公共空间，让改善延伸到家门之外</a:t>
            </a:r>
            <a:endParaRPr sz="2250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0668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E7D3C4"/>
                </a:solidFill>
              </a:defRPr>
            </a:pPr>
            <a:r>
              <a:rPr sz="1275" b="1">
                <a:solidFill>
                  <a:srgbClr val="E7D3C4"/>
                </a:solidFill>
                <a:latin typeface="微软雅黑" charset="0"/>
                <a:ea typeface="微软雅黑" charset="0"/>
              </a:rPr>
              <a:t>客户最关心：一次换房能否同时改善居家尺度、归家体验和社区生活</a:t>
            </a:r>
            <a:endParaRPr sz="1275" b="1">
              <a:solidFill>
                <a:srgbClr val="E7D3C4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858250" y="1104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AFC1BB"/>
                </a:solidFill>
              </a:defRPr>
            </a:pPr>
            <a:r>
              <a:rPr sz="825" b="0">
                <a:solidFill>
                  <a:srgbClr val="AFC1BB"/>
                </a:solidFill>
                <a:latin typeface="微软雅黑" charset="0"/>
                <a:ea typeface="微软雅黑" charset="0"/>
              </a:rPr>
              <a:t>以本案为中心，直观比较板块与项目关系</a:t>
            </a:r>
            <a:endParaRPr sz="825" b="0">
              <a:solidFill>
                <a:srgbClr val="AFC1BB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5934391" y="3267191"/>
            <a:ext cx="323850" cy="323850"/>
          </a:xfrm>
          <a:prstGeom prst="ellipse">
            <a:avLst/>
          </a:prstGeom>
          <a:solidFill>
            <a:srgbClr val="C66A36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934391" y="3343391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P</a:t>
            </a:r>
            <a:endParaRPr sz="82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324916" y="3276716"/>
            <a:ext cx="1809750" cy="285750"/>
          </a:xfrm>
          <a:prstGeom prst="roundRect">
            <a:avLst>
              <a:gd name="adj" fmla="val 20000"/>
            </a:avLst>
          </a:prstGeom>
          <a:solidFill>
            <a:srgbClr val="111B1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401116" y="3333866"/>
            <a:ext cx="1657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高投中和57亩</a:t>
            </a:r>
            <a:endParaRPr sz="900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5674512" y="4693358"/>
            <a:ext cx="247650" cy="247650"/>
          </a:xfrm>
          <a:prstGeom prst="ellipse">
            <a:avLst/>
          </a:prstGeom>
          <a:solidFill>
            <a:srgbClr val="2F78C7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674512" y="4731458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A</a:t>
            </a:r>
            <a:endParaRPr sz="82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931437" y="4721933"/>
            <a:ext cx="1695450" cy="285750"/>
          </a:xfrm>
          <a:prstGeom prst="roundRect">
            <a:avLst>
              <a:gd name="adj" fmla="val 20000"/>
            </a:avLst>
          </a:prstGeom>
          <a:solidFill>
            <a:srgbClr val="111B1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007637" y="4779083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启鸣观樾｜约2.98km</a:t>
            </a:r>
            <a:endParaRPr sz="900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6273554" y="6057577"/>
            <a:ext cx="247650" cy="247650"/>
          </a:xfrm>
          <a:prstGeom prst="ellipse">
            <a:avLst/>
          </a:prstGeom>
          <a:solidFill>
            <a:srgbClr val="2F78C7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273554" y="6095677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B</a:t>
            </a:r>
            <a:endParaRPr sz="82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549529" y="5933752"/>
            <a:ext cx="1695450" cy="285750"/>
          </a:xfrm>
          <a:prstGeom prst="roundRect">
            <a:avLst>
              <a:gd name="adj" fmla="val 20000"/>
            </a:avLst>
          </a:prstGeom>
          <a:solidFill>
            <a:srgbClr val="111B1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625729" y="5990902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中铁卓萃｜约5.80km</a:t>
            </a:r>
            <a:endParaRPr sz="900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266700" y="1657350"/>
            <a:ext cx="3714750" cy="1257300"/>
          </a:xfrm>
          <a:prstGeom prst="roundRect">
            <a:avLst>
              <a:gd name="adj" fmla="val 9091"/>
            </a:avLst>
          </a:prstGeom>
          <a:solidFill>
            <a:srgbClr val="FDFDFC"/>
          </a:solidFill>
          <a:ln w="9525">
            <a:solidFill>
              <a:srgbClr val="91AACA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266700" y="1657350"/>
            <a:ext cx="3714750" cy="323850"/>
          </a:xfrm>
          <a:prstGeom prst="roundRect">
            <a:avLst>
              <a:gd name="adj" fmla="val 35294"/>
            </a:avLst>
          </a:prstGeom>
          <a:solidFill>
            <a:srgbClr val="437BC2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00050" y="1724025"/>
            <a:ext cx="3448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启鸣观樾｜小体量新规改善</a:t>
            </a:r>
            <a:endParaRPr sz="112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19100" y="2066925"/>
            <a:ext cx="3409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172623"/>
                </a:solidFill>
              </a:defRPr>
            </a:pPr>
            <a:r>
              <a:rPr sz="97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1. 新规四房带来更高空间利用率</a:t>
            </a:r>
            <a:endParaRPr sz="97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None/>
              <a:defRPr sz="975" b="0">
                <a:solidFill>
                  <a:srgbClr val="172623"/>
                </a:solidFill>
              </a:defRPr>
            </a:pPr>
            <a:r>
              <a:rPr sz="97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2. 私梯入户与纯改善表达集中</a:t>
            </a:r>
            <a:endParaRPr sz="97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00050" y="2590800"/>
            <a:ext cx="3448050" cy="9525"/>
          </a:xfrm>
          <a:prstGeom prst="rect">
            <a:avLst/>
          </a:prstGeom>
          <a:solidFill>
            <a:srgbClr val="CED9E5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19100" y="2647950"/>
            <a:ext cx="3409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825" b="1">
                <a:solidFill>
                  <a:srgbClr val="446879"/>
                </a:solidFill>
              </a:defRPr>
            </a:pPr>
            <a:r>
              <a:rPr sz="82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客户关注：户内空间优势仍需与社区完整度共同比较</a:t>
            </a:r>
            <a:endParaRPr sz="82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266700" y="3067050"/>
            <a:ext cx="3714750" cy="1257300"/>
          </a:xfrm>
          <a:prstGeom prst="roundRect">
            <a:avLst>
              <a:gd name="adj" fmla="val 9091"/>
            </a:avLst>
          </a:prstGeom>
          <a:solidFill>
            <a:srgbClr val="FDFDFC"/>
          </a:solidFill>
          <a:ln w="9525">
            <a:solidFill>
              <a:srgbClr val="91AACA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266700" y="3067050"/>
            <a:ext cx="3714750" cy="323850"/>
          </a:xfrm>
          <a:prstGeom prst="roundRect">
            <a:avLst>
              <a:gd name="adj" fmla="val 35294"/>
            </a:avLst>
          </a:prstGeom>
          <a:solidFill>
            <a:srgbClr val="437BC2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00050" y="3133725"/>
            <a:ext cx="3448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中铁卓萃｜大面积四代改善</a:t>
            </a:r>
            <a:endParaRPr sz="112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19100" y="3476625"/>
            <a:ext cx="3409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172623"/>
                </a:solidFill>
              </a:defRPr>
            </a:pPr>
            <a:r>
              <a:rPr sz="97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1. 145／183㎡承接更高阶改善</a:t>
            </a:r>
            <a:endParaRPr sz="97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None/>
              <a:defRPr sz="975" b="0">
                <a:solidFill>
                  <a:srgbClr val="172623"/>
                </a:solidFill>
              </a:defRPr>
            </a:pPr>
            <a:r>
              <a:rPr sz="97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2. 四代空间与更大尺度形成吸引</a:t>
            </a:r>
            <a:endParaRPr sz="97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00050" y="4000500"/>
            <a:ext cx="3448050" cy="9525"/>
          </a:xfrm>
          <a:prstGeom prst="rect">
            <a:avLst/>
          </a:prstGeom>
          <a:solidFill>
            <a:srgbClr val="CED9E5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19100" y="4057650"/>
            <a:ext cx="3409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825" b="1">
                <a:solidFill>
                  <a:srgbClr val="446879"/>
                </a:solidFill>
              </a:defRPr>
            </a:pPr>
            <a:r>
              <a:rPr sz="82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客户关注：更大面积和更高总价对应更高支付能力</a:t>
            </a:r>
            <a:endParaRPr sz="82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8210550" y="1657350"/>
            <a:ext cx="3714750" cy="1409700"/>
          </a:xfrm>
          <a:prstGeom prst="roundRect">
            <a:avLst>
              <a:gd name="adj" fmla="val 8108"/>
            </a:avLst>
          </a:prstGeom>
          <a:solidFill>
            <a:srgbClr val="FDFDFC"/>
          </a:solidFill>
          <a:ln w="9525">
            <a:solidFill>
              <a:srgbClr val="C66A36"/>
            </a:solidFill>
            <a:prstDash val="solid"/>
          </a:ln>
        </p:spPr>
      </p:sp>
      <p:sp>
        <p:nvSpPr>
          <p:cNvPr id="33" name="圆角矩形 32"/>
          <p:cNvSpPr>
            <a:spLocks noGrp="1"/>
          </p:cNvSpPr>
          <p:nvPr/>
        </p:nvSpPr>
        <p:spPr>
          <a:xfrm>
            <a:off x="8210550" y="1657350"/>
            <a:ext cx="3714750" cy="323850"/>
          </a:xfrm>
          <a:prstGeom prst="roundRect">
            <a:avLst>
              <a:gd name="adj" fmla="val 35294"/>
            </a:avLst>
          </a:prstGeom>
          <a:solidFill>
            <a:srgbClr val="C66A36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343900" y="1724025"/>
            <a:ext cx="3448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高投中和57亩｜本案主要价值</a:t>
            </a:r>
            <a:endParaRPr sz="1125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362950" y="2066925"/>
            <a:ext cx="34099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72623"/>
                </a:solidFill>
              </a:defRPr>
            </a:pPr>
            <a:r>
              <a:rPr sz="975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1. 2.0容积率、16—17层、两梯两户</a:t>
            </a:r>
            <a:endParaRPr sz="975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None/>
              <a:defRPr sz="975" b="1">
                <a:solidFill>
                  <a:srgbClr val="172623"/>
                </a:solidFill>
              </a:defRPr>
            </a:pPr>
            <a:r>
              <a:rPr sz="975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2. 561户纯改善住区，社区尺度更完整</a:t>
            </a:r>
            <a:endParaRPr sz="975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None/>
              <a:defRPr sz="975" b="1">
                <a:solidFill>
                  <a:srgbClr val="172623"/>
                </a:solidFill>
              </a:defRPr>
            </a:pPr>
            <a:r>
              <a:rPr sz="975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3. 约6053㎡首层公共活动空间，连接园林、公区与会所</a:t>
            </a:r>
            <a:endParaRPr sz="975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7658100" y="4686300"/>
            <a:ext cx="4267200" cy="1676400"/>
          </a:xfrm>
          <a:prstGeom prst="roundRect">
            <a:avLst>
              <a:gd name="adj" fmla="val 6818"/>
            </a:avLst>
          </a:prstGeom>
          <a:solidFill>
            <a:srgbClr val="FDFDFC"/>
          </a:solidFill>
          <a:ln w="9525">
            <a:solidFill>
              <a:srgbClr val="1F4D40"/>
            </a:solidFill>
            <a:prstDash val="solid"/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7658100" y="4686300"/>
            <a:ext cx="4267200" cy="323850"/>
          </a:xfrm>
          <a:prstGeom prst="roundRect">
            <a:avLst>
              <a:gd name="adj" fmla="val 35294"/>
            </a:avLst>
          </a:prstGeom>
          <a:solidFill>
            <a:srgbClr val="1F4D40"/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810500" y="47529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本案机会</a:t>
            </a:r>
            <a:endParaRPr sz="112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829550" y="5143500"/>
            <a:ext cx="38862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172623"/>
                </a:solidFill>
              </a:defRPr>
            </a:pPr>
            <a:r>
              <a:rPr sz="1050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1. 低密小高层带来更舒展、安静的归家体验</a:t>
            </a:r>
            <a:endParaRPr sz="1050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None/>
              <a:defRPr sz="1050" b="1">
                <a:solidFill>
                  <a:srgbClr val="172623"/>
                </a:solidFill>
              </a:defRPr>
            </a:pPr>
            <a:r>
              <a:rPr sz="1050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2. 园林、公区与会所把社区生活延伸到家门之外</a:t>
            </a:r>
            <a:endParaRPr sz="1050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None/>
              <a:defRPr sz="1050" b="1">
                <a:solidFill>
                  <a:srgbClr val="172623"/>
                </a:solidFill>
              </a:defRPr>
            </a:pPr>
            <a:r>
              <a:rPr sz="1050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3. 完整社区配置陪伴家庭更长的居住周期</a:t>
            </a:r>
            <a:endParaRPr sz="1050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3" name="图片 4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466850"/>
          </a:xfrm>
          <a:prstGeom prst="rect">
            <a:avLst/>
          </a:prstGeom>
          <a:solidFill>
            <a:srgbClr val="101A18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400050" y="209550"/>
            <a:ext cx="1485900" cy="285750"/>
          </a:xfrm>
          <a:prstGeom prst="roundRect">
            <a:avLst>
              <a:gd name="adj" fmla="val 50000"/>
            </a:avLst>
          </a:prstGeom>
          <a:solidFill>
            <a:srgbClr val="284B42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257175"/>
            <a:ext cx="1295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D9E8E2"/>
                </a:solidFill>
              </a:defRPr>
            </a:pPr>
            <a:r>
              <a:rPr sz="975" b="1">
                <a:solidFill>
                  <a:srgbClr val="D9E8E2"/>
                </a:solidFill>
                <a:latin typeface="微软雅黑" charset="0"/>
                <a:ea typeface="微软雅黑" charset="0"/>
                <a:cs typeface="微软雅黑" charset="0"/>
              </a:rPr>
              <a:t>竞争地图——户型</a:t>
            </a:r>
            <a:endParaRPr sz="975" b="1">
              <a:solidFill>
                <a:srgbClr val="D9E8E2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552450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124—165㎡三档改善户型，回应家庭不同阶段的居住理想</a:t>
            </a:r>
            <a:endParaRPr sz="2250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0050" y="10668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E7D3C4"/>
                </a:solidFill>
              </a:defRPr>
            </a:pPr>
            <a:r>
              <a:rPr sz="1275" b="1">
                <a:solidFill>
                  <a:srgbClr val="E7D3C4"/>
                </a:solidFill>
                <a:latin typeface="微软雅黑" charset="0"/>
                <a:ea typeface="微软雅黑" charset="0"/>
              </a:rPr>
              <a:t>客户最关心：总价、空间舒适度和家庭长期需求怎样取得平衡</a:t>
            </a:r>
            <a:endParaRPr sz="1275" b="1">
              <a:solidFill>
                <a:srgbClr val="E7D3C4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858250" y="1104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r">
              <a:lnSpc>
                <a:spcPct val="105000"/>
              </a:lnSpc>
              <a:buNone/>
              <a:defRPr sz="825" b="0">
                <a:solidFill>
                  <a:srgbClr val="AFC1BB"/>
                </a:solidFill>
              </a:defRPr>
            </a:pPr>
            <a:r>
              <a:rPr sz="825" b="0">
                <a:solidFill>
                  <a:srgbClr val="AFC1BB"/>
                </a:solidFill>
                <a:latin typeface="微软雅黑" charset="0"/>
                <a:ea typeface="微软雅黑" charset="0"/>
              </a:rPr>
              <a:t>以本案为中心，直观比较板块与项目关系</a:t>
            </a:r>
            <a:endParaRPr sz="825" b="0">
              <a:solidFill>
                <a:srgbClr val="AFC1BB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5934652" y="3267655"/>
            <a:ext cx="323850" cy="323850"/>
          </a:xfrm>
          <a:prstGeom prst="ellipse">
            <a:avLst/>
          </a:prstGeom>
          <a:solidFill>
            <a:srgbClr val="C66A36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934652" y="334385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P</a:t>
            </a:r>
            <a:endParaRPr sz="82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325177" y="3277180"/>
            <a:ext cx="1809750" cy="285750"/>
          </a:xfrm>
          <a:prstGeom prst="roundRect">
            <a:avLst>
              <a:gd name="adj" fmla="val 20000"/>
            </a:avLst>
          </a:prstGeom>
          <a:solidFill>
            <a:srgbClr val="111B1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401377" y="3334330"/>
            <a:ext cx="1657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高投中和57亩</a:t>
            </a:r>
            <a:endParaRPr sz="900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6061861" y="5007496"/>
            <a:ext cx="247650" cy="247650"/>
          </a:xfrm>
          <a:prstGeom prst="ellipse">
            <a:avLst/>
          </a:prstGeom>
          <a:solidFill>
            <a:srgbClr val="2F78C7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61861" y="5045596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A</a:t>
            </a:r>
            <a:endParaRPr sz="82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337836" y="4997971"/>
            <a:ext cx="1695450" cy="285750"/>
          </a:xfrm>
          <a:prstGeom prst="roundRect">
            <a:avLst>
              <a:gd name="adj" fmla="val 20000"/>
            </a:avLst>
          </a:prstGeom>
          <a:solidFill>
            <a:srgbClr val="111B1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414036" y="5055121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启鸣宸序｜约3.43km</a:t>
            </a:r>
            <a:endParaRPr sz="900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5825070" y="6038079"/>
            <a:ext cx="247650" cy="247650"/>
          </a:xfrm>
          <a:prstGeom prst="ellipse">
            <a:avLst/>
          </a:prstGeom>
          <a:solidFill>
            <a:srgbClr val="2F78C7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825070" y="6076179"/>
            <a:ext cx="247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B</a:t>
            </a:r>
            <a:endParaRPr sz="82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101045" y="5914254"/>
            <a:ext cx="1695450" cy="285750"/>
          </a:xfrm>
          <a:prstGeom prst="roundRect">
            <a:avLst>
              <a:gd name="adj" fmla="val 20000"/>
            </a:avLst>
          </a:prstGeom>
          <a:solidFill>
            <a:srgbClr val="111B1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177245" y="5971404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金泰和序｜约5.50km</a:t>
            </a:r>
            <a:endParaRPr sz="900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266700" y="1657350"/>
            <a:ext cx="3714750" cy="1257300"/>
          </a:xfrm>
          <a:prstGeom prst="roundRect">
            <a:avLst>
              <a:gd name="adj" fmla="val 9091"/>
            </a:avLst>
          </a:prstGeom>
          <a:solidFill>
            <a:srgbClr val="FDFDFC"/>
          </a:solidFill>
          <a:ln w="9525">
            <a:solidFill>
              <a:srgbClr val="91AACA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266700" y="1657350"/>
            <a:ext cx="3714750" cy="323850"/>
          </a:xfrm>
          <a:prstGeom prst="roundRect">
            <a:avLst>
              <a:gd name="adj" fmla="val 35294"/>
            </a:avLst>
          </a:prstGeom>
          <a:solidFill>
            <a:srgbClr val="437BC2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00050" y="1724025"/>
            <a:ext cx="3448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启鸣宸序｜120／143㎡新规四房</a:t>
            </a:r>
            <a:endParaRPr sz="1125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19100" y="2066925"/>
            <a:ext cx="3409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172623"/>
                </a:solidFill>
              </a:defRPr>
            </a:pPr>
            <a:r>
              <a:rPr sz="97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1. 全四房与更高空间利用率</a:t>
            </a:r>
            <a:endParaRPr sz="97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None/>
              <a:defRPr sz="975" b="0">
                <a:solidFill>
                  <a:srgbClr val="172623"/>
                </a:solidFill>
              </a:defRPr>
            </a:pPr>
            <a:r>
              <a:rPr sz="97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2. 同品牌主流改善形成直接对照</a:t>
            </a:r>
            <a:endParaRPr sz="97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00050" y="2590800"/>
            <a:ext cx="3448050" cy="9525"/>
          </a:xfrm>
          <a:prstGeom prst="rect">
            <a:avLst/>
          </a:prstGeom>
          <a:solidFill>
            <a:srgbClr val="CED9E5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19100" y="2647950"/>
            <a:ext cx="3409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825" b="1">
                <a:solidFill>
                  <a:srgbClr val="446879"/>
                </a:solidFill>
              </a:defRPr>
            </a:pPr>
            <a:r>
              <a:rPr sz="82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客户关注：房间尺度、采光、入户与社区完整度仍需综合比较</a:t>
            </a:r>
            <a:endParaRPr sz="82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266700" y="3067050"/>
            <a:ext cx="3714750" cy="1257300"/>
          </a:xfrm>
          <a:prstGeom prst="roundRect">
            <a:avLst>
              <a:gd name="adj" fmla="val 9091"/>
            </a:avLst>
          </a:prstGeom>
          <a:solidFill>
            <a:srgbClr val="FDFDFC"/>
          </a:solidFill>
          <a:ln w="9525">
            <a:solidFill>
              <a:srgbClr val="91AACA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266700" y="3067050"/>
            <a:ext cx="3714750" cy="323850"/>
          </a:xfrm>
          <a:prstGeom prst="roundRect">
            <a:avLst>
              <a:gd name="adj" fmla="val 35294"/>
            </a:avLst>
          </a:prstGeom>
          <a:solidFill>
            <a:srgbClr val="437BC2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00050" y="3133725"/>
            <a:ext cx="3448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金泰和序｜现房小高层／洋房</a:t>
            </a:r>
            <a:endParaRPr sz="112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19100" y="3476625"/>
            <a:ext cx="3409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172623"/>
                </a:solidFill>
              </a:defRPr>
            </a:pPr>
            <a:r>
              <a:rPr sz="97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1. 实景现房带来可见的居住确定性</a:t>
            </a:r>
            <a:endParaRPr sz="97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None/>
              <a:defRPr sz="975" b="0">
                <a:solidFill>
                  <a:srgbClr val="172623"/>
                </a:solidFill>
              </a:defRPr>
            </a:pPr>
            <a:r>
              <a:rPr sz="97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2. 138／139㎡与168／175㎡形成双档选择</a:t>
            </a:r>
            <a:endParaRPr sz="97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00050" y="4000500"/>
            <a:ext cx="3448050" cy="9525"/>
          </a:xfrm>
          <a:prstGeom prst="rect">
            <a:avLst/>
          </a:prstGeom>
          <a:solidFill>
            <a:srgbClr val="CED9E5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19100" y="4057650"/>
            <a:ext cx="3409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825" b="1">
                <a:solidFill>
                  <a:srgbClr val="446879"/>
                </a:solidFill>
              </a:defRPr>
            </a:pPr>
            <a:r>
              <a:rPr sz="82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客户关注：现房与更大面积对应更高总价和更南位置</a:t>
            </a:r>
            <a:endParaRPr sz="82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8210550" y="1657350"/>
            <a:ext cx="3714750" cy="1409700"/>
          </a:xfrm>
          <a:prstGeom prst="roundRect">
            <a:avLst>
              <a:gd name="adj" fmla="val 8108"/>
            </a:avLst>
          </a:prstGeom>
          <a:solidFill>
            <a:srgbClr val="FDFDFC"/>
          </a:solidFill>
          <a:ln w="9525">
            <a:solidFill>
              <a:srgbClr val="C66A36"/>
            </a:solidFill>
            <a:prstDash val="solid"/>
          </a:ln>
        </p:spPr>
      </p:sp>
      <p:sp>
        <p:nvSpPr>
          <p:cNvPr id="33" name="圆角矩形 32"/>
          <p:cNvSpPr>
            <a:spLocks noGrp="1"/>
          </p:cNvSpPr>
          <p:nvPr/>
        </p:nvSpPr>
        <p:spPr>
          <a:xfrm>
            <a:off x="8210550" y="1657350"/>
            <a:ext cx="3714750" cy="323850"/>
          </a:xfrm>
          <a:prstGeom prst="roundRect">
            <a:avLst>
              <a:gd name="adj" fmla="val 35294"/>
            </a:avLst>
          </a:prstGeom>
          <a:solidFill>
            <a:srgbClr val="C66A36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343900" y="1724025"/>
            <a:ext cx="3448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高投中和57亩｜本案主要价值</a:t>
            </a:r>
            <a:endParaRPr sz="1125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362950" y="2066925"/>
            <a:ext cx="34099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72623"/>
                </a:solidFill>
              </a:defRPr>
            </a:pPr>
            <a:r>
              <a:rPr sz="975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1. 124㎡：独立玄关、双阳台，承接主流改善</a:t>
            </a:r>
            <a:endParaRPr sz="975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None/>
              <a:defRPr sz="975" b="1">
                <a:solidFill>
                  <a:srgbClr val="172623"/>
                </a:solidFill>
              </a:defRPr>
            </a:pPr>
            <a:r>
              <a:rPr sz="975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2. 139㎡：约6米客厅面宽，满足家庭共享与主卧舒适</a:t>
            </a:r>
            <a:endParaRPr sz="975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None/>
              <a:defRPr sz="975" b="1">
                <a:solidFill>
                  <a:srgbClr val="172623"/>
                </a:solidFill>
              </a:defRPr>
            </a:pPr>
            <a:r>
              <a:rPr sz="975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3. 165㎡：四房三卫、独立书房、3.15米层高，一步到位</a:t>
            </a:r>
            <a:endParaRPr sz="975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7658100" y="4686300"/>
            <a:ext cx="4267200" cy="1676400"/>
          </a:xfrm>
          <a:prstGeom prst="roundRect">
            <a:avLst>
              <a:gd name="adj" fmla="val 6818"/>
            </a:avLst>
          </a:prstGeom>
          <a:solidFill>
            <a:srgbClr val="FDFDFC"/>
          </a:solidFill>
          <a:ln w="9525">
            <a:solidFill>
              <a:srgbClr val="1F4D40"/>
            </a:solidFill>
            <a:prstDash val="solid"/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7658100" y="4686300"/>
            <a:ext cx="4267200" cy="323850"/>
          </a:xfrm>
          <a:prstGeom prst="roundRect">
            <a:avLst>
              <a:gd name="adj" fmla="val 35294"/>
            </a:avLst>
          </a:prstGeom>
          <a:solidFill>
            <a:srgbClr val="1F4D40"/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810500" y="475297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本案机会</a:t>
            </a:r>
            <a:endParaRPr sz="112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829550" y="5143500"/>
            <a:ext cx="38862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172623"/>
                </a:solidFill>
              </a:defRPr>
            </a:pPr>
            <a:r>
              <a:rPr sz="1050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1. 124—165㎡三档面积覆盖主流改善与一步到位</a:t>
            </a:r>
            <a:endParaRPr sz="1050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None/>
              <a:defRPr sz="1050" b="1">
                <a:solidFill>
                  <a:srgbClr val="172623"/>
                </a:solidFill>
              </a:defRPr>
            </a:pPr>
            <a:r>
              <a:rPr sz="1050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2. 功能、尺度与总价共同匹配家庭当下和未来</a:t>
            </a:r>
            <a:endParaRPr sz="1050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None/>
              <a:defRPr sz="1050" b="1">
                <a:solidFill>
                  <a:srgbClr val="172623"/>
                </a:solidFill>
              </a:defRPr>
            </a:pPr>
            <a:r>
              <a:rPr sz="1050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3. 完整社区与三档户型共同支持更长居住周期</a:t>
            </a:r>
            <a:endParaRPr sz="1050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" name="圆角矩形 42"/>
          <p:cNvSpPr>
            <a:spLocks noGrp="1"/>
          </p:cNvSpPr>
          <p:nvPr/>
        </p:nvSpPr>
        <p:spPr>
          <a:xfrm>
            <a:off x="609600" y="323850"/>
            <a:ext cx="15621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04850" y="371475"/>
            <a:ext cx="1371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本案三大竞争优势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09600" y="819150"/>
            <a:ext cx="10668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623"/>
                </a:solidFill>
              </a:defRPr>
            </a:pPr>
            <a:r>
              <a:rPr sz="2700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黄金中场、双TOD与纯粹改善，共同构成本案的核心竞争力</a:t>
            </a:r>
            <a:endParaRPr sz="2700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504950"/>
            <a:ext cx="1057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5716D"/>
                </a:solidFill>
              </a:defRPr>
            </a:pPr>
            <a:r>
              <a:rPr sz="1350" b="0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城市效率、成熟生活与松弛归家，在高投中和57亩成为同一种日常</a:t>
            </a:r>
            <a:endParaRPr sz="1350" b="0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2238375"/>
            <a:ext cx="3429000" cy="3714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819150" y="245745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5050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区位价值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30289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72623"/>
                </a:solidFill>
              </a:defRPr>
            </a:pPr>
            <a:r>
              <a:rPr sz="1275" b="1">
                <a:solidFill>
                  <a:srgbClr val="172623"/>
                </a:solidFill>
                <a:latin typeface="微软雅黑" charset="0"/>
                <a:ea typeface="微软雅黑" charset="0"/>
              </a:rPr>
              <a:t>三核交汇</a:t>
            </a:r>
            <a:endParaRPr sz="1275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32956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5716D"/>
                </a:solidFill>
              </a:defRPr>
            </a:pPr>
            <a:r>
              <a:rPr sz="1050" b="0">
                <a:solidFill>
                  <a:srgbClr val="65716D"/>
                </a:solidFill>
                <a:latin typeface="微软雅黑" charset="0"/>
                <a:ea typeface="微软雅黑" charset="0"/>
              </a:rPr>
              <a:t>高效连接金融城、大源、新川三大板块</a:t>
            </a:r>
            <a:endParaRPr sz="105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" y="3771900"/>
            <a:ext cx="2952750" cy="9525"/>
          </a:xfrm>
          <a:prstGeom prst="rect">
            <a:avLst/>
          </a:prstGeom>
          <a:solidFill>
            <a:srgbClr val="CBD3CF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38200" y="38481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72623"/>
                </a:solidFill>
              </a:defRPr>
            </a:pPr>
            <a:r>
              <a:rPr sz="1275" b="1">
                <a:solidFill>
                  <a:srgbClr val="172623"/>
                </a:solidFill>
                <a:latin typeface="微软雅黑" charset="0"/>
                <a:ea typeface="微软雅黑" charset="0"/>
              </a:rPr>
              <a:t>成熟中和</a:t>
            </a:r>
            <a:endParaRPr sz="1275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411480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5716D"/>
                </a:solidFill>
              </a:defRPr>
            </a:pPr>
            <a:r>
              <a:rPr sz="1050" b="0">
                <a:solidFill>
                  <a:srgbClr val="65716D"/>
                </a:solidFill>
                <a:latin typeface="微软雅黑" charset="0"/>
                <a:ea typeface="微软雅黑" charset="0"/>
              </a:rPr>
              <a:t>熟悉的通勤、接送、消费与家庭照应继续运行</a:t>
            </a:r>
            <a:endParaRPr sz="105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8200" y="4591050"/>
            <a:ext cx="2952750" cy="9525"/>
          </a:xfrm>
          <a:prstGeom prst="rect">
            <a:avLst/>
          </a:prstGeom>
          <a:solidFill>
            <a:srgbClr val="CBD3CF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8200" y="46672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72623"/>
                </a:solidFill>
              </a:defRPr>
            </a:pPr>
            <a:r>
              <a:rPr sz="1275" b="1">
                <a:solidFill>
                  <a:srgbClr val="172623"/>
                </a:solidFill>
                <a:latin typeface="微软雅黑" charset="0"/>
                <a:ea typeface="微软雅黑" charset="0"/>
              </a:rPr>
              <a:t>新增繁华</a:t>
            </a:r>
            <a:endParaRPr sz="1275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8200" y="49339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5716D"/>
                </a:solidFill>
              </a:defRPr>
            </a:pPr>
            <a:r>
              <a:rPr sz="1050" b="0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陆肖TOD与万象天地为成熟生活持续加分</a:t>
            </a:r>
            <a:endParaRPr sz="1050" b="0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" y="5514975"/>
            <a:ext cx="295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F4D40"/>
                </a:solidFill>
              </a:defRPr>
            </a:pPr>
            <a:r>
              <a:rPr sz="112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高新南黄金中场，三核交汇的绝版占位</a:t>
            </a:r>
            <a:endParaRPr sz="112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343400" y="2238375"/>
            <a:ext cx="3429000" cy="3714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4552950" y="245745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648200" y="25050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规划价值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572000" y="30289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72623"/>
                </a:solidFill>
              </a:defRPr>
            </a:pPr>
            <a:r>
              <a:rPr sz="1275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双TOD生活圈</a:t>
            </a:r>
            <a:endParaRPr sz="1275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572000" y="32956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5716D"/>
                </a:solidFill>
              </a:defRPr>
            </a:pPr>
            <a:r>
              <a:rPr sz="1050" b="0">
                <a:solidFill>
                  <a:srgbClr val="65716D"/>
                </a:solidFill>
                <a:latin typeface="微软雅黑" charset="0"/>
                <a:ea typeface="微软雅黑" charset="0"/>
              </a:rPr>
              <a:t>张家寺承接成熟日常，陆肖连接新增商业</a:t>
            </a:r>
            <a:endParaRPr sz="105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572000" y="3771900"/>
            <a:ext cx="2952750" cy="9525"/>
          </a:xfrm>
          <a:prstGeom prst="rect">
            <a:avLst/>
          </a:prstGeom>
          <a:solidFill>
            <a:srgbClr val="CBD3CF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572000" y="38481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72623"/>
                </a:solidFill>
              </a:defRPr>
            </a:pPr>
            <a:r>
              <a:rPr sz="1275" b="1">
                <a:solidFill>
                  <a:srgbClr val="172623"/>
                </a:solidFill>
                <a:latin typeface="微软雅黑" charset="0"/>
                <a:ea typeface="微软雅黑" charset="0"/>
              </a:rPr>
              <a:t>完整低密社区</a:t>
            </a:r>
            <a:endParaRPr sz="1275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572000" y="411480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5716D"/>
                </a:solidFill>
              </a:defRPr>
            </a:pPr>
            <a:r>
              <a:rPr sz="1050" b="0">
                <a:solidFill>
                  <a:srgbClr val="65716D"/>
                </a:solidFill>
                <a:latin typeface="微软雅黑" charset="0"/>
                <a:ea typeface="微软雅黑" charset="0"/>
              </a:rPr>
              <a:t>园林、公区、会所与低密住区共同承接家庭一天</a:t>
            </a:r>
            <a:endParaRPr sz="105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572000" y="4591050"/>
            <a:ext cx="2952750" cy="9525"/>
          </a:xfrm>
          <a:prstGeom prst="rect">
            <a:avLst/>
          </a:prstGeom>
          <a:solidFill>
            <a:srgbClr val="CBD3CF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572000" y="46672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72623"/>
                </a:solidFill>
              </a:defRPr>
            </a:pPr>
            <a:r>
              <a:rPr sz="1275" b="1">
                <a:solidFill>
                  <a:srgbClr val="172623"/>
                </a:solidFill>
                <a:latin typeface="微软雅黑" charset="0"/>
                <a:ea typeface="微软雅黑" charset="0"/>
              </a:rPr>
              <a:t>长久居住</a:t>
            </a:r>
            <a:endParaRPr sz="1275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572000" y="49339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5716D"/>
                </a:solidFill>
              </a:defRPr>
            </a:pPr>
            <a:r>
              <a:rPr sz="1050" b="0">
                <a:solidFill>
                  <a:srgbClr val="65716D"/>
                </a:solidFill>
                <a:latin typeface="微软雅黑" charset="0"/>
                <a:ea typeface="微软雅黑" charset="0"/>
              </a:rPr>
              <a:t>社区配置陪伴家庭更多生活阶段</a:t>
            </a:r>
            <a:endParaRPr sz="105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572000" y="5514975"/>
            <a:ext cx="295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F4D40"/>
                </a:solidFill>
              </a:defRPr>
            </a:pPr>
            <a:r>
              <a:rPr sz="1125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双TOD驱动的高效生活圈</a:t>
            </a:r>
            <a:endParaRPr sz="1125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077200" y="2238375"/>
            <a:ext cx="3429000" cy="3714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8286750" y="245745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F2E3D7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382000" y="25050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C66A36"/>
                </a:solidFill>
              </a:defRPr>
            </a:pPr>
            <a:r>
              <a:rPr sz="975" b="1">
                <a:solidFill>
                  <a:srgbClr val="C66A36"/>
                </a:solidFill>
                <a:latin typeface="微软雅黑" charset="0"/>
                <a:ea typeface="微软雅黑" charset="0"/>
              </a:rPr>
              <a:t>产品价值</a:t>
            </a:r>
            <a:endParaRPr sz="975" b="1">
              <a:solidFill>
                <a:srgbClr val="C66A36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305800" y="30289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72623"/>
                </a:solidFill>
              </a:defRPr>
            </a:pPr>
            <a:r>
              <a:rPr sz="1275" b="1">
                <a:solidFill>
                  <a:srgbClr val="172623"/>
                </a:solidFill>
                <a:latin typeface="微软雅黑" charset="0"/>
                <a:ea typeface="微软雅黑" charset="0"/>
              </a:rPr>
              <a:t>低密小高层</a:t>
            </a:r>
            <a:endParaRPr sz="1275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305800" y="32956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5716D"/>
                </a:solidFill>
              </a:defRPr>
            </a:pPr>
            <a:r>
              <a:rPr sz="1050" b="0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2.0容积率、16—17层、两梯两户带来舒展归家</a:t>
            </a:r>
            <a:endParaRPr sz="1050" b="0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305800" y="3771900"/>
            <a:ext cx="2952750" cy="9525"/>
          </a:xfrm>
          <a:prstGeom prst="rect">
            <a:avLst/>
          </a:prstGeom>
          <a:solidFill>
            <a:srgbClr val="CBD3CF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305800" y="38481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72623"/>
                </a:solidFill>
              </a:defRPr>
            </a:pPr>
            <a:r>
              <a:rPr sz="1275" b="1">
                <a:solidFill>
                  <a:srgbClr val="172623"/>
                </a:solidFill>
                <a:latin typeface="微软雅黑" charset="0"/>
                <a:ea typeface="微软雅黑" charset="0"/>
              </a:rPr>
              <a:t>三档改善户型</a:t>
            </a:r>
            <a:endParaRPr sz="1275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305800" y="411480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5716D"/>
                </a:solidFill>
              </a:defRPr>
            </a:pPr>
            <a:r>
              <a:rPr sz="1050" b="0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124—165㎡覆盖主流改善与一步到位</a:t>
            </a:r>
            <a:endParaRPr sz="1050" b="0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305800" y="4591050"/>
            <a:ext cx="2952750" cy="9525"/>
          </a:xfrm>
          <a:prstGeom prst="rect">
            <a:avLst/>
          </a:prstGeom>
          <a:solidFill>
            <a:srgbClr val="CBD3CF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305800" y="46672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72623"/>
                </a:solidFill>
              </a:defRPr>
            </a:pPr>
            <a:r>
              <a:rPr sz="1275" b="1">
                <a:solidFill>
                  <a:srgbClr val="172623"/>
                </a:solidFill>
                <a:latin typeface="微软雅黑" charset="0"/>
                <a:ea typeface="微软雅黑" charset="0"/>
              </a:rPr>
              <a:t>居住品质</a:t>
            </a:r>
            <a:endParaRPr sz="1275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305800" y="49339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5716D"/>
                </a:solidFill>
              </a:defRPr>
            </a:pPr>
            <a:r>
              <a:rPr sz="1050" b="0">
                <a:solidFill>
                  <a:srgbClr val="65716D"/>
                </a:solidFill>
                <a:latin typeface="微软雅黑" charset="0"/>
                <a:ea typeface="微软雅黑" charset="0"/>
              </a:rPr>
              <a:t>功能、尺度、采光与社区共同支持长期居住</a:t>
            </a:r>
            <a:endParaRPr sz="105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305800" y="5514975"/>
            <a:ext cx="295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C66A36"/>
                </a:solidFill>
              </a:defRPr>
            </a:pPr>
            <a:r>
              <a:rPr sz="1125" b="1">
                <a:solidFill>
                  <a:srgbClr val="C66A36"/>
                </a:solidFill>
                <a:latin typeface="微软雅黑" charset="0"/>
                <a:ea typeface="微软雅黑" charset="0"/>
              </a:rPr>
              <a:t>新规下板块最极致的纯粹改善产品</a:t>
            </a:r>
            <a:endParaRPr sz="1125" b="1">
              <a:solidFill>
                <a:srgbClr val="C66A36"/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圆角矩形 24"/>
          <p:cNvSpPr>
            <a:spLocks noGrp="1"/>
          </p:cNvSpPr>
          <p:nvPr/>
        </p:nvSpPr>
        <p:spPr>
          <a:xfrm>
            <a:off x="666750" y="4572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27473F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62000" y="5048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D8E8E1"/>
                </a:solidFill>
              </a:defRPr>
            </a:pPr>
            <a:r>
              <a:rPr sz="975" b="1">
                <a:solidFill>
                  <a:srgbClr val="D8E8E1"/>
                </a:solidFill>
                <a:latin typeface="微软雅黑" charset="0"/>
                <a:ea typeface="微软雅黑" charset="0"/>
              </a:rPr>
              <a:t>本案价值锚点</a:t>
            </a:r>
            <a:endParaRPr sz="975" b="1">
              <a:solidFill>
                <a:srgbClr val="D8E8E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06680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3075" b="1">
                <a:solidFill>
                  <a:srgbClr val="FFFFFF"/>
                </a:solidFill>
              </a:defRPr>
            </a:pPr>
            <a:r>
              <a:rPr sz="307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高新南效率中心，最具「松弛感」的生活方式</a:t>
            </a:r>
            <a:endParaRPr sz="307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1943100"/>
            <a:ext cx="571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E8D2BF"/>
                </a:solidFill>
              </a:defRPr>
            </a:pPr>
            <a:r>
              <a:rPr sz="2175" b="1">
                <a:solidFill>
                  <a:srgbClr val="E8D2BF"/>
                </a:solidFill>
                <a:latin typeface="微软雅黑" charset="0"/>
                <a:ea typeface="微软雅黑" charset="0"/>
              </a:rPr>
              <a:t>白天高效，回家松弛</a:t>
            </a:r>
            <a:endParaRPr sz="2175" b="1">
              <a:solidFill>
                <a:srgbClr val="E8D2B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66750" y="2781300"/>
            <a:ext cx="3333750" cy="2333625"/>
          </a:xfrm>
          <a:prstGeom prst="roundRect">
            <a:avLst>
              <a:gd name="adj" fmla="val 6531"/>
            </a:avLst>
          </a:prstGeom>
          <a:solidFill>
            <a:srgbClr val="1B3530"/>
          </a:solidFill>
          <a:ln w="9525">
            <a:solidFill>
              <a:srgbClr val="315249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9908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27473F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71550" y="303847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BFD7CE"/>
                </a:solidFill>
              </a:defRPr>
            </a:pPr>
            <a:r>
              <a:rPr sz="975" b="1">
                <a:solidFill>
                  <a:srgbClr val="BFD7CE"/>
                </a:solidFill>
                <a:latin typeface="微软雅黑" charset="0"/>
                <a:ea typeface="微软雅黑" charset="0"/>
                <a:cs typeface="微软雅黑" charset="0"/>
              </a:rPr>
              <a:t>超级竞争力 01</a:t>
            </a:r>
            <a:endParaRPr sz="975" b="1">
              <a:solidFill>
                <a:srgbClr val="BFD7C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3524250"/>
            <a:ext cx="2876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微软雅黑" charset="0"/>
                <a:ea typeface="微软雅黑" charset="0"/>
              </a:rPr>
              <a:t>高新南黄金中场，</a:t>
            </a:r>
            <a:endParaRPr sz="1500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微软雅黑" charset="0"/>
                <a:ea typeface="微软雅黑" charset="0"/>
              </a:rPr>
              <a:t>三核交汇的绝版占位</a:t>
            </a:r>
            <a:endParaRPr sz="1500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4333875"/>
            <a:ext cx="2876550" cy="9525"/>
          </a:xfrm>
          <a:prstGeom prst="rect">
            <a:avLst/>
          </a:prstGeom>
          <a:solidFill>
            <a:srgbClr val="315249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95350" y="4495800"/>
            <a:ext cx="316103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C9D7D2"/>
                </a:solidFill>
              </a:defRPr>
            </a:pPr>
            <a:r>
              <a:rPr sz="1125" b="0">
                <a:solidFill>
                  <a:srgbClr val="C9D7D2"/>
                </a:solidFill>
                <a:latin typeface="微软雅黑" charset="0"/>
                <a:ea typeface="微软雅黑" charset="0"/>
              </a:rPr>
              <a:t>连接金融城、大源与新川，成熟生活继续运行</a:t>
            </a:r>
            <a:endParaRPr sz="1125" b="0">
              <a:solidFill>
                <a:srgbClr val="C9D7D2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81500" y="2781300"/>
            <a:ext cx="3333750" cy="2333625"/>
          </a:xfrm>
          <a:prstGeom prst="roundRect">
            <a:avLst>
              <a:gd name="adj" fmla="val 6531"/>
            </a:avLst>
          </a:prstGeom>
          <a:solidFill>
            <a:srgbClr val="1B3530"/>
          </a:solidFill>
          <a:ln w="9525">
            <a:solidFill>
              <a:srgbClr val="315249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4591050" y="29908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27473F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686300" y="303847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BFD7CE"/>
                </a:solidFill>
              </a:defRPr>
            </a:pPr>
            <a:r>
              <a:rPr sz="975" b="1">
                <a:solidFill>
                  <a:srgbClr val="BFD7CE"/>
                </a:solidFill>
                <a:latin typeface="微软雅黑" charset="0"/>
                <a:ea typeface="微软雅黑" charset="0"/>
                <a:cs typeface="微软雅黑" charset="0"/>
              </a:rPr>
              <a:t>超级竞争力 02</a:t>
            </a:r>
            <a:endParaRPr sz="975" b="1">
              <a:solidFill>
                <a:srgbClr val="BFD7CE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10100" y="3524250"/>
            <a:ext cx="2876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双TOD驱动的</a:t>
            </a:r>
            <a:endParaRPr sz="1500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高效生活圈</a:t>
            </a:r>
            <a:endParaRPr sz="1500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10100" y="4333875"/>
            <a:ext cx="2876550" cy="9525"/>
          </a:xfrm>
          <a:prstGeom prst="rect">
            <a:avLst/>
          </a:prstGeom>
          <a:solidFill>
            <a:srgbClr val="315249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610100" y="4495800"/>
            <a:ext cx="2876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C9D7D2"/>
                </a:solidFill>
              </a:defRPr>
            </a:pPr>
            <a:r>
              <a:rPr sz="1125" b="0">
                <a:solidFill>
                  <a:srgbClr val="C9D7D2"/>
                </a:solidFill>
                <a:latin typeface="微软雅黑" charset="0"/>
                <a:ea typeface="微软雅黑" charset="0"/>
              </a:rPr>
              <a:t>张家寺承接成熟日常，陆肖连接新增繁华</a:t>
            </a:r>
            <a:endParaRPr sz="1125" b="0">
              <a:solidFill>
                <a:srgbClr val="C9D7D2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96250" y="2781300"/>
            <a:ext cx="3333750" cy="2333625"/>
          </a:xfrm>
          <a:prstGeom prst="roundRect">
            <a:avLst>
              <a:gd name="adj" fmla="val 6531"/>
            </a:avLst>
          </a:prstGeom>
          <a:solidFill>
            <a:srgbClr val="3B3029"/>
          </a:solidFill>
          <a:ln w="9525">
            <a:solidFill>
              <a:srgbClr val="C66A36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8305800" y="29908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5B3B2C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401050" y="303847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1C6A9"/>
                </a:solidFill>
              </a:defRPr>
            </a:pPr>
            <a:r>
              <a:rPr sz="975" b="1">
                <a:solidFill>
                  <a:srgbClr val="F1C6A9"/>
                </a:solidFill>
                <a:latin typeface="微软雅黑" charset="0"/>
                <a:ea typeface="微软雅黑" charset="0"/>
                <a:cs typeface="微软雅黑" charset="0"/>
              </a:rPr>
              <a:t>超级竞争力 03</a:t>
            </a:r>
            <a:endParaRPr sz="975" b="1">
              <a:solidFill>
                <a:srgbClr val="F1C6A9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324850" y="3524250"/>
            <a:ext cx="2876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微软雅黑" charset="0"/>
                <a:ea typeface="微软雅黑" charset="0"/>
              </a:rPr>
              <a:t>新规下板块最极致的</a:t>
            </a:r>
            <a:endParaRPr sz="1500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微软雅黑" charset="0"/>
                <a:ea typeface="微软雅黑" charset="0"/>
              </a:rPr>
              <a:t>纯粹改善产品</a:t>
            </a:r>
            <a:endParaRPr sz="1500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24850" y="4333875"/>
            <a:ext cx="2876550" cy="9525"/>
          </a:xfrm>
          <a:prstGeom prst="rect">
            <a:avLst/>
          </a:prstGeom>
          <a:solidFill>
            <a:srgbClr val="79513E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324850" y="4495800"/>
            <a:ext cx="2876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C9D7D2"/>
                </a:solidFill>
              </a:defRPr>
            </a:pPr>
            <a:r>
              <a:rPr sz="1125" b="0">
                <a:solidFill>
                  <a:srgbClr val="C9D7D2"/>
                </a:solidFill>
                <a:latin typeface="微软雅黑" charset="0"/>
                <a:ea typeface="微软雅黑" charset="0"/>
              </a:rPr>
              <a:t>完整低密社区把松弛感从户内延伸到社区</a:t>
            </a:r>
            <a:endParaRPr sz="1125" b="0">
              <a:solidFill>
                <a:srgbClr val="C9D7D2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66750" y="5715000"/>
            <a:ext cx="904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D8E8E1"/>
                </a:solidFill>
              </a:defRPr>
            </a:pPr>
            <a:r>
              <a:rPr sz="1425" b="1">
                <a:solidFill>
                  <a:srgbClr val="D8E8E1"/>
                </a:solidFill>
                <a:latin typeface="微软雅黑" charset="0"/>
                <a:ea typeface="微软雅黑" charset="0"/>
              </a:rPr>
              <a:t>三条选择理由依次进入城市关系、家庭路线与完整社区，让价值锚点在每次销讲中被讲清、看见、比较。</a:t>
            </a:r>
            <a:endParaRPr sz="1425" b="1">
              <a:solidFill>
                <a:srgbClr val="D8E8E1"/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762000" y="2143125"/>
            <a:ext cx="9334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750" b="1">
                <a:solidFill>
                  <a:srgbClr val="FFFFFF"/>
                </a:solidFill>
              </a:defRPr>
            </a:pPr>
            <a:r>
              <a:rPr lang="en-US">
                <a:latin typeface="微软雅黑" charset="0"/>
                <a:ea typeface="微软雅黑" charset="0"/>
                <a:sym typeface="+mn-ea"/>
              </a:rPr>
              <a:t>No.3 </a:t>
            </a:r>
            <a:r>
              <a:rPr lang="zh-CN" altLang="en-US" sz="3750" b="1">
                <a:solidFill>
                  <a:srgbClr val="FFFFFF"/>
                </a:solidFill>
                <a:latin typeface="微软雅黑" charset="0"/>
                <a:ea typeface="微软雅黑" charset="0"/>
              </a:rPr>
              <a:t>明源</a:t>
            </a:r>
            <a:r>
              <a:rPr lang="en-US" altLang="zh-CN" sz="3750" b="1">
                <a:solidFill>
                  <a:srgbClr val="FFFFFF"/>
                </a:solidFill>
                <a:latin typeface="微软雅黑" charset="0"/>
                <a:ea typeface="微软雅黑" charset="0"/>
              </a:rPr>
              <a:t>UE</a:t>
            </a:r>
            <a:r>
              <a:rPr lang="zh-CN" altLang="en-US" sz="3750" b="1">
                <a:solidFill>
                  <a:srgbClr val="FFFFFF"/>
                </a:solidFill>
                <a:latin typeface="微软雅黑" charset="0"/>
                <a:ea typeface="微软雅黑" charset="0"/>
              </a:rPr>
              <a:t>系统解决方案</a:t>
            </a:r>
            <a:endParaRPr lang="zh-CN" altLang="en-US" sz="3750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3314700"/>
            <a:ext cx="8858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75" b="0">
                <a:solidFill>
                  <a:srgbClr val="C9D7D2"/>
                </a:solidFill>
              </a:defRPr>
            </a:pPr>
            <a:r>
              <a:rPr lang="zh-CN" sz="1875" b="0">
                <a:solidFill>
                  <a:srgbClr val="C9D7D2"/>
                </a:solidFill>
                <a:latin typeface="微软雅黑" charset="0"/>
                <a:ea typeface="微软雅黑" charset="0"/>
              </a:rPr>
              <a:t>将</a:t>
            </a:r>
            <a:r>
              <a:rPr sz="1875" b="0">
                <a:solidFill>
                  <a:srgbClr val="C9D7D2"/>
                </a:solidFill>
                <a:latin typeface="微软雅黑" charset="0"/>
                <a:ea typeface="微软雅黑" charset="0"/>
              </a:rPr>
              <a:t>超级竞争力</a:t>
            </a:r>
            <a:r>
              <a:rPr lang="zh-CN" sz="1875" b="0">
                <a:solidFill>
                  <a:srgbClr val="C9D7D2"/>
                </a:solidFill>
                <a:latin typeface="微软雅黑" charset="0"/>
                <a:ea typeface="微软雅黑" charset="0"/>
              </a:rPr>
              <a:t>转译成案场销讲策略与展示</a:t>
            </a:r>
            <a:r>
              <a:rPr lang="zh-CN" sz="1875" b="0">
                <a:solidFill>
                  <a:srgbClr val="C9D7D2"/>
                </a:solidFill>
                <a:latin typeface="微软雅黑" charset="0"/>
                <a:ea typeface="微软雅黑" charset="0"/>
              </a:rPr>
              <a:t>策略</a:t>
            </a:r>
            <a:endParaRPr lang="zh-CN" sz="1875" b="0">
              <a:solidFill>
                <a:srgbClr val="C9D7D2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4762500"/>
            <a:ext cx="3714750" cy="47625"/>
          </a:xfrm>
          <a:prstGeom prst="rect">
            <a:avLst/>
          </a:prstGeom>
          <a:solidFill>
            <a:srgbClr val="C66A36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圆角矩形 24"/>
          <p:cNvSpPr>
            <a:spLocks noGrp="1"/>
          </p:cNvSpPr>
          <p:nvPr/>
        </p:nvSpPr>
        <p:spPr>
          <a:xfrm>
            <a:off x="609600" y="2857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04850" y="33337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竞争力01｜场景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09600" y="6858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172623"/>
                </a:solidFill>
              </a:defRPr>
            </a:pPr>
            <a:r>
              <a:rPr sz="2325" b="1">
                <a:solidFill>
                  <a:srgbClr val="172623"/>
                </a:solidFill>
                <a:latin typeface="微软雅黑" charset="0"/>
                <a:ea typeface="微软雅黑" charset="0"/>
              </a:rPr>
              <a:t>高新南黄金中场，让工作与生活始终保持更多选择</a:t>
            </a:r>
            <a:endParaRPr sz="2325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620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5716D"/>
                </a:solidFill>
              </a:defRPr>
            </a:pPr>
            <a:r>
              <a:rPr sz="1275" b="0">
                <a:solidFill>
                  <a:srgbClr val="65716D"/>
                </a:solidFill>
                <a:latin typeface="微软雅黑" charset="0"/>
                <a:ea typeface="微软雅黑" charset="0"/>
              </a:rPr>
              <a:t>先看三向关系，再按工作与生活任务切换，最后确认本案为何同时保留成熟日常与新增资源。</a:t>
            </a:r>
            <a:endParaRPr sz="1275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524000"/>
            <a:ext cx="342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62000" y="16764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17240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第一步｜看见关系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076450"/>
            <a:ext cx="3086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623"/>
                </a:solidFill>
              </a:defRPr>
            </a:pPr>
            <a:r>
              <a:rPr sz="1350" b="0">
                <a:solidFill>
                  <a:srgbClr val="172623"/>
                </a:solidFill>
                <a:latin typeface="微软雅黑" charset="0"/>
                <a:ea typeface="微软雅黑" charset="0"/>
              </a:rPr>
              <a:t>金融城、大源、新川与中和围绕本案进入同一张城市关系图</a:t>
            </a:r>
            <a:endParaRPr sz="1350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343400" y="1524000"/>
            <a:ext cx="342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495800" y="16764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0E9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91050" y="17240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446879"/>
                </a:solidFill>
              </a:defRPr>
            </a:pPr>
            <a:r>
              <a:rPr sz="97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第二步｜按任务切换</a:t>
            </a:r>
            <a:endParaRPr sz="97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14850" y="2076450"/>
            <a:ext cx="3086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623"/>
                </a:solidFill>
              </a:defRPr>
            </a:pPr>
            <a:r>
              <a:rPr sz="1350" b="0">
                <a:solidFill>
                  <a:srgbClr val="172623"/>
                </a:solidFill>
                <a:latin typeface="微软雅黑" charset="0"/>
                <a:ea typeface="微软雅黑" charset="0"/>
              </a:rPr>
              <a:t>上班、接送、照应、消费与周末对应不同方向</a:t>
            </a:r>
            <a:endParaRPr sz="1350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077200" y="1524000"/>
            <a:ext cx="342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8229600" y="16764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24850" y="17240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形成判断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48650" y="2076450"/>
            <a:ext cx="327152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623"/>
                </a:solidFill>
              </a:defRPr>
            </a:pPr>
            <a:r>
              <a:rPr sz="1350" b="0">
                <a:solidFill>
                  <a:srgbClr val="172623"/>
                </a:solidFill>
                <a:latin typeface="微软雅黑" charset="0"/>
                <a:ea typeface="微软雅黑" charset="0"/>
              </a:rPr>
              <a:t>新川重在新增界面，中和存量重在成熟日常；本案把两类价值组织成一次改善</a:t>
            </a:r>
            <a:endParaRPr sz="1350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09600" y="2781300"/>
            <a:ext cx="5295900" cy="3476625"/>
          </a:xfrm>
          <a:prstGeom prst="roundRect">
            <a:avLst>
              <a:gd name="adj" fmla="val 3288"/>
            </a:avLst>
          </a:prstGeom>
          <a:solidFill>
            <a:srgbClr val="FAFAF8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28670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65716D"/>
                </a:solidFill>
              </a:defRPr>
            </a:pPr>
            <a:r>
              <a:rPr sz="1050" b="1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明源住宅UE展示参考｜多节点城市关系</a:t>
            </a:r>
            <a:endParaRPr sz="1050" b="1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8200" y="3124200"/>
            <a:ext cx="4838700" cy="3076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5716D"/>
                </a:solidFill>
              </a:defRPr>
            </a:pPr>
            <a:endParaRPr sz="9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286500" y="2781300"/>
            <a:ext cx="5295900" cy="3476625"/>
          </a:xfrm>
          <a:prstGeom prst="roundRect">
            <a:avLst>
              <a:gd name="adj" fmla="val 3288"/>
            </a:avLst>
          </a:prstGeom>
          <a:solidFill>
            <a:srgbClr val="FAFAF8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57950" y="28670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65716D"/>
                </a:solidFill>
              </a:defRPr>
            </a:pPr>
            <a:r>
              <a:rPr sz="1050" b="1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明源住宅UE展示参考｜客户生活坐标</a:t>
            </a:r>
            <a:endParaRPr sz="1050" b="1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15100" y="3124200"/>
            <a:ext cx="4838700" cy="3076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5716D"/>
                </a:solidFill>
              </a:defRPr>
            </a:pPr>
            <a:endParaRPr sz="9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rcRect l="5766" r="5766"/>
          <a:stretch>
            <a:fillRect/>
          </a:stretch>
        </p:blipFill>
        <p:spPr>
          <a:xfrm>
            <a:off x="838200" y="3124200"/>
            <a:ext cx="4838700" cy="3076575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/>
          <a:srcRect l="5766" r="5766"/>
          <a:stretch>
            <a:fillRect/>
          </a:stretch>
        </p:blipFill>
        <p:spPr>
          <a:xfrm>
            <a:off x="6515100" y="3124200"/>
            <a:ext cx="4838700" cy="3076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圆角矩形 24"/>
          <p:cNvSpPr>
            <a:spLocks noGrp="1"/>
          </p:cNvSpPr>
          <p:nvPr/>
        </p:nvSpPr>
        <p:spPr>
          <a:xfrm>
            <a:off x="609600" y="2857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04850" y="33337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竞争力01｜证明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09600" y="6858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172623"/>
                </a:solidFill>
              </a:defRPr>
            </a:pPr>
            <a:r>
              <a:rPr sz="2325" b="1">
                <a:solidFill>
                  <a:srgbClr val="172623"/>
                </a:solidFill>
                <a:latin typeface="微软雅黑" charset="0"/>
                <a:ea typeface="微软雅黑" charset="0"/>
              </a:rPr>
              <a:t>三向城市关系，帮助客户把工作与生活放回一张图</a:t>
            </a:r>
            <a:endParaRPr sz="2325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620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5716D"/>
                </a:solidFill>
              </a:defRPr>
            </a:pPr>
            <a:r>
              <a:rPr sz="1275" b="0">
                <a:solidFill>
                  <a:srgbClr val="65716D"/>
                </a:solidFill>
                <a:latin typeface="微软雅黑" charset="0"/>
                <a:ea typeface="微软雅黑" charset="0"/>
              </a:rPr>
              <a:t>城市关系地图先确认多方向连接，任务路径再回答家庭每天怎样安排。</a:t>
            </a:r>
            <a:endParaRPr sz="1275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524000"/>
            <a:ext cx="342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62000" y="16764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17240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客户获得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076450"/>
            <a:ext cx="3086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623"/>
                </a:solidFill>
              </a:defRPr>
            </a:pPr>
            <a:r>
              <a:rPr sz="1350" b="0">
                <a:solidFill>
                  <a:srgbClr val="172623"/>
                </a:solidFill>
                <a:latin typeface="微软雅黑" charset="0"/>
                <a:ea typeface="微软雅黑" charset="0"/>
              </a:rPr>
              <a:t>不同方向的工作、接送与照应，都保留更大的安排弹性</a:t>
            </a:r>
            <a:endParaRPr sz="1350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343400" y="1524000"/>
            <a:ext cx="342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495800" y="16764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0E9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91050" y="17240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446879"/>
                </a:solidFill>
              </a:defRPr>
            </a:pPr>
            <a:r>
              <a:rPr sz="97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项目兑现</a:t>
            </a:r>
            <a:endParaRPr sz="97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14850" y="2076450"/>
            <a:ext cx="3086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623"/>
                </a:solidFill>
              </a:defRPr>
            </a:pPr>
            <a:r>
              <a:rPr sz="1350" b="0">
                <a:solidFill>
                  <a:srgbClr val="172623"/>
                </a:solidFill>
                <a:latin typeface="微软雅黑" charset="0"/>
                <a:ea typeface="微软雅黑" charset="0"/>
              </a:rPr>
              <a:t>本案位于成熟中和／张家寺与新川／陆肖之间的效率接口</a:t>
            </a:r>
            <a:endParaRPr sz="1350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077200" y="1524000"/>
            <a:ext cx="342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8229600" y="16764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24850" y="17240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相对竞争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48650" y="2076450"/>
            <a:ext cx="333756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623"/>
                </a:solidFill>
              </a:defRPr>
            </a:pPr>
            <a:r>
              <a:rPr sz="1350" b="0">
                <a:solidFill>
                  <a:srgbClr val="172623"/>
                </a:solidFill>
                <a:latin typeface="微软雅黑" charset="0"/>
                <a:ea typeface="微软雅黑" charset="0"/>
              </a:rPr>
              <a:t>新川有新增城市界面，中和存量有成熟日常；本案让两类价值共同服务这次改善</a:t>
            </a:r>
            <a:endParaRPr sz="1350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09600" y="2781300"/>
            <a:ext cx="5295900" cy="3476625"/>
          </a:xfrm>
          <a:prstGeom prst="roundRect">
            <a:avLst>
              <a:gd name="adj" fmla="val 3288"/>
            </a:avLst>
          </a:prstGeom>
          <a:solidFill>
            <a:srgbClr val="FAFAF8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28670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65716D"/>
                </a:solidFill>
              </a:defRPr>
            </a:pPr>
            <a:r>
              <a:rPr sz="1050" b="1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明源住宅UE展示参考｜多节点城市动线</a:t>
            </a:r>
            <a:endParaRPr sz="1050" b="1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8200" y="3124200"/>
            <a:ext cx="4838700" cy="3076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5716D"/>
                </a:solidFill>
              </a:defRPr>
            </a:pPr>
            <a:endParaRPr sz="9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286500" y="2781300"/>
            <a:ext cx="5295900" cy="3476625"/>
          </a:xfrm>
          <a:prstGeom prst="roundRect">
            <a:avLst>
              <a:gd name="adj" fmla="val 3288"/>
            </a:avLst>
          </a:prstGeom>
          <a:solidFill>
            <a:srgbClr val="FAFAF8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57950" y="28670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65716D"/>
                </a:solidFill>
              </a:defRPr>
            </a:pPr>
            <a:r>
              <a:rPr sz="1050" b="1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明源住宅UE展示参考｜社区与总图讲解</a:t>
            </a:r>
            <a:endParaRPr sz="1050" b="1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15100" y="3124200"/>
            <a:ext cx="4838700" cy="3076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5716D"/>
                </a:solidFill>
              </a:defRPr>
            </a:pPr>
            <a:endParaRPr sz="9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rcRect l="5770" r="5770"/>
          <a:stretch>
            <a:fillRect/>
          </a:stretch>
        </p:blipFill>
        <p:spPr>
          <a:xfrm>
            <a:off x="838200" y="3124200"/>
            <a:ext cx="4838700" cy="3076575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/>
          <a:srcRect l="5766" r="5766"/>
          <a:stretch>
            <a:fillRect/>
          </a:stretch>
        </p:blipFill>
        <p:spPr>
          <a:xfrm>
            <a:off x="6515100" y="3124200"/>
            <a:ext cx="4838700" cy="30765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圆角矩形 24"/>
          <p:cNvSpPr>
            <a:spLocks noGrp="1"/>
          </p:cNvSpPr>
          <p:nvPr/>
        </p:nvSpPr>
        <p:spPr>
          <a:xfrm>
            <a:off x="609600" y="2857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04850" y="33337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竞争力02｜场景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09600" y="6858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172623"/>
                </a:solidFill>
              </a:defRPr>
            </a:pPr>
            <a:r>
              <a:rPr sz="2325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双TOD驱动的高效生活圈，把一天的节奏安排得更从容</a:t>
            </a:r>
            <a:endParaRPr sz="2325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620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5716D"/>
                </a:solidFill>
              </a:defRPr>
            </a:pPr>
            <a:r>
              <a:rPr sz="1275" b="0">
                <a:solidFill>
                  <a:srgbClr val="65716D"/>
                </a:solidFill>
                <a:latin typeface="微软雅黑" charset="0"/>
                <a:ea typeface="微软雅黑" charset="0"/>
              </a:rPr>
              <a:t>先看张家寺与陆肖分别承接什么，再按家庭一天切换路径，最后确认成熟日常与新增繁华怎样同向服务。</a:t>
            </a:r>
            <a:endParaRPr sz="1275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524000"/>
            <a:ext cx="342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62000" y="16764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17240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第一步｜确认节点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076450"/>
            <a:ext cx="3086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623"/>
                </a:solidFill>
              </a:defRPr>
            </a:pPr>
            <a:r>
              <a:rPr sz="1350" b="0">
                <a:solidFill>
                  <a:srgbClr val="172623"/>
                </a:solidFill>
                <a:latin typeface="微软雅黑" charset="0"/>
                <a:ea typeface="微软雅黑" charset="0"/>
              </a:rPr>
              <a:t>张家寺承接成熟生活，陆肖连接新增城市资源</a:t>
            </a:r>
            <a:endParaRPr sz="1350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343400" y="1524000"/>
            <a:ext cx="342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495800" y="16764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0E9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91050" y="17240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446879"/>
                </a:solidFill>
              </a:defRPr>
            </a:pPr>
            <a:r>
              <a:rPr sz="97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第二步｜切换一天</a:t>
            </a:r>
            <a:endParaRPr sz="97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14850" y="2076450"/>
            <a:ext cx="3086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623"/>
                </a:solidFill>
              </a:defRPr>
            </a:pPr>
            <a:r>
              <a:rPr sz="1350" b="0">
                <a:solidFill>
                  <a:srgbClr val="172623"/>
                </a:solidFill>
                <a:latin typeface="微软雅黑" charset="0"/>
                <a:ea typeface="微软雅黑" charset="0"/>
              </a:rPr>
              <a:t>上班、接送、采购、就医、周末与归家依次进入路线</a:t>
            </a:r>
            <a:endParaRPr sz="1350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077200" y="1524000"/>
            <a:ext cx="342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8229600" y="16764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24850" y="17240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形成判断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48650" y="2076450"/>
            <a:ext cx="3086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623"/>
                </a:solidFill>
              </a:defRPr>
            </a:pPr>
            <a:r>
              <a:rPr sz="1350" b="0">
                <a:solidFill>
                  <a:srgbClr val="172623"/>
                </a:solidFill>
                <a:latin typeface="微软雅黑" charset="0"/>
                <a:ea typeface="微软雅黑" charset="0"/>
              </a:rPr>
              <a:t>站点让项目进入比较；一天的连续安排，推动家庭最终选择</a:t>
            </a:r>
            <a:endParaRPr sz="1350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09600" y="2781300"/>
            <a:ext cx="5295900" cy="3476625"/>
          </a:xfrm>
          <a:prstGeom prst="roundRect">
            <a:avLst>
              <a:gd name="adj" fmla="val 3288"/>
            </a:avLst>
          </a:prstGeom>
          <a:solidFill>
            <a:srgbClr val="FAFAF8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28670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65716D"/>
                </a:solidFill>
              </a:defRPr>
            </a:pPr>
            <a:r>
              <a:rPr sz="1050" b="1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明源住宅UE展示参考｜区域轴线与交通联系</a:t>
            </a:r>
            <a:endParaRPr sz="1050" b="1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8200" y="3124200"/>
            <a:ext cx="4838700" cy="3076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5716D"/>
                </a:solidFill>
              </a:defRPr>
            </a:pPr>
            <a:endParaRPr sz="9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286500" y="2781300"/>
            <a:ext cx="5295900" cy="3476625"/>
          </a:xfrm>
          <a:prstGeom prst="roundRect">
            <a:avLst>
              <a:gd name="adj" fmla="val 3288"/>
            </a:avLst>
          </a:prstGeom>
          <a:solidFill>
            <a:srgbClr val="FAFAF8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57950" y="28670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65716D"/>
                </a:solidFill>
              </a:defRPr>
            </a:pPr>
            <a:r>
              <a:rPr sz="1050" b="1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明源住宅UE展示参考｜项目周边生活半径</a:t>
            </a:r>
            <a:endParaRPr sz="1050" b="1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15100" y="3124200"/>
            <a:ext cx="4838700" cy="3076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5716D"/>
                </a:solidFill>
              </a:defRPr>
            </a:pPr>
            <a:endParaRPr sz="9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rcRect l="5766" r="5766"/>
          <a:stretch>
            <a:fillRect/>
          </a:stretch>
        </p:blipFill>
        <p:spPr>
          <a:xfrm>
            <a:off x="838200" y="3124200"/>
            <a:ext cx="4838700" cy="3076575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/>
          <a:srcRect l="5766" r="5766"/>
          <a:stretch>
            <a:fillRect/>
          </a:stretch>
        </p:blipFill>
        <p:spPr>
          <a:xfrm>
            <a:off x="6515100" y="3124200"/>
            <a:ext cx="4838700" cy="30765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圆角矩形 24"/>
          <p:cNvSpPr>
            <a:spLocks noGrp="1"/>
          </p:cNvSpPr>
          <p:nvPr/>
        </p:nvSpPr>
        <p:spPr>
          <a:xfrm>
            <a:off x="609600" y="2857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04850" y="33337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竞争力02｜证明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09600" y="6858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172623"/>
                </a:solidFill>
              </a:defRPr>
            </a:pPr>
            <a:r>
              <a:rPr sz="2325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双TOD的价值，落在一家人每一段时间的从容安排</a:t>
            </a:r>
            <a:endParaRPr sz="2325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620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5716D"/>
                </a:solidFill>
              </a:defRPr>
            </a:pPr>
            <a:r>
              <a:rPr sz="1275" b="0">
                <a:solidFill>
                  <a:srgbClr val="65716D"/>
                </a:solidFill>
                <a:latin typeface="微软雅黑" charset="0"/>
                <a:ea typeface="微软雅黑" charset="0"/>
              </a:rPr>
              <a:t>置业顾问按上班、接送、采购、就医、周末与归家切换路线，客户看见每条路径由什么承接。</a:t>
            </a:r>
            <a:endParaRPr sz="1275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524000"/>
            <a:ext cx="342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62000" y="16764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17240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客户获得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076450"/>
            <a:ext cx="3086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623"/>
                </a:solidFill>
              </a:defRPr>
            </a:pPr>
            <a:r>
              <a:rPr sz="1350" b="0">
                <a:solidFill>
                  <a:srgbClr val="172623"/>
                </a:solidFill>
                <a:latin typeface="微软雅黑" charset="0"/>
                <a:ea typeface="微软雅黑" charset="0"/>
              </a:rPr>
              <a:t>两条通勤与家庭日常不再只能彼此让步，而能被连续安排</a:t>
            </a:r>
            <a:endParaRPr sz="1350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343400" y="1524000"/>
            <a:ext cx="342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495800" y="16764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0E9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91050" y="17240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446879"/>
                </a:solidFill>
              </a:defRPr>
            </a:pPr>
            <a:r>
              <a:rPr sz="97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项目兑现</a:t>
            </a:r>
            <a:endParaRPr sz="97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14850" y="2076450"/>
            <a:ext cx="3086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623"/>
                </a:solidFill>
              </a:defRPr>
            </a:pPr>
            <a:r>
              <a:rPr sz="1350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张家寺与陆肖两处TOD共同进入项目的工作与生活路线</a:t>
            </a:r>
            <a:endParaRPr sz="1350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077200" y="1524000"/>
            <a:ext cx="342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8229600" y="16764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24850" y="17240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相对竞争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48650" y="2076450"/>
            <a:ext cx="3086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623"/>
                </a:solidFill>
              </a:defRPr>
            </a:pPr>
            <a:r>
              <a:rPr sz="1350" b="0">
                <a:solidFill>
                  <a:srgbClr val="172623"/>
                </a:solidFill>
                <a:latin typeface="微软雅黑" charset="0"/>
                <a:ea typeface="微软雅黑" charset="0"/>
              </a:rPr>
              <a:t>本案把成熟日常与新增资源组织成一套家庭时间表</a:t>
            </a:r>
            <a:endParaRPr sz="1350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09600" y="2781300"/>
            <a:ext cx="5295900" cy="3476625"/>
          </a:xfrm>
          <a:prstGeom prst="roundRect">
            <a:avLst>
              <a:gd name="adj" fmla="val 3288"/>
            </a:avLst>
          </a:prstGeom>
          <a:solidFill>
            <a:srgbClr val="FAFAF8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28670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65716D"/>
                </a:solidFill>
              </a:defRPr>
            </a:pPr>
            <a:r>
              <a:rPr sz="1050" b="1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明源住宅UE展示参考｜项目与城市关系</a:t>
            </a:r>
            <a:endParaRPr sz="1050" b="1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8200" y="3124200"/>
            <a:ext cx="4838700" cy="3076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5716D"/>
                </a:solidFill>
              </a:defRPr>
            </a:pPr>
            <a:endParaRPr sz="9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286500" y="2781300"/>
            <a:ext cx="5295900" cy="3476625"/>
          </a:xfrm>
          <a:prstGeom prst="roundRect">
            <a:avLst>
              <a:gd name="adj" fmla="val 3288"/>
            </a:avLst>
          </a:prstGeom>
          <a:solidFill>
            <a:srgbClr val="FAFAF8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57950" y="28670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65716D"/>
                </a:solidFill>
              </a:defRPr>
            </a:pPr>
            <a:r>
              <a:rPr sz="1050" b="1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明源住宅UE展示参考｜项目鸟瞰与总体组织</a:t>
            </a:r>
            <a:endParaRPr sz="1050" b="1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15100" y="3124200"/>
            <a:ext cx="4838700" cy="3076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5716D"/>
                </a:solidFill>
              </a:defRPr>
            </a:pPr>
            <a:endParaRPr sz="9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rcRect l="5766" r="5766"/>
          <a:stretch>
            <a:fillRect/>
          </a:stretch>
        </p:blipFill>
        <p:spPr>
          <a:xfrm>
            <a:off x="838200" y="3124200"/>
            <a:ext cx="4838700" cy="3076575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/>
          <a:srcRect l="5766" r="5766"/>
          <a:stretch>
            <a:fillRect/>
          </a:stretch>
        </p:blipFill>
        <p:spPr>
          <a:xfrm>
            <a:off x="6515100" y="3124200"/>
            <a:ext cx="4838700" cy="30765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圆角矩形 24"/>
          <p:cNvSpPr>
            <a:spLocks noGrp="1"/>
          </p:cNvSpPr>
          <p:nvPr/>
        </p:nvSpPr>
        <p:spPr>
          <a:xfrm>
            <a:off x="609600" y="2857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04850" y="33337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竞争力03｜场景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09600" y="6858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172623"/>
                </a:solidFill>
              </a:defRPr>
            </a:pPr>
            <a:r>
              <a:rPr sz="2325" b="1">
                <a:solidFill>
                  <a:srgbClr val="172623"/>
                </a:solidFill>
                <a:latin typeface="微软雅黑" charset="0"/>
                <a:ea typeface="微软雅黑" charset="0"/>
              </a:rPr>
              <a:t>完整低密社区，让每一次归家都成为更长久的松弛感</a:t>
            </a:r>
            <a:endParaRPr sz="2325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620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5716D"/>
                </a:solidFill>
              </a:defRPr>
            </a:pPr>
            <a:r>
              <a:rPr sz="1275" b="0">
                <a:solidFill>
                  <a:srgbClr val="65716D"/>
                </a:solidFill>
                <a:latin typeface="微软雅黑" charset="0"/>
                <a:ea typeface="微软雅黑" charset="0"/>
              </a:rPr>
              <a:t>先看完整社区的尺度，再走进归家与公共生活，最后进入户型确认每个人的长久使用。</a:t>
            </a:r>
            <a:endParaRPr sz="1275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524000"/>
            <a:ext cx="342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62000" y="16764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17240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第一步｜看见整体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076450"/>
            <a:ext cx="3086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623"/>
                </a:solidFill>
              </a:defRPr>
            </a:pPr>
            <a:r>
              <a:rPr sz="1350" b="0">
                <a:solidFill>
                  <a:srgbClr val="172623"/>
                </a:solidFill>
                <a:latin typeface="微软雅黑" charset="0"/>
                <a:ea typeface="微软雅黑" charset="0"/>
              </a:rPr>
              <a:t>总图、建筑、园林与公共活动空间共同组织完整社区</a:t>
            </a:r>
            <a:endParaRPr sz="1350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343400" y="1524000"/>
            <a:ext cx="342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495800" y="16764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0E9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91050" y="17240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446879"/>
                </a:solidFill>
              </a:defRPr>
            </a:pPr>
            <a:r>
              <a:rPr sz="97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第二步｜走进日常</a:t>
            </a:r>
            <a:endParaRPr sz="97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14850" y="2076450"/>
            <a:ext cx="3086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623"/>
                </a:solidFill>
              </a:defRPr>
            </a:pPr>
            <a:r>
              <a:rPr sz="1350" b="0">
                <a:solidFill>
                  <a:srgbClr val="172623"/>
                </a:solidFill>
                <a:latin typeface="微软雅黑" charset="0"/>
                <a:ea typeface="微软雅黑" charset="0"/>
              </a:rPr>
              <a:t>归家、停留、相处与独处，从社区延续到每一间房</a:t>
            </a:r>
            <a:endParaRPr sz="1350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077200" y="1524000"/>
            <a:ext cx="342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8229600" y="16764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2E3D7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24850" y="17240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C66A36"/>
                </a:solidFill>
              </a:defRPr>
            </a:pPr>
            <a:r>
              <a:rPr sz="975" b="1">
                <a:solidFill>
                  <a:srgbClr val="C66A36"/>
                </a:solidFill>
                <a:latin typeface="微软雅黑" charset="0"/>
                <a:ea typeface="微软雅黑" charset="0"/>
              </a:rPr>
              <a:t>形成判断</a:t>
            </a:r>
            <a:endParaRPr sz="975" b="1">
              <a:solidFill>
                <a:srgbClr val="C66A36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48650" y="2076450"/>
            <a:ext cx="3086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623"/>
                </a:solidFill>
              </a:defRPr>
            </a:pPr>
            <a:r>
              <a:rPr sz="1350" b="0">
                <a:solidFill>
                  <a:srgbClr val="172623"/>
                </a:solidFill>
                <a:latin typeface="微软雅黑" charset="0"/>
                <a:ea typeface="微软雅黑" charset="0"/>
              </a:rPr>
              <a:t>新规四房带来直观空间获得；长期居住还要看社区、归家和房间是否完整</a:t>
            </a:r>
            <a:endParaRPr sz="1350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09600" y="2781300"/>
            <a:ext cx="5295900" cy="3476625"/>
          </a:xfrm>
          <a:prstGeom prst="roundRect">
            <a:avLst>
              <a:gd name="adj" fmla="val 3288"/>
            </a:avLst>
          </a:prstGeom>
          <a:solidFill>
            <a:srgbClr val="FAFAF8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28670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65716D"/>
                </a:solidFill>
              </a:defRPr>
            </a:pPr>
            <a:r>
              <a:rPr sz="1050" b="1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明源住宅UE展示参考｜社区全貌与产品分区</a:t>
            </a:r>
            <a:endParaRPr sz="1050" b="1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8200" y="3124200"/>
            <a:ext cx="4838700" cy="3076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5716D"/>
                </a:solidFill>
              </a:defRPr>
            </a:pPr>
            <a:endParaRPr sz="9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286500" y="2781300"/>
            <a:ext cx="5295900" cy="3476625"/>
          </a:xfrm>
          <a:prstGeom prst="roundRect">
            <a:avLst>
              <a:gd name="adj" fmla="val 3288"/>
            </a:avLst>
          </a:prstGeom>
          <a:solidFill>
            <a:srgbClr val="FAFAF8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57950" y="28670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65716D"/>
                </a:solidFill>
              </a:defRPr>
            </a:pPr>
            <a:r>
              <a:rPr sz="1050" b="1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明源住宅UE展示参考｜园林停留与会客</a:t>
            </a:r>
            <a:endParaRPr sz="1050" b="1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15100" y="3124200"/>
            <a:ext cx="4838700" cy="3076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5716D"/>
                </a:solidFill>
              </a:defRPr>
            </a:pPr>
            <a:endParaRPr sz="9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rcRect l="5761" r="5761"/>
          <a:stretch>
            <a:fillRect/>
          </a:stretch>
        </p:blipFill>
        <p:spPr>
          <a:xfrm>
            <a:off x="838200" y="3124200"/>
            <a:ext cx="4838700" cy="3076575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/>
          <a:srcRect l="5242" r="5242"/>
          <a:stretch>
            <a:fillRect/>
          </a:stretch>
        </p:blipFill>
        <p:spPr>
          <a:xfrm>
            <a:off x="6515100" y="3124200"/>
            <a:ext cx="4838700" cy="30765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圆角矩形 24"/>
          <p:cNvSpPr>
            <a:spLocks noGrp="1"/>
          </p:cNvSpPr>
          <p:nvPr/>
        </p:nvSpPr>
        <p:spPr>
          <a:xfrm>
            <a:off x="609600" y="2857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04850" y="33337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竞争力03｜证明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09600" y="6858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172623"/>
                </a:solidFill>
              </a:defRPr>
            </a:pPr>
            <a:r>
              <a:rPr sz="2325" b="1">
                <a:solidFill>
                  <a:srgbClr val="172623"/>
                </a:solidFill>
                <a:latin typeface="微软雅黑" charset="0"/>
                <a:ea typeface="微软雅黑" charset="0"/>
              </a:rPr>
              <a:t>完整低密社区，把每段家庭生活都做成可见的长期价值</a:t>
            </a:r>
            <a:endParaRPr sz="2325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620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65716D"/>
                </a:solidFill>
              </a:defRPr>
            </a:pPr>
            <a:r>
              <a:rPr sz="1275" b="0">
                <a:solidFill>
                  <a:srgbClr val="65716D"/>
                </a:solidFill>
                <a:latin typeface="微软雅黑" charset="0"/>
                <a:ea typeface="微软雅黑" charset="0"/>
              </a:rPr>
              <a:t>总图、园林公区与户型依次展开，让客户从社区尺度走到具体家庭生活。</a:t>
            </a:r>
            <a:endParaRPr sz="1275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524000"/>
            <a:ext cx="342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62000" y="16764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17240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客户获得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076450"/>
            <a:ext cx="3086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623"/>
                </a:solidFill>
              </a:defRPr>
            </a:pPr>
            <a:r>
              <a:rPr sz="1350" b="0">
                <a:solidFill>
                  <a:srgbClr val="172623"/>
                </a:solidFill>
                <a:latin typeface="微软雅黑" charset="0"/>
                <a:ea typeface="微软雅黑" charset="0"/>
              </a:rPr>
              <a:t>从户内到社区，家庭每天都有更舒展的相处、停留与独处空间</a:t>
            </a:r>
            <a:endParaRPr sz="1350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343400" y="1524000"/>
            <a:ext cx="342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495800" y="16764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0E9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91050" y="17240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446879"/>
                </a:solidFill>
              </a:defRPr>
            </a:pPr>
            <a:r>
              <a:rPr sz="97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项目兑现</a:t>
            </a:r>
            <a:endParaRPr sz="97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14850" y="2076450"/>
            <a:ext cx="3086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623"/>
                </a:solidFill>
              </a:defRPr>
            </a:pPr>
            <a:r>
              <a:rPr sz="1350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2.0容积率、16—17层T2、561户与首层公共活动空间共同组织完整社区</a:t>
            </a:r>
            <a:endParaRPr sz="1350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077200" y="1524000"/>
            <a:ext cx="34290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8229600" y="16764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2E3D7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24850" y="17240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C66A36"/>
                </a:solidFill>
              </a:defRPr>
            </a:pPr>
            <a:r>
              <a:rPr sz="975" b="1">
                <a:solidFill>
                  <a:srgbClr val="C66A36"/>
                </a:solidFill>
                <a:latin typeface="微软雅黑" charset="0"/>
                <a:ea typeface="微软雅黑" charset="0"/>
              </a:rPr>
              <a:t>相对竞争</a:t>
            </a:r>
            <a:endParaRPr sz="975" b="1">
              <a:solidFill>
                <a:srgbClr val="C66A36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48650" y="2076450"/>
            <a:ext cx="325056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72623"/>
                </a:solidFill>
              </a:defRPr>
            </a:pPr>
            <a:r>
              <a:rPr sz="1350" b="0">
                <a:solidFill>
                  <a:srgbClr val="172623"/>
                </a:solidFill>
                <a:latin typeface="微软雅黑" charset="0"/>
                <a:ea typeface="微软雅黑" charset="0"/>
              </a:rPr>
              <a:t>新规四房提供直观空间获得；本案同时把归家、社区与长期使用纳入改善标准</a:t>
            </a:r>
            <a:endParaRPr sz="1350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09600" y="2781300"/>
            <a:ext cx="5295900" cy="3476625"/>
          </a:xfrm>
          <a:prstGeom prst="roundRect">
            <a:avLst>
              <a:gd name="adj" fmla="val 3288"/>
            </a:avLst>
          </a:prstGeom>
          <a:solidFill>
            <a:srgbClr val="FAFAF8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28670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65716D"/>
                </a:solidFill>
              </a:defRPr>
            </a:pPr>
            <a:r>
              <a:rPr sz="1050" b="1">
                <a:solidFill>
                  <a:srgbClr val="65716D"/>
                </a:solidFill>
                <a:latin typeface="微软雅黑" charset="0"/>
                <a:ea typeface="微软雅黑" charset="0"/>
              </a:rPr>
              <a:t>甲方方案效果图｜项目鸟瞰</a:t>
            </a:r>
            <a:endParaRPr sz="1050" b="1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8200" y="3124200"/>
            <a:ext cx="4838700" cy="3076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5716D"/>
                </a:solidFill>
              </a:defRPr>
            </a:pPr>
            <a:endParaRPr sz="9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286500" y="2781300"/>
            <a:ext cx="5295900" cy="3476625"/>
          </a:xfrm>
          <a:prstGeom prst="roundRect">
            <a:avLst>
              <a:gd name="adj" fmla="val 3288"/>
            </a:avLst>
          </a:prstGeom>
          <a:solidFill>
            <a:srgbClr val="FAFAF8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57950" y="28670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65716D"/>
                </a:solidFill>
              </a:defRPr>
            </a:pPr>
            <a:r>
              <a:rPr sz="1050" b="1">
                <a:solidFill>
                  <a:srgbClr val="65716D"/>
                </a:solidFill>
                <a:latin typeface="微软雅黑" charset="0"/>
                <a:ea typeface="微软雅黑" charset="0"/>
              </a:rPr>
              <a:t>甲方方案效果图｜园林社区</a:t>
            </a:r>
            <a:endParaRPr sz="1050" b="1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15100" y="3124200"/>
            <a:ext cx="4838700" cy="3076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00" b="0">
                <a:solidFill>
                  <a:srgbClr val="65716D"/>
                </a:solidFill>
              </a:defRPr>
            </a:pPr>
            <a:endParaRPr sz="9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rcRect t="11670" b="11670"/>
          <a:stretch>
            <a:fillRect/>
          </a:stretch>
        </p:blipFill>
        <p:spPr>
          <a:xfrm>
            <a:off x="838200" y="3124200"/>
            <a:ext cx="4838700" cy="3076575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/>
          <a:srcRect l="14915" r="14915"/>
          <a:stretch>
            <a:fillRect/>
          </a:stretch>
        </p:blipFill>
        <p:spPr>
          <a:xfrm>
            <a:off x="6515100" y="3124200"/>
            <a:ext cx="4838700" cy="30765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圆角矩形 30"/>
          <p:cNvSpPr>
            <a:spLocks noGrp="1"/>
          </p:cNvSpPr>
          <p:nvPr/>
        </p:nvSpPr>
        <p:spPr>
          <a:xfrm>
            <a:off x="609600" y="323850"/>
            <a:ext cx="17145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04850" y="371475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lang="zh-CN"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服务于购房者的销讲</a:t>
            </a:r>
            <a:r>
              <a:rPr lang="zh-CN"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展示</a:t>
            </a:r>
            <a:endParaRPr lang="zh-CN"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09600" y="819150"/>
            <a:ext cx="10668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623"/>
                </a:solidFill>
              </a:defRPr>
            </a:pPr>
            <a:r>
              <a:rPr sz="2700" b="1">
                <a:solidFill>
                  <a:srgbClr val="172623"/>
                </a:solidFill>
                <a:latin typeface="微软雅黑" charset="0"/>
                <a:ea typeface="微软雅黑" charset="0"/>
              </a:rPr>
              <a:t>三类家庭，三种改善目的，三档产品答案</a:t>
            </a:r>
            <a:endParaRPr sz="2700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504950"/>
            <a:ext cx="1057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5716D"/>
                </a:solidFill>
              </a:defRPr>
            </a:pPr>
            <a:r>
              <a:rPr sz="1350" b="0">
                <a:solidFill>
                  <a:srgbClr val="65716D"/>
                </a:solidFill>
                <a:latin typeface="微软雅黑" charset="0"/>
                <a:ea typeface="微软雅黑" charset="0"/>
              </a:rPr>
              <a:t>生活阶段、家庭关系与支付能力，共同决定更适合的面积</a:t>
            </a:r>
            <a:endParaRPr sz="135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2114550"/>
            <a:ext cx="3429000" cy="4095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pic>
        <p:nvPicPr>
          <p:cNvPr id="42" name="图片 37"/>
          <p:cNvPicPr>
            <a:picLocks noChangeAspect="1"/>
          </p:cNvPicPr>
          <p:nvPr/>
        </p:nvPicPr>
        <p:blipFill>
          <a:blip r:embed="rId1"/>
          <a:srcRect l="14771" r="14771"/>
          <a:stretch>
            <a:fillRect/>
          </a:stretch>
        </p:blipFill>
        <p:spPr>
          <a:xfrm>
            <a:off x="762000" y="2266950"/>
            <a:ext cx="3124200" cy="1381125"/>
          </a:xfrm>
          <a:prstGeom prst="roundRect">
            <a:avLst>
              <a:gd name="adj" fmla="val 8276"/>
            </a:avLst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800100" y="3838575"/>
            <a:ext cx="85725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95350" y="38862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家庭 01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0100" y="43053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72623"/>
                </a:solidFill>
              </a:defRPr>
            </a:pPr>
            <a:r>
              <a:rPr sz="1575" b="1">
                <a:solidFill>
                  <a:srgbClr val="172623"/>
                </a:solidFill>
                <a:latin typeface="微软雅黑" charset="0"/>
                <a:ea typeface="微软雅黑" charset="0"/>
              </a:rPr>
              <a:t>生活秩序升级</a:t>
            </a:r>
            <a:endParaRPr sz="1575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489585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65716D"/>
                </a:solidFill>
              </a:defRPr>
            </a:pPr>
            <a:r>
              <a:rPr sz="1200" b="0">
                <a:solidFill>
                  <a:srgbClr val="65716D"/>
                </a:solidFill>
                <a:latin typeface="微软雅黑" charset="0"/>
                <a:ea typeface="微软雅黑" charset="0"/>
              </a:rPr>
              <a:t>熟悉生活继续运行</a:t>
            </a:r>
            <a:endParaRPr sz="12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65716D"/>
                </a:solidFill>
              </a:defRPr>
            </a:pPr>
            <a:r>
              <a:rPr sz="1200" b="0">
                <a:solidFill>
                  <a:srgbClr val="65716D"/>
                </a:solidFill>
                <a:latin typeface="微软雅黑" charset="0"/>
                <a:ea typeface="微软雅黑" charset="0"/>
              </a:rPr>
              <a:t>居住品质完成升级</a:t>
            </a:r>
            <a:endParaRPr sz="12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55245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F4D40"/>
                </a:solidFill>
              </a:defRPr>
            </a:pPr>
            <a:r>
              <a:rPr sz="1350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124／139㎡</a:t>
            </a:r>
            <a:endParaRPr sz="1350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133600" y="55530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65716D"/>
                </a:solidFill>
              </a:defRPr>
            </a:pPr>
            <a:r>
              <a:rPr sz="975" b="0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参考总价 约347—431万元</a:t>
            </a:r>
            <a:endParaRPr sz="975" b="0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343400" y="2114550"/>
            <a:ext cx="3429000" cy="4095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pic>
        <p:nvPicPr>
          <p:cNvPr id="50" name="图片 45"/>
          <p:cNvPicPr>
            <a:picLocks noChangeAspect="1"/>
          </p:cNvPicPr>
          <p:nvPr/>
        </p:nvPicPr>
        <p:blipFill>
          <a:blip r:embed="rId2"/>
          <a:srcRect l="14771" r="14771"/>
          <a:stretch>
            <a:fillRect/>
          </a:stretch>
        </p:blipFill>
        <p:spPr>
          <a:xfrm>
            <a:off x="4495800" y="2266950"/>
            <a:ext cx="3124200" cy="1381125"/>
          </a:xfrm>
          <a:prstGeom prst="roundRect">
            <a:avLst>
              <a:gd name="adj" fmla="val 8276"/>
            </a:avLst>
          </a:prstGeom>
        </p:spPr>
      </p:pic>
      <p:sp>
        <p:nvSpPr>
          <p:cNvPr id="17" name="圆角矩形 16"/>
          <p:cNvSpPr>
            <a:spLocks noGrp="1"/>
          </p:cNvSpPr>
          <p:nvPr/>
        </p:nvSpPr>
        <p:spPr>
          <a:xfrm>
            <a:off x="4533900" y="3838575"/>
            <a:ext cx="85725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629150" y="38862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家庭 02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533900" y="43053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72623"/>
                </a:solidFill>
              </a:defRPr>
            </a:pPr>
            <a:r>
              <a:rPr sz="1575" b="1">
                <a:solidFill>
                  <a:srgbClr val="172623"/>
                </a:solidFill>
                <a:latin typeface="微软雅黑" charset="0"/>
                <a:ea typeface="微软雅黑" charset="0"/>
              </a:rPr>
              <a:t>双工作地与家庭变化</a:t>
            </a:r>
            <a:endParaRPr sz="1575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533900" y="489585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65716D"/>
                </a:solidFill>
              </a:defRPr>
            </a:pPr>
            <a:r>
              <a:rPr sz="1200" b="0">
                <a:solidFill>
                  <a:srgbClr val="65716D"/>
                </a:solidFill>
                <a:latin typeface="微软雅黑" charset="0"/>
                <a:ea typeface="微软雅黑" charset="0"/>
              </a:rPr>
              <a:t>兼顾两人工作</a:t>
            </a:r>
            <a:endParaRPr sz="12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65716D"/>
                </a:solidFill>
              </a:defRPr>
            </a:pPr>
            <a:r>
              <a:rPr sz="1200" b="0">
                <a:solidFill>
                  <a:srgbClr val="65716D"/>
                </a:solidFill>
                <a:latin typeface="微软雅黑" charset="0"/>
                <a:ea typeface="微软雅黑" charset="0"/>
              </a:rPr>
              <a:t>承接一家人的变化</a:t>
            </a:r>
            <a:endParaRPr sz="12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533900" y="55245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F4D40"/>
                </a:solidFill>
              </a:defRPr>
            </a:pPr>
            <a:r>
              <a:rPr sz="1350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124／139㎡</a:t>
            </a:r>
            <a:endParaRPr sz="1350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867400" y="55530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65716D"/>
                </a:solidFill>
              </a:defRPr>
            </a:pPr>
            <a:r>
              <a:rPr sz="975" b="0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参考总价 约347—431万元</a:t>
            </a:r>
            <a:endParaRPr sz="975" b="0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077200" y="2114550"/>
            <a:ext cx="3429000" cy="4095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pic>
        <p:nvPicPr>
          <p:cNvPr id="58" name="图片 53"/>
          <p:cNvPicPr>
            <a:picLocks noChangeAspect="1"/>
          </p:cNvPicPr>
          <p:nvPr/>
        </p:nvPicPr>
        <p:blipFill>
          <a:blip r:embed="rId3"/>
          <a:srcRect l="14771" r="14771"/>
          <a:stretch>
            <a:fillRect/>
          </a:stretch>
        </p:blipFill>
        <p:spPr>
          <a:xfrm>
            <a:off x="8229600" y="2266950"/>
            <a:ext cx="3124200" cy="1381125"/>
          </a:xfrm>
          <a:prstGeom prst="roundRect">
            <a:avLst>
              <a:gd name="adj" fmla="val 8276"/>
            </a:avLst>
          </a:prstGeom>
        </p:spPr>
      </p:pic>
      <p:sp>
        <p:nvSpPr>
          <p:cNvPr id="25" name="圆角矩形 24"/>
          <p:cNvSpPr>
            <a:spLocks noGrp="1"/>
          </p:cNvSpPr>
          <p:nvPr/>
        </p:nvSpPr>
        <p:spPr>
          <a:xfrm>
            <a:off x="8267700" y="3838575"/>
            <a:ext cx="857250" cy="285750"/>
          </a:xfrm>
          <a:prstGeom prst="roundRect">
            <a:avLst>
              <a:gd name="adj" fmla="val 50000"/>
            </a:avLst>
          </a:prstGeom>
          <a:solidFill>
            <a:srgbClr val="F2E3D7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362950" y="38862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C66A36"/>
                </a:solidFill>
              </a:defRPr>
            </a:pPr>
            <a:r>
              <a:rPr sz="975" b="1">
                <a:solidFill>
                  <a:srgbClr val="C66A36"/>
                </a:solidFill>
                <a:latin typeface="微软雅黑" charset="0"/>
                <a:ea typeface="微软雅黑" charset="0"/>
                <a:cs typeface="微软雅黑" charset="0"/>
              </a:rPr>
              <a:t>家庭 03</a:t>
            </a:r>
            <a:endParaRPr sz="975" b="1">
              <a:solidFill>
                <a:srgbClr val="C66A36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267700" y="43053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72623"/>
                </a:solidFill>
              </a:defRPr>
            </a:pPr>
            <a:r>
              <a:rPr sz="1575" b="1">
                <a:solidFill>
                  <a:srgbClr val="172623"/>
                </a:solidFill>
                <a:latin typeface="微软雅黑" charset="0"/>
                <a:ea typeface="微软雅黑" charset="0"/>
              </a:rPr>
              <a:t>长周期家庭关系改善</a:t>
            </a:r>
            <a:endParaRPr sz="1575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267700" y="489585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65716D"/>
                </a:solidFill>
              </a:defRPr>
            </a:pPr>
            <a:r>
              <a:rPr sz="1200" b="0">
                <a:solidFill>
                  <a:srgbClr val="65716D"/>
                </a:solidFill>
                <a:latin typeface="微软雅黑" charset="0"/>
                <a:ea typeface="微软雅黑" charset="0"/>
              </a:rPr>
              <a:t>工作、亲情、社交与独处</a:t>
            </a:r>
            <a:endParaRPr sz="12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65716D"/>
                </a:solidFill>
              </a:defRPr>
            </a:pPr>
            <a:r>
              <a:rPr sz="1200" b="0">
                <a:solidFill>
                  <a:srgbClr val="65716D"/>
                </a:solidFill>
                <a:latin typeface="微软雅黑" charset="0"/>
                <a:ea typeface="微软雅黑" charset="0"/>
              </a:rPr>
              <a:t>拥有各自空间</a:t>
            </a:r>
            <a:endParaRPr sz="12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267700" y="55245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C66A36"/>
                </a:solidFill>
              </a:defRPr>
            </a:pPr>
            <a:r>
              <a:rPr sz="1350" b="1">
                <a:solidFill>
                  <a:srgbClr val="C66A36"/>
                </a:solidFill>
                <a:latin typeface="微软雅黑" charset="0"/>
                <a:ea typeface="微软雅黑" charset="0"/>
                <a:cs typeface="微软雅黑" charset="0"/>
              </a:rPr>
              <a:t>165㎡</a:t>
            </a:r>
            <a:endParaRPr sz="1350" b="1">
              <a:solidFill>
                <a:srgbClr val="C66A36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601200" y="55530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r">
              <a:lnSpc>
                <a:spcPct val="105000"/>
              </a:lnSpc>
              <a:buNone/>
              <a:defRPr sz="975" b="0">
                <a:solidFill>
                  <a:srgbClr val="65716D"/>
                </a:solidFill>
              </a:defRPr>
            </a:pPr>
            <a:r>
              <a:rPr sz="975" b="0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参考总价 约462—512万元</a:t>
            </a:r>
            <a:endParaRPr sz="975" b="0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圆角矩形 22"/>
          <p:cNvSpPr>
            <a:spLocks noGrp="1"/>
          </p:cNvSpPr>
          <p:nvPr/>
        </p:nvSpPr>
        <p:spPr>
          <a:xfrm>
            <a:off x="609600" y="323850"/>
            <a:ext cx="21717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04850" y="371475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家庭 01｜生活秩序升级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09600" y="6858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623"/>
                </a:solidFill>
              </a:defRPr>
            </a:pPr>
            <a:r>
              <a:rPr sz="2700" b="1">
                <a:solidFill>
                  <a:srgbClr val="172623"/>
                </a:solidFill>
                <a:latin typeface="微软雅黑" charset="0"/>
                <a:ea typeface="微软雅黑" charset="0"/>
              </a:rPr>
              <a:t>熟悉的生活继续运行，居住品质完成升级</a:t>
            </a:r>
            <a:endParaRPr sz="2700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620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5716D"/>
                </a:solidFill>
              </a:defRPr>
            </a:pPr>
            <a:r>
              <a:rPr sz="1350" b="0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124／139㎡与完整社区，让工作、接送、照应和日常消费保持从容</a:t>
            </a:r>
            <a:endParaRPr sz="1350" b="0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524000"/>
            <a:ext cx="2628900" cy="11430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762000" y="165735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170497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家庭现状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81330" y="2038350"/>
            <a:ext cx="290957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</a:rPr>
              <a:t>工作、接送、照应与采购已经形成稳定网络；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</a:rPr>
              <a:t>收纳、双卫、隐私与公共生活需要全面升级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390900" y="1524000"/>
            <a:ext cx="2628900" cy="11430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3543300" y="165735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0E9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638550" y="170497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446879"/>
                </a:solidFill>
              </a:defRPr>
            </a:pPr>
            <a:r>
              <a:rPr sz="97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客户还会考虑</a:t>
            </a:r>
            <a:endParaRPr sz="97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562350" y="203835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中和成熟存量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继续居住或翻新 · 新川新规项目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172200" y="1524000"/>
            <a:ext cx="2628900" cy="11430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6324600" y="165735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0E9ED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19850" y="170497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446879"/>
                </a:solidFill>
              </a:defRPr>
            </a:pPr>
            <a:r>
              <a:rPr sz="97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客户最看重</a:t>
            </a:r>
            <a:endParaRPr sz="97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343650" y="203835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生活连续 · 支付能力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居住舒适度 · 完整社区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953500" y="1524000"/>
            <a:ext cx="2628900" cy="11430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9105900" y="165735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2E3D7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201150" y="170497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C66A36"/>
                </a:solidFill>
              </a:defRPr>
            </a:pPr>
            <a:r>
              <a:rPr sz="975" b="1">
                <a:solidFill>
                  <a:srgbClr val="C66A36"/>
                </a:solidFill>
                <a:latin typeface="微软雅黑" charset="0"/>
                <a:ea typeface="微软雅黑" charset="0"/>
              </a:rPr>
              <a:t>本案带来的生活</a:t>
            </a:r>
            <a:endParaRPr sz="975" b="1">
              <a:solidFill>
                <a:srgbClr val="C66A36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956040" y="2038350"/>
            <a:ext cx="2628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高效连接金融城、大源与新川；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124／139㎡与完整社区共同完成升级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案例区背景-A"/>
          <p:cNvSpPr>
            <a:spLocks noGrp="1"/>
          </p:cNvSpPr>
          <p:nvPr/>
        </p:nvSpPr>
        <p:spPr>
          <a:xfrm>
            <a:off x="609600" y="2876550"/>
            <a:ext cx="5295900" cy="3381375"/>
          </a:xfrm>
          <a:prstGeom prst="roundRect">
            <a:avLst>
              <a:gd name="adj" fmla="val 3380"/>
            </a:avLst>
          </a:prstGeom>
          <a:noFill/>
          <a:ln w="9525">
            <a:solidFill>
              <a:srgbClr val="CBD3CF"/>
            </a:solidFill>
            <a:prstDash val="solid"/>
          </a:ln>
        </p:spPr>
      </p:sp>
      <p:sp>
        <p:nvSpPr>
          <p:cNvPr id="25" name="案例区标题-A"/>
          <p:cNvSpPr>
            <a:spLocks noGrp="1"/>
          </p:cNvSpPr>
          <p:nvPr/>
        </p:nvSpPr>
        <p:spPr>
          <a:xfrm>
            <a:off x="781050" y="29622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65716D"/>
                </a:solidFill>
              </a:defRPr>
            </a:pPr>
            <a:r>
              <a:rPr sz="1050" b="1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明源住宅UE展示参考｜园林慢行承接日常归家</a:t>
            </a:r>
            <a:endParaRPr sz="1050" b="1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案例区说明-A"/>
          <p:cNvSpPr>
            <a:spLocks noGrp="1"/>
          </p:cNvSpPr>
          <p:nvPr/>
        </p:nvSpPr>
        <p:spPr>
          <a:xfrm>
            <a:off x="838200" y="3219450"/>
            <a:ext cx="4838700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65716D"/>
                </a:solidFill>
              </a:defRPr>
            </a:pPr>
            <a:endParaRPr sz="9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7" name="案例区背景-B"/>
          <p:cNvSpPr>
            <a:spLocks noGrp="1"/>
          </p:cNvSpPr>
          <p:nvPr/>
        </p:nvSpPr>
        <p:spPr>
          <a:xfrm>
            <a:off x="6286500" y="2876550"/>
            <a:ext cx="5295900" cy="3381375"/>
          </a:xfrm>
          <a:prstGeom prst="roundRect">
            <a:avLst>
              <a:gd name="adj" fmla="val 3380"/>
            </a:avLst>
          </a:prstGeom>
          <a:noFill/>
          <a:ln w="9525">
            <a:solidFill>
              <a:srgbClr val="CBD3CF"/>
            </a:solidFill>
            <a:prstDash val="solid"/>
          </a:ln>
        </p:spPr>
      </p:sp>
      <p:sp>
        <p:nvSpPr>
          <p:cNvPr id="28" name="案例区标题-B"/>
          <p:cNvSpPr>
            <a:spLocks noGrp="1"/>
          </p:cNvSpPr>
          <p:nvPr/>
        </p:nvSpPr>
        <p:spPr>
          <a:xfrm>
            <a:off x="6457950" y="29622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65716D"/>
                </a:solidFill>
              </a:defRPr>
            </a:pPr>
            <a:r>
              <a:rPr sz="1050" b="1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明源住宅UE展示参考｜公共空间容纳家庭停留</a:t>
            </a:r>
            <a:endParaRPr sz="1050" b="1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案例区说明-B"/>
          <p:cNvSpPr>
            <a:spLocks noGrp="1"/>
          </p:cNvSpPr>
          <p:nvPr/>
        </p:nvSpPr>
        <p:spPr>
          <a:xfrm>
            <a:off x="6515100" y="3219450"/>
            <a:ext cx="4838700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65716D"/>
                </a:solidFill>
              </a:defRPr>
            </a:pPr>
            <a:endParaRPr sz="9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1"/>
          <a:srcRect l="4353" r="4353"/>
          <a:stretch>
            <a:fillRect/>
          </a:stretch>
        </p:blipFill>
        <p:spPr>
          <a:xfrm>
            <a:off x="838200" y="3219450"/>
            <a:ext cx="4838700" cy="2981325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2"/>
          <a:srcRect l="4353" r="4353"/>
          <a:stretch>
            <a:fillRect/>
          </a:stretch>
        </p:blipFill>
        <p:spPr>
          <a:xfrm>
            <a:off x="6515100" y="3219450"/>
            <a:ext cx="4838700" cy="29813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圆角矩形 22"/>
          <p:cNvSpPr>
            <a:spLocks noGrp="1"/>
          </p:cNvSpPr>
          <p:nvPr/>
        </p:nvSpPr>
        <p:spPr>
          <a:xfrm>
            <a:off x="609600" y="323850"/>
            <a:ext cx="26289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04850" y="371475"/>
            <a:ext cx="2438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家庭 02｜双工作地与家庭变化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09600" y="6858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623"/>
                </a:solidFill>
              </a:defRPr>
            </a:pPr>
            <a:r>
              <a:rPr sz="2700" b="1">
                <a:solidFill>
                  <a:srgbClr val="172623"/>
                </a:solidFill>
                <a:latin typeface="微软雅黑" charset="0"/>
                <a:ea typeface="微软雅黑" charset="0"/>
              </a:rPr>
              <a:t>两条通勤都顺路，一家人的生活更从容</a:t>
            </a:r>
            <a:endParaRPr sz="2700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620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5716D"/>
                </a:solidFill>
              </a:defRPr>
            </a:pPr>
            <a:r>
              <a:rPr sz="1350" b="0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黄金中场与双TOD兼顾两人工作，124／139㎡承接家庭变化</a:t>
            </a:r>
            <a:endParaRPr sz="1350" b="0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524000"/>
            <a:ext cx="2628900" cy="11430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762000" y="165735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170497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家庭现状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5790" y="2038350"/>
            <a:ext cx="264731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</a:rPr>
              <a:t>夫妻工作坐标不同；结婚、生育、父母短住与居家办公增加家庭功能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390900" y="1524000"/>
            <a:ext cx="2628900" cy="11430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3543300" y="165735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0E9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638550" y="170497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446879"/>
                </a:solidFill>
              </a:defRPr>
            </a:pPr>
            <a:r>
              <a:rPr sz="97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客户还会考虑</a:t>
            </a:r>
            <a:endParaRPr sz="97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562350" y="203835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中和项目 · 新川项目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华府项目 · 成熟二手房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172200" y="1524000"/>
            <a:ext cx="2628900" cy="11430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6324600" y="165735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0E9ED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19850" y="170497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446879"/>
                </a:solidFill>
              </a:defRPr>
            </a:pPr>
            <a:r>
              <a:rPr sz="97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客户最看重</a:t>
            </a:r>
            <a:endParaRPr sz="97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85535" y="2038350"/>
            <a:ext cx="259651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两条通勤 · 支付能力 · 双卫与储物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四房需求 · 购买时点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953500" y="1524000"/>
            <a:ext cx="2628900" cy="11430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9105900" y="165735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2E3D7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201150" y="170497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C66A36"/>
                </a:solidFill>
              </a:defRPr>
            </a:pPr>
            <a:r>
              <a:rPr sz="975" b="1">
                <a:solidFill>
                  <a:srgbClr val="C66A36"/>
                </a:solidFill>
                <a:latin typeface="微软雅黑" charset="0"/>
                <a:ea typeface="微软雅黑" charset="0"/>
              </a:rPr>
              <a:t>本案带来的生活</a:t>
            </a:r>
            <a:endParaRPr sz="975" b="1">
              <a:solidFill>
                <a:srgbClr val="C66A36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957310" y="2038350"/>
            <a:ext cx="261429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黄金中场与双TOD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连接两条通勤；124／139㎡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兼顾家庭功能与支付能力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案例区背景-A"/>
          <p:cNvSpPr>
            <a:spLocks noGrp="1"/>
          </p:cNvSpPr>
          <p:nvPr/>
        </p:nvSpPr>
        <p:spPr>
          <a:xfrm>
            <a:off x="609600" y="2876550"/>
            <a:ext cx="5295900" cy="3381375"/>
          </a:xfrm>
          <a:prstGeom prst="roundRect">
            <a:avLst>
              <a:gd name="adj" fmla="val 3380"/>
            </a:avLst>
          </a:prstGeom>
          <a:noFill/>
          <a:ln w="9525">
            <a:solidFill>
              <a:srgbClr val="CBD3CF"/>
            </a:solidFill>
            <a:prstDash val="solid"/>
          </a:ln>
        </p:spPr>
      </p:sp>
      <p:sp>
        <p:nvSpPr>
          <p:cNvPr id="25" name="案例区标题-A"/>
          <p:cNvSpPr>
            <a:spLocks noGrp="1"/>
          </p:cNvSpPr>
          <p:nvPr/>
        </p:nvSpPr>
        <p:spPr>
          <a:xfrm>
            <a:off x="781050" y="29622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65716D"/>
                </a:solidFill>
              </a:defRPr>
            </a:pPr>
            <a:r>
              <a:rPr sz="1050" b="1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明源住宅UE展示参考｜TOD节点支撑双向通勤</a:t>
            </a:r>
            <a:endParaRPr sz="1050" b="1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案例区说明-A"/>
          <p:cNvSpPr>
            <a:spLocks noGrp="1"/>
          </p:cNvSpPr>
          <p:nvPr/>
        </p:nvSpPr>
        <p:spPr>
          <a:xfrm>
            <a:off x="838200" y="3219450"/>
            <a:ext cx="4838700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65716D"/>
                </a:solidFill>
              </a:defRPr>
            </a:pPr>
            <a:endParaRPr sz="9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7" name="案例区背景-B"/>
          <p:cNvSpPr>
            <a:spLocks noGrp="1"/>
          </p:cNvSpPr>
          <p:nvPr/>
        </p:nvSpPr>
        <p:spPr>
          <a:xfrm>
            <a:off x="6286500" y="2876550"/>
            <a:ext cx="5295900" cy="3381375"/>
          </a:xfrm>
          <a:prstGeom prst="roundRect">
            <a:avLst>
              <a:gd name="adj" fmla="val 3380"/>
            </a:avLst>
          </a:prstGeom>
          <a:noFill/>
          <a:ln w="9525">
            <a:solidFill>
              <a:srgbClr val="CBD3CF"/>
            </a:solidFill>
            <a:prstDash val="solid"/>
          </a:ln>
        </p:spPr>
      </p:sp>
      <p:sp>
        <p:nvSpPr>
          <p:cNvPr id="28" name="案例区标题-B"/>
          <p:cNvSpPr>
            <a:spLocks noGrp="1"/>
          </p:cNvSpPr>
          <p:nvPr/>
        </p:nvSpPr>
        <p:spPr>
          <a:xfrm>
            <a:off x="6457950" y="29622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65716D"/>
                </a:solidFill>
              </a:defRPr>
            </a:pPr>
            <a:r>
              <a:rPr sz="1050" b="1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明源住宅UE展示参考｜城市界面支撑工作与生活</a:t>
            </a:r>
            <a:endParaRPr sz="1050" b="1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案例区说明-B"/>
          <p:cNvSpPr>
            <a:spLocks noGrp="1"/>
          </p:cNvSpPr>
          <p:nvPr/>
        </p:nvSpPr>
        <p:spPr>
          <a:xfrm>
            <a:off x="6515100" y="3219450"/>
            <a:ext cx="4838700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65716D"/>
                </a:solidFill>
              </a:defRPr>
            </a:pPr>
            <a:endParaRPr sz="9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1"/>
          <a:srcRect l="4353" r="4353"/>
          <a:stretch>
            <a:fillRect/>
          </a:stretch>
        </p:blipFill>
        <p:spPr>
          <a:xfrm>
            <a:off x="838200" y="3219450"/>
            <a:ext cx="4838700" cy="2981325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2"/>
          <a:srcRect l="4173" r="4173"/>
          <a:stretch>
            <a:fillRect/>
          </a:stretch>
        </p:blipFill>
        <p:spPr>
          <a:xfrm>
            <a:off x="6515100" y="3219450"/>
            <a:ext cx="4838700" cy="29813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圆角矩形 22"/>
          <p:cNvSpPr>
            <a:spLocks noGrp="1"/>
          </p:cNvSpPr>
          <p:nvPr/>
        </p:nvSpPr>
        <p:spPr>
          <a:xfrm>
            <a:off x="609600" y="323850"/>
            <a:ext cx="26289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04850" y="371475"/>
            <a:ext cx="2438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家庭 03｜长周期家庭关系改善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09600" y="685800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623"/>
                </a:solidFill>
              </a:defRPr>
            </a:pPr>
            <a:r>
              <a:rPr sz="2700" b="1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165㎡承接工作、亲情、社交与独处的长期生活</a:t>
            </a:r>
            <a:endParaRPr sz="2700" b="1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620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5716D"/>
                </a:solidFill>
              </a:defRPr>
            </a:pPr>
            <a:r>
              <a:rPr sz="1350" b="0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四房三卫、3.15米层高与完整低密社区，让一家人拥有更长久的从容</a:t>
            </a:r>
            <a:endParaRPr sz="1350" b="0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524000"/>
            <a:ext cx="2628900" cy="11430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762000" y="165735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170497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家庭现状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5790" y="2038350"/>
            <a:ext cx="263652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</a:rPr>
              <a:t>家庭关注更长持有与多人共处；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</a:rPr>
              <a:t>独立工作、照应、社交与社区生活共同进入选择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390900" y="1524000"/>
            <a:ext cx="2628900" cy="114300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3543300" y="165735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0E9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638550" y="170497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446879"/>
                </a:solidFill>
              </a:defRPr>
            </a:pPr>
            <a:r>
              <a:rPr sz="97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客户还会考虑</a:t>
            </a:r>
            <a:endParaRPr sz="97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562350" y="203835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168㎡以上现房 · 洋房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四代产品 · 跨板块高阶大平层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172200" y="1524000"/>
            <a:ext cx="2628900" cy="11430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6324600" y="165735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E0E9ED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19850" y="170497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446879"/>
                </a:solidFill>
              </a:defRPr>
            </a:pPr>
            <a:r>
              <a:rPr sz="975" b="1">
                <a:solidFill>
                  <a:srgbClr val="446879"/>
                </a:solidFill>
                <a:latin typeface="微软雅黑" charset="0"/>
                <a:ea typeface="微软雅黑" charset="0"/>
              </a:rPr>
              <a:t>客户最看重</a:t>
            </a:r>
            <a:endParaRPr sz="975" b="1">
              <a:solidFill>
                <a:srgbClr val="44687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343650" y="2038350"/>
            <a:ext cx="2438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家庭长期关系 · 独立工作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会客与私密 · 社区生活 · 投入合理性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953500" y="1524000"/>
            <a:ext cx="2628900" cy="11430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9105900" y="165735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2E3D7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201150" y="170497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C66A36"/>
                </a:solidFill>
              </a:defRPr>
            </a:pPr>
            <a:r>
              <a:rPr sz="975" b="1">
                <a:solidFill>
                  <a:srgbClr val="C66A36"/>
                </a:solidFill>
                <a:latin typeface="微软雅黑" charset="0"/>
                <a:ea typeface="微软雅黑" charset="0"/>
              </a:rPr>
              <a:t>本案带来的生活</a:t>
            </a:r>
            <a:endParaRPr sz="975" b="1">
              <a:solidFill>
                <a:srgbClr val="C66A36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24950" y="203835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165㎡、3.15米层高与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完整低密社区；共同承接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94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工作、亲情、社交和独处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案例区背景-A"/>
          <p:cNvSpPr>
            <a:spLocks noGrp="1"/>
          </p:cNvSpPr>
          <p:nvPr/>
        </p:nvSpPr>
        <p:spPr>
          <a:xfrm>
            <a:off x="609600" y="2876550"/>
            <a:ext cx="5295900" cy="3381375"/>
          </a:xfrm>
          <a:prstGeom prst="roundRect">
            <a:avLst>
              <a:gd name="adj" fmla="val 3380"/>
            </a:avLst>
          </a:prstGeom>
          <a:noFill/>
          <a:ln w="9525">
            <a:solidFill>
              <a:srgbClr val="CBD3CF"/>
            </a:solidFill>
            <a:prstDash val="solid"/>
          </a:ln>
        </p:spPr>
      </p:sp>
      <p:sp>
        <p:nvSpPr>
          <p:cNvPr id="25" name="案例区标题-A"/>
          <p:cNvSpPr>
            <a:spLocks noGrp="1"/>
          </p:cNvSpPr>
          <p:nvPr/>
        </p:nvSpPr>
        <p:spPr>
          <a:xfrm>
            <a:off x="781050" y="29622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65716D"/>
                </a:solidFill>
              </a:defRPr>
            </a:pPr>
            <a:r>
              <a:rPr sz="1050" b="1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明源住宅UE展示参考｜会客空间承接家庭相处</a:t>
            </a:r>
            <a:endParaRPr sz="1050" b="1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案例区说明-A"/>
          <p:cNvSpPr>
            <a:spLocks noGrp="1"/>
          </p:cNvSpPr>
          <p:nvPr/>
        </p:nvSpPr>
        <p:spPr>
          <a:xfrm>
            <a:off x="838200" y="3219450"/>
            <a:ext cx="4838700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65716D"/>
                </a:solidFill>
              </a:defRPr>
            </a:pPr>
            <a:endParaRPr sz="9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7" name="案例区背景-B"/>
          <p:cNvSpPr>
            <a:spLocks noGrp="1"/>
          </p:cNvSpPr>
          <p:nvPr/>
        </p:nvSpPr>
        <p:spPr>
          <a:xfrm>
            <a:off x="6286500" y="2876550"/>
            <a:ext cx="5295900" cy="3381375"/>
          </a:xfrm>
          <a:prstGeom prst="roundRect">
            <a:avLst>
              <a:gd name="adj" fmla="val 3380"/>
            </a:avLst>
          </a:prstGeom>
          <a:noFill/>
          <a:ln w="9525">
            <a:solidFill>
              <a:srgbClr val="CBD3CF"/>
            </a:solidFill>
            <a:prstDash val="solid"/>
          </a:ln>
        </p:spPr>
      </p:sp>
      <p:sp>
        <p:nvSpPr>
          <p:cNvPr id="28" name="案例区标题-B"/>
          <p:cNvSpPr>
            <a:spLocks noGrp="1"/>
          </p:cNvSpPr>
          <p:nvPr/>
        </p:nvSpPr>
        <p:spPr>
          <a:xfrm>
            <a:off x="6457950" y="296227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65716D"/>
                </a:solidFill>
              </a:defRPr>
            </a:pPr>
            <a:r>
              <a:rPr sz="1050" b="1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明源住宅UE展示参考｜居家停留延展家庭时间</a:t>
            </a:r>
            <a:endParaRPr sz="1050" b="1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案例区说明-B"/>
          <p:cNvSpPr>
            <a:spLocks noGrp="1"/>
          </p:cNvSpPr>
          <p:nvPr/>
        </p:nvSpPr>
        <p:spPr>
          <a:xfrm>
            <a:off x="6515100" y="3219450"/>
            <a:ext cx="4838700" cy="2981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65716D"/>
                </a:solidFill>
              </a:defRPr>
            </a:pPr>
            <a:endParaRPr sz="90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1"/>
          <a:srcRect t="18845" b="18845"/>
          <a:stretch>
            <a:fillRect/>
          </a:stretch>
        </p:blipFill>
        <p:spPr>
          <a:xfrm>
            <a:off x="838200" y="3219450"/>
            <a:ext cx="4838700" cy="2981325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2"/>
          <a:srcRect l="4353" r="4353"/>
          <a:stretch>
            <a:fillRect/>
          </a:stretch>
        </p:blipFill>
        <p:spPr>
          <a:xfrm>
            <a:off x="6515100" y="3219450"/>
            <a:ext cx="4838700" cy="29813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圆角矩形 35"/>
          <p:cNvSpPr>
            <a:spLocks noGrp="1"/>
          </p:cNvSpPr>
          <p:nvPr/>
        </p:nvSpPr>
        <p:spPr>
          <a:xfrm>
            <a:off x="609600" y="3238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04850" y="37147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UE制作范围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09600" y="819150"/>
            <a:ext cx="10668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2623"/>
                </a:solidFill>
              </a:defRPr>
            </a:pPr>
            <a:r>
              <a:rPr sz="2700" b="1">
                <a:solidFill>
                  <a:srgbClr val="172623"/>
                </a:solidFill>
                <a:latin typeface="微软雅黑" charset="0"/>
                <a:ea typeface="微软雅黑" charset="0"/>
              </a:rPr>
              <a:t>一套系统，让每</a:t>
            </a:r>
            <a:r>
              <a:rPr lang="zh-CN" sz="2700" b="1">
                <a:solidFill>
                  <a:srgbClr val="172623"/>
                </a:solidFill>
                <a:latin typeface="微软雅黑" charset="0"/>
                <a:ea typeface="微软雅黑" charset="0"/>
              </a:rPr>
              <a:t>一类客群都</a:t>
            </a:r>
            <a:r>
              <a:rPr sz="2700" b="1">
                <a:solidFill>
                  <a:srgbClr val="172623"/>
                </a:solidFill>
                <a:latin typeface="微软雅黑" charset="0"/>
                <a:ea typeface="微软雅黑" charset="0"/>
              </a:rPr>
              <a:t>看</a:t>
            </a:r>
            <a:r>
              <a:rPr lang="zh-CN" sz="2700" b="1">
                <a:solidFill>
                  <a:srgbClr val="172623"/>
                </a:solidFill>
                <a:latin typeface="微软雅黑" charset="0"/>
                <a:ea typeface="微软雅黑" charset="0"/>
              </a:rPr>
              <a:t>得</a:t>
            </a:r>
            <a:r>
              <a:rPr sz="2700" b="1">
                <a:solidFill>
                  <a:srgbClr val="172623"/>
                </a:solidFill>
                <a:latin typeface="微软雅黑" charset="0"/>
                <a:ea typeface="微软雅黑" charset="0"/>
              </a:rPr>
              <a:t>懂本案，再看清适合自己的选择</a:t>
            </a:r>
            <a:endParaRPr sz="2700" b="1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504950"/>
            <a:ext cx="1057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65716D"/>
                </a:solidFill>
              </a:defRPr>
            </a:pPr>
            <a:r>
              <a:rPr sz="1350" b="0">
                <a:solidFill>
                  <a:srgbClr val="65716D"/>
                </a:solidFill>
                <a:latin typeface="微软雅黑" charset="0"/>
                <a:ea typeface="微软雅黑" charset="0"/>
              </a:rPr>
              <a:t>共同讲清三条选择理由；不同家庭再进入各自关注的空间、户型与房源。</a:t>
            </a:r>
            <a:endParaRPr sz="1350" b="0">
              <a:solidFill>
                <a:srgbClr val="65716D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66750" y="2076450"/>
            <a:ext cx="2667000" cy="285750"/>
          </a:xfrm>
          <a:prstGeom prst="roundRect">
            <a:avLst>
              <a:gd name="adj" fmla="val 50000"/>
            </a:avLst>
          </a:prstGeom>
          <a:solidFill>
            <a:srgbClr val="DDE7E2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2124075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1F4D40"/>
                </a:solidFill>
              </a:defRPr>
            </a:pP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每</a:t>
            </a:r>
            <a:r>
              <a:rPr lang="zh-CN"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类客群</a:t>
            </a:r>
            <a:r>
              <a:rPr sz="975" b="1">
                <a:solidFill>
                  <a:srgbClr val="1F4D40"/>
                </a:solidFill>
                <a:latin typeface="微软雅黑" charset="0"/>
                <a:ea typeface="微软雅黑" charset="0"/>
              </a:rPr>
              <a:t>先看懂本案</a:t>
            </a:r>
            <a:endParaRPr sz="975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66750" y="2476500"/>
            <a:ext cx="3333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2647950"/>
            <a:ext cx="2990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F4D40"/>
                </a:solidFill>
              </a:defRPr>
            </a:pPr>
            <a:r>
              <a:rPr sz="1350" b="1">
                <a:solidFill>
                  <a:srgbClr val="1F4D40"/>
                </a:solidFill>
                <a:latin typeface="微软雅黑" charset="0"/>
                <a:ea typeface="微软雅黑" charset="0"/>
              </a:rPr>
              <a:t>城市与区域</a:t>
            </a:r>
            <a:endParaRPr sz="1350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3009900"/>
            <a:ext cx="2990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172623"/>
                </a:solidFill>
              </a:defRPr>
            </a:pPr>
            <a:r>
              <a:rPr sz="1050" b="0">
                <a:solidFill>
                  <a:srgbClr val="172623"/>
                </a:solidFill>
                <a:latin typeface="微软雅黑" charset="0"/>
                <a:ea typeface="微软雅黑" charset="0"/>
              </a:rPr>
              <a:t>城市关系／板块地段／交通配套</a:t>
            </a:r>
            <a:endParaRPr sz="1050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" y="3448050"/>
            <a:ext cx="2990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5716D"/>
                </a:solidFill>
              </a:defRPr>
            </a:pPr>
            <a:r>
              <a:rPr sz="975" b="0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点击坐标 · 切换路线</a:t>
            </a:r>
            <a:endParaRPr sz="975" b="0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381500" y="2476500"/>
            <a:ext cx="3333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552950" y="2647950"/>
            <a:ext cx="2990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F4D40"/>
                </a:solidFill>
              </a:defRPr>
            </a:pPr>
            <a:r>
              <a:rPr sz="1350" b="1">
                <a:solidFill>
                  <a:srgbClr val="1F4D40"/>
                </a:solidFill>
                <a:latin typeface="微软雅黑" charset="0"/>
                <a:ea typeface="微软雅黑" charset="0"/>
              </a:rPr>
              <a:t>项目与社区</a:t>
            </a:r>
            <a:endParaRPr sz="1350" b="1">
              <a:solidFill>
                <a:srgbClr val="1F4D4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552950" y="3009900"/>
            <a:ext cx="2990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172623"/>
                </a:solidFill>
              </a:defRPr>
            </a:pPr>
            <a:r>
              <a:rPr sz="1050" b="0">
                <a:solidFill>
                  <a:srgbClr val="172623"/>
                </a:solidFill>
                <a:latin typeface="微软雅黑" charset="0"/>
                <a:ea typeface="微软雅黑" charset="0"/>
              </a:rPr>
              <a:t>总图／建筑／园林／会所／精装</a:t>
            </a:r>
            <a:endParaRPr sz="1050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52950" y="3448050"/>
            <a:ext cx="2990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5716D"/>
                </a:solidFill>
              </a:defRPr>
            </a:pPr>
            <a:r>
              <a:rPr sz="975" b="0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旋转漫游 · 查看节点</a:t>
            </a:r>
            <a:endParaRPr sz="975" b="0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96250" y="2476500"/>
            <a:ext cx="333375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267700" y="2647950"/>
            <a:ext cx="2990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C66A36"/>
                </a:solidFill>
              </a:defRPr>
            </a:pPr>
            <a:r>
              <a:rPr sz="1350" b="1">
                <a:solidFill>
                  <a:srgbClr val="C66A36"/>
                </a:solidFill>
                <a:latin typeface="微软雅黑" charset="0"/>
                <a:ea typeface="微软雅黑" charset="0"/>
              </a:rPr>
              <a:t>产品与房源</a:t>
            </a:r>
            <a:endParaRPr sz="1350" b="1">
              <a:solidFill>
                <a:srgbClr val="C66A36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267700" y="3009900"/>
            <a:ext cx="2990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172623"/>
                </a:solidFill>
              </a:defRPr>
            </a:pPr>
            <a:r>
              <a:rPr sz="1050" b="0">
                <a:solidFill>
                  <a:srgbClr val="172623"/>
                </a:solidFill>
                <a:latin typeface="微软雅黑" charset="0"/>
                <a:ea typeface="微软雅黑" charset="0"/>
                <a:cs typeface="微软雅黑" charset="0"/>
              </a:rPr>
              <a:t>124／139／165㎡／楼栋房源</a:t>
            </a:r>
            <a:endParaRPr sz="1050" b="0">
              <a:solidFill>
                <a:srgbClr val="172623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267700" y="3448050"/>
            <a:ext cx="2990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65716D"/>
                </a:solidFill>
              </a:defRPr>
            </a:pPr>
            <a:r>
              <a:rPr sz="975" b="0">
                <a:solidFill>
                  <a:srgbClr val="65716D"/>
                </a:solidFill>
                <a:latin typeface="微软雅黑" charset="0"/>
                <a:ea typeface="微软雅黑" charset="0"/>
                <a:cs typeface="微软雅黑" charset="0"/>
              </a:rPr>
              <a:t>切换户型 · 调用房源</a:t>
            </a:r>
            <a:endParaRPr sz="975" b="0">
              <a:solidFill>
                <a:srgbClr val="65716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66750" y="4048125"/>
            <a:ext cx="2670175" cy="238125"/>
          </a:xfrm>
          <a:prstGeom prst="roundRect">
            <a:avLst>
              <a:gd name="adj" fmla="val 50000"/>
            </a:avLst>
          </a:prstGeom>
          <a:solidFill>
            <a:srgbClr val="F2E3D7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62000" y="4095750"/>
            <a:ext cx="2508250" cy="15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C66A36"/>
                </a:solidFill>
              </a:defRPr>
            </a:pPr>
            <a:r>
              <a:rPr sz="975" b="1">
                <a:solidFill>
                  <a:srgbClr val="C66A36"/>
                </a:solidFill>
                <a:latin typeface="微软雅黑" charset="0"/>
                <a:ea typeface="微软雅黑" charset="0"/>
              </a:rPr>
              <a:t>不同家庭继续深入</a:t>
            </a:r>
            <a:r>
              <a:rPr lang="zh-CN" sz="975" b="1">
                <a:solidFill>
                  <a:srgbClr val="C66A36"/>
                </a:solidFill>
                <a:latin typeface="微软雅黑" charset="0"/>
                <a:ea typeface="微软雅黑" charset="0"/>
              </a:rPr>
              <a:t>选择</a:t>
            </a:r>
            <a:endParaRPr lang="zh-CN" sz="975" b="1">
              <a:solidFill>
                <a:srgbClr val="C66A36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66750" y="4457700"/>
            <a:ext cx="333375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38200" y="4629150"/>
            <a:ext cx="2990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1F4D40"/>
                </a:solidFill>
              </a:defRPr>
            </a:pPr>
            <a:r>
              <a:rPr sz="1200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家庭 01｜生活秩序升级</a:t>
            </a:r>
            <a:endParaRPr sz="1200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38200" y="5010150"/>
            <a:ext cx="2990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</a:rPr>
              <a:t>熟悉生活继续运行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38200" y="5476875"/>
            <a:ext cx="2990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F4D40"/>
                </a:solidFill>
              </a:defRPr>
            </a:pPr>
            <a:r>
              <a:rPr sz="1050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124／139㎡</a:t>
            </a:r>
            <a:endParaRPr sz="1050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381500" y="4457700"/>
            <a:ext cx="333375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552950" y="4629150"/>
            <a:ext cx="2990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1F4D40"/>
                </a:solidFill>
              </a:defRPr>
            </a:pPr>
            <a:r>
              <a:rPr sz="1200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家庭 02｜双工作地与家庭变化</a:t>
            </a:r>
            <a:endParaRPr sz="1200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552950" y="5010150"/>
            <a:ext cx="2990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</a:rPr>
              <a:t>兼顾两人工作与家庭变化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552950" y="5476875"/>
            <a:ext cx="2990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F4D40"/>
                </a:solidFill>
              </a:defRPr>
            </a:pPr>
            <a:r>
              <a:rPr sz="1050" b="1">
                <a:solidFill>
                  <a:srgbClr val="1F4D40"/>
                </a:solidFill>
                <a:latin typeface="微软雅黑" charset="0"/>
                <a:ea typeface="微软雅黑" charset="0"/>
                <a:cs typeface="微软雅黑" charset="0"/>
              </a:rPr>
              <a:t>124／139㎡</a:t>
            </a:r>
            <a:endParaRPr sz="1050" b="1">
              <a:solidFill>
                <a:srgbClr val="1F4D4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096250" y="4457700"/>
            <a:ext cx="333375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CBD3C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267700" y="4629150"/>
            <a:ext cx="2990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C66A36"/>
                </a:solidFill>
              </a:defRPr>
            </a:pPr>
            <a:r>
              <a:rPr sz="1200" b="1">
                <a:solidFill>
                  <a:srgbClr val="C66A36"/>
                </a:solidFill>
                <a:latin typeface="微软雅黑" charset="0"/>
                <a:ea typeface="微软雅黑" charset="0"/>
                <a:cs typeface="微软雅黑" charset="0"/>
              </a:rPr>
              <a:t>家庭 03｜长周期家庭关系改善</a:t>
            </a:r>
            <a:endParaRPr sz="1200" b="1">
              <a:solidFill>
                <a:srgbClr val="C66A36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267700" y="5010150"/>
            <a:ext cx="2990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172623"/>
                </a:solidFill>
              </a:defRPr>
            </a:pPr>
            <a:r>
              <a:rPr sz="1125" b="0">
                <a:solidFill>
                  <a:srgbClr val="172623"/>
                </a:solidFill>
                <a:latin typeface="微软雅黑" charset="0"/>
                <a:ea typeface="微软雅黑" charset="0"/>
              </a:rPr>
              <a:t>工作、亲情、社交与独处</a:t>
            </a:r>
            <a:endParaRPr sz="1125" b="0">
              <a:solidFill>
                <a:srgbClr val="17262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267700" y="5476875"/>
            <a:ext cx="2990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C66A36"/>
                </a:solidFill>
              </a:defRPr>
            </a:pPr>
            <a:r>
              <a:rPr sz="1050" b="1">
                <a:solidFill>
                  <a:srgbClr val="C66A36"/>
                </a:solidFill>
                <a:latin typeface="微软雅黑" charset="0"/>
                <a:ea typeface="微软雅黑" charset="0"/>
                <a:cs typeface="微软雅黑" charset="0"/>
              </a:rPr>
              <a:t>165㎡</a:t>
            </a:r>
            <a:endParaRPr sz="1050" b="1">
              <a:solidFill>
                <a:srgbClr val="C66A36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666750" y="1524000"/>
            <a:ext cx="1066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最终形成一套可讲、可看、可比较的</a:t>
            </a:r>
            <a:r>
              <a:rPr lang="zh-CN" sz="3375" b="1">
                <a:solidFill>
                  <a:srgbClr val="FFC000"/>
                </a:solidFill>
                <a:latin typeface="微软雅黑" charset="0"/>
                <a:ea typeface="微软雅黑" charset="0"/>
                <a:cs typeface="微软雅黑" charset="0"/>
              </a:rPr>
              <a:t>信任感</a:t>
            </a:r>
            <a:r>
              <a:rPr lang="zh-CN" sz="3375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构建</a:t>
            </a:r>
            <a:r>
              <a:rPr lang="zh-CN" sz="3375" b="1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体系</a:t>
            </a:r>
            <a:endParaRPr lang="zh-CN" sz="3375" b="1">
              <a:solidFill>
                <a:srgbClr val="FFFFF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2857500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E8D2BF"/>
                </a:solidFill>
              </a:defRPr>
            </a:pPr>
            <a:r>
              <a:rPr sz="2100" b="1">
                <a:solidFill>
                  <a:srgbClr val="E8D2BF"/>
                </a:solidFill>
                <a:latin typeface="微软雅黑" charset="0"/>
                <a:ea typeface="微软雅黑" charset="0"/>
              </a:rPr>
              <a:t>高新南效率中心，最具「松弛感」的生活方式</a:t>
            </a:r>
            <a:endParaRPr sz="2100" b="1">
              <a:solidFill>
                <a:srgbClr val="E8D2B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66750" y="4000500"/>
            <a:ext cx="3333750" cy="1381125"/>
          </a:xfrm>
          <a:prstGeom prst="roundRect">
            <a:avLst>
              <a:gd name="adj" fmla="val 11034"/>
            </a:avLst>
          </a:prstGeom>
          <a:solidFill>
            <a:srgbClr val="1B3530"/>
          </a:solidFill>
          <a:ln w="9525">
            <a:solidFill>
              <a:srgbClr val="315249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95350" y="425767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可讲</a:t>
            </a:r>
            <a:endParaRPr sz="187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4810125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9D7D2"/>
                </a:solidFill>
              </a:defRPr>
            </a:pPr>
            <a:r>
              <a:rPr sz="1200" b="0">
                <a:solidFill>
                  <a:srgbClr val="C9D7D2"/>
                </a:solidFill>
                <a:latin typeface="微软雅黑" charset="0"/>
                <a:ea typeface="微软雅黑" charset="0"/>
              </a:rPr>
              <a:t>三条选择理由形成清晰项目答案</a:t>
            </a:r>
            <a:endParaRPr sz="1200" b="0">
              <a:solidFill>
                <a:srgbClr val="C9D7D2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381500" y="4000500"/>
            <a:ext cx="3333750" cy="1381125"/>
          </a:xfrm>
          <a:prstGeom prst="roundRect">
            <a:avLst>
              <a:gd name="adj" fmla="val 11034"/>
            </a:avLst>
          </a:prstGeom>
          <a:solidFill>
            <a:srgbClr val="1B3530"/>
          </a:solidFill>
          <a:ln w="9525">
            <a:solidFill>
              <a:srgbClr val="315249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610100" y="425767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可看</a:t>
            </a:r>
            <a:endParaRPr sz="187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610100" y="4810125"/>
            <a:ext cx="30022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9D7D2"/>
                </a:solidFill>
              </a:defRPr>
            </a:pPr>
            <a:r>
              <a:rPr sz="1200" b="0">
                <a:solidFill>
                  <a:srgbClr val="C9D7D2"/>
                </a:solidFill>
                <a:latin typeface="微软雅黑" charset="0"/>
                <a:ea typeface="微软雅黑" charset="0"/>
              </a:rPr>
              <a:t>地图、空间、园林、户型与房源连续呈现</a:t>
            </a:r>
            <a:endParaRPr sz="1200" b="0">
              <a:solidFill>
                <a:srgbClr val="C9D7D2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096250" y="4000500"/>
            <a:ext cx="3333750" cy="1381125"/>
          </a:xfrm>
          <a:prstGeom prst="roundRect">
            <a:avLst>
              <a:gd name="adj" fmla="val 11034"/>
            </a:avLst>
          </a:prstGeom>
          <a:solidFill>
            <a:srgbClr val="3B3029"/>
          </a:solidFill>
          <a:ln w="9525">
            <a:solidFill>
              <a:srgbClr val="C66A3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324850" y="425767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微软雅黑" charset="0"/>
                <a:ea typeface="微软雅黑" charset="0"/>
              </a:rPr>
              <a:t>可比较</a:t>
            </a:r>
            <a:endParaRPr sz="1875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24850" y="4810125"/>
            <a:ext cx="3032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9D7D2"/>
                </a:solidFill>
              </a:defRPr>
            </a:pPr>
            <a:r>
              <a:rPr sz="1200" b="0">
                <a:solidFill>
                  <a:srgbClr val="C9D7D2"/>
                </a:solidFill>
                <a:latin typeface="微软雅黑" charset="0"/>
                <a:ea typeface="微软雅黑" charset="0"/>
              </a:rPr>
              <a:t>家庭需求、不同选择与产品条件同屏呈现</a:t>
            </a:r>
            <a:endParaRPr sz="1200" b="0">
              <a:solidFill>
                <a:srgbClr val="C9D7D2"/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4769</Words>
  <Application>WPS 演示</Application>
  <PresentationFormat>Converted Presentation</PresentationFormat>
  <Paragraphs>610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PingFang SC</vt:lpstr>
      <vt:lpstr>Calibri</vt:lpstr>
      <vt:lpstr>Helvetica Neue</vt:lpstr>
      <vt:lpstr>宋体</vt:lpstr>
      <vt:lpstr>汉仪书宋二KW</vt:lpstr>
      <vt:lpstr>微软雅黑</vt:lpstr>
      <vt:lpstr>方正雅意黑 GB18030L2</vt:lpstr>
      <vt:lpstr>Arial Unicode MS</vt:lpstr>
      <vt:lpstr>微软雅黑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谢明</cp:lastModifiedBy>
  <cp:revision>6</cp:revision>
  <dcterms:created xsi:type="dcterms:W3CDTF">2026-08-10T02:55:24Z</dcterms:created>
  <dcterms:modified xsi:type="dcterms:W3CDTF">2026-08-10T02:55:24Z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562595DCFD41386AE933796ABBAE686B_42</vt:lpwstr>
  </property>
  <property fmtid="{D5CDD505-2E9C-101B-9397-08002B2CF9AE}" pid="3" name="KSOProductBuildVer">
    <vt:lpwstr>2052-12.1.26046.26046</vt:lpwstr>
  </property>
</Properties>
</file>