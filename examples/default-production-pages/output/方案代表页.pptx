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91a0b159f40e1" /><Relationship Type="http://schemas.openxmlformats.org/officeDocument/2006/relationships/extended-properties" Target="/docProps/app.xml" Id="R1ea99c1914a04c25" /><Relationship Type="http://schemas.openxmlformats.org/officeDocument/2006/relationships/officeDocument" Target="/ppt/presentation.xml" Id="R8508ca941573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89f02d28c4506"/>
  </p:sldMasterIdLst>
  <p:notesMasterIdLst>
    <p:notesMasterId xmlns:r="http://schemas.openxmlformats.org/officeDocument/2006/relationships" r:id="Ra19c32254c1f4585"/>
  </p:notesMasterIdLst>
  <p:sldIdLst>
    <p:sldId xmlns:r="http://schemas.openxmlformats.org/officeDocument/2006/relationships" id="256" r:id="Rd327d3162ac44c6d"/>
    <p:sldId xmlns:r="http://schemas.openxmlformats.org/officeDocument/2006/relationships" id="257" r:id="R6241b2f0c6dd4472"/>
    <p:sldId xmlns:r="http://schemas.openxmlformats.org/officeDocument/2006/relationships" id="258" r:id="Rb2b3fe601d2544b5"/>
    <p:sldId xmlns:r="http://schemas.openxmlformats.org/officeDocument/2006/relationships" id="259" r:id="R06a90264e78047b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11669f7044512" /><Relationship Type="http://schemas.openxmlformats.org/officeDocument/2006/relationships/slideMaster" Target="/ppt/slideMasters/slideMaster1.xml" Id="R44989f02d28c4506" /><Relationship Type="http://schemas.openxmlformats.org/officeDocument/2006/relationships/notesMaster" Target="/ppt/notesMasters/notesMaster1.xml" Id="Ra19c32254c1f4585" /><Relationship Type="http://schemas.openxmlformats.org/officeDocument/2006/relationships/presProps" Target="/ppt/presProps.xml" Id="R86950ff8722d441e" /><Relationship Type="http://schemas.openxmlformats.org/officeDocument/2006/relationships/tableStyles" Target="/ppt/tableStyles.xml" Id="Rca6414ae137f4bbe" /><Relationship Type="http://schemas.openxmlformats.org/officeDocument/2006/relationships/slide" Target="/ppt/slides/slide1.xml" Id="Rd327d3162ac44c6d" /><Relationship Type="http://schemas.openxmlformats.org/officeDocument/2006/relationships/slide" Target="/ppt/slides/slide2.xml" Id="R6241b2f0c6dd4472" /><Relationship Type="http://schemas.openxmlformats.org/officeDocument/2006/relationships/slide" Target="/ppt/slides/slide3.xml" Id="Rb2b3fe601d2544b5" /><Relationship Type="http://schemas.openxmlformats.org/officeDocument/2006/relationships/slide" Target="/ppt/slides/slide4.xml" Id="R06a90264e780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51c46c5994e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1b99910524ff1" /><Relationship Type="http://schemas.openxmlformats.org/officeDocument/2006/relationships/notesMaster" Target="/ppt/notesMasters/notesMaster1.xml" Id="Rfd46d8d5524b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9257db3364278" /><Relationship Type="http://schemas.openxmlformats.org/officeDocument/2006/relationships/notesMaster" Target="/ppt/notesMasters/notesMaster1.xml" Id="R3c6cc466c8b8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5303c1dbb84a7e" /><Relationship Type="http://schemas.openxmlformats.org/officeDocument/2006/relationships/notesMaster" Target="/ppt/notesMasters/notesMaster1.xml" Id="R71446823373042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cc853c713a4298" /><Relationship Type="http://schemas.openxmlformats.org/officeDocument/2006/relationships/notesMaster" Target="/ppt/notesMasters/notesMaster1.xml" Id="R0100bab07e0d45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SC-ACCESS经UE-REGION承接区域比较，ITEM-REGION共用底图</a:t>
            </a:r>
          </a:p>
          <a:p xmlns:a="http://schemas.openxmlformats.org/drawingml/2006/main">
            <a:r>
              <a:t>引用现有购买任务讲稿，围绕当前页面的工作安排、公共生活或具体住房展开，不增加项目事实</a:t>
            </a:r>
          </a:p>
          <a:p xmlns:a="http://schemas.openxmlformats.org/drawingml/2006/main">
            <a:r>
              <a:t>进入下一个需要比较的生活或住房条件</a:t>
            </a:r>
          </a:p>
          <a:p xmlns:a="http://schemas.openxmlformats.org/drawingml/2006/main">
            <a:r>
              <a:t>视觉参照：tools/product3_ppt_pipeline/compose_project_pages.mjs</a:t>
            </a:r>
          </a:p>
          <a:p xmlns:a="http://schemas.openxmlformats.org/drawingml/2006/main">
            <a:r>
              <a:t>素材：DEMO-MAP-BASE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按当前页面主题说明购买意义与实际观察对象；制作引用与讲稿由本轮已有方案接续</a:t>
            </a:r>
          </a:p>
          <a:p xmlns:a="http://schemas.openxmlformats.org/drawingml/2006/main">
            <a:r>
              <a:t>引用现有购买任务讲稿，围绕当前页面的工作安排、公共生活或具体住房展开，不增加项目事实</a:t>
            </a:r>
          </a:p>
          <a:p xmlns:a="http://schemas.openxmlformats.org/drawingml/2006/main">
            <a:r>
              <a:t>进入下一个需要比较的生活或住房条件</a:t>
            </a:r>
          </a:p>
          <a:p xmlns:a="http://schemas.openxmlformats.org/drawingml/2006/main">
            <a:r>
              <a:t>视觉参照：tools/product3_ppt_pipeline/compose_project_pages.mjs</a:t>
            </a:r>
          </a:p>
          <a:p xmlns:a="http://schemas.openxmlformats.org/drawingml/2006/main">
            <a:r>
              <a:t>素材：CASE-225</a:t>
            </a:r>
          </a:p>
          <a:p xmlns:a="http://schemas.openxmlformats.org/drawingml/2006/main">
            <a:r>
              <a:t>素材：CASE-229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按当前页面主题说明购买意义与实际观察对象；制作引用与讲稿由本轮已有方案接续</a:t>
            </a:r>
          </a:p>
          <a:p xmlns:a="http://schemas.openxmlformats.org/drawingml/2006/main">
            <a:r>
              <a:t>引用现有购买任务讲稿，围绕当前页面的工作安排、公共生活或具体住房展开，不增加项目事实</a:t>
            </a:r>
          </a:p>
          <a:p xmlns:a="http://schemas.openxmlformats.org/drawingml/2006/main">
            <a:r>
              <a:t>进入下一个需要比较的生活或住房条件</a:t>
            </a:r>
          </a:p>
          <a:p xmlns:a="http://schemas.openxmlformats.org/drawingml/2006/main">
            <a:r>
              <a:t>视觉参照：tools/product3_ppt_pipeline/compose_project_pages.mjs</a:t>
            </a:r>
          </a:p>
          <a:p xmlns:a="http://schemas.openxmlformats.org/drawingml/2006/main">
            <a:r>
              <a:t>素材：CASE-107</a:t>
            </a:r>
          </a:p>
          <a:p xmlns:a="http://schemas.openxmlformats.org/drawingml/2006/main">
            <a:r>
              <a:t>素材：CASE-192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按当前页面主题说明购买意义与实际观察对象；制作引用与讲稿由本轮已有方案接续</a:t>
            </a:r>
          </a:p>
          <a:p xmlns:a="http://schemas.openxmlformats.org/drawingml/2006/main">
            <a:r>
              <a:t>引用现有购买任务讲稿，围绕当前页面的工作安排、公共生活或具体住房展开，不增加项目事实</a:t>
            </a:r>
          </a:p>
          <a:p xmlns:a="http://schemas.openxmlformats.org/drawingml/2006/main">
            <a:r>
              <a:t>进入下一个需要比较的生活或住房条件</a:t>
            </a:r>
          </a:p>
          <a:p xmlns:a="http://schemas.openxmlformats.org/drawingml/2006/main">
            <a:r>
              <a:t>视觉参照：tools/product3_ppt_pipeline/compose_project_pages.mjs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023328875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b21d4e17f44a8a" /><Relationship Type="http://schemas.openxmlformats.org/officeDocument/2006/relationships/slideLayout" Target="/ppt/slideLayouts/slideLayout1.xml" Id="R718e91bccf25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8e91bccf25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1a97c9ca84e79" /><Relationship Type="http://schemas.openxmlformats.org/officeDocument/2006/relationships/image" Target="/ppt/media/image.png" Id="Rb126b09fe9d34f16" /><Relationship Type="http://schemas.openxmlformats.org/officeDocument/2006/relationships/notesSlide" Target="/ppt/notesSlides/notesSlide1.xml" Id="R847893a84085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965f3dfce4b26" /><Relationship Type="http://schemas.openxmlformats.org/officeDocument/2006/relationships/image" Target="/ppt/media/image.jpeg" Id="R9a1c0d0515214eac" /><Relationship Type="http://schemas.openxmlformats.org/officeDocument/2006/relationships/image" Target="/ppt/media/image2.jpeg" Id="R598fd803d513466b" /><Relationship Type="http://schemas.openxmlformats.org/officeDocument/2006/relationships/notesSlide" Target="/ppt/notesSlides/notesSlide2.xml" Id="Rf5e28d64248f4e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8ccf4df7f477f" /><Relationship Type="http://schemas.openxmlformats.org/officeDocument/2006/relationships/image" Target="/ppt/media/image3.jpeg" Id="Ra3815f0a617348be" /><Relationship Type="http://schemas.openxmlformats.org/officeDocument/2006/relationships/image" Target="/ppt/media/image4.jpeg" Id="Rf663bc9b997d46b7" /><Relationship Type="http://schemas.openxmlformats.org/officeDocument/2006/relationships/notesSlide" Target="/ppt/notesSlides/notesSlide3.xml" Id="R528581b34a91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7f99e568b41d6" /><Relationship Type="http://schemas.openxmlformats.org/officeDocument/2006/relationships/notesSlide" Target="/ppt/notesSlides/notesSlide4.xml" Id="Rb0567ffbf79a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6b09fe9d34f16"/>
          <a:srcRect xmlns:a="http://schemas.openxmlformats.org/drawingml/2006/main" l="0" t="4659" r="0" b="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DEMO-MAP-development-range">
            <a:extLst xmlns:a="http://schemas.openxmlformats.org/drawingml/2006/main">
              <a:ext uri="{FF2B5EF4-FFF2-40B4-BE49-F238E27FC236}">
                <a16:creationId xmlns:a16="http://schemas.microsoft.com/office/drawing/2014/main" id="{4B0C82D6-408C-487D-A918-0068D1F7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533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4C">
              <a:alpha val="24000"/>
            </a:srgbClr>
          </a:solidFill>
          <a:ln xmlns:a="http://schemas.openxmlformats.org/drawingml/2006/main" w="19050">
            <a:solidFill>
              <a:srgbClr val="B8844C"/>
            </a:solidFill>
          </a:ln>
        </p:spPr>
      </p:sp>
      <p:sp>
        <p:nvSpPr>
          <p:cNvPr id="3" name="DEMO-MAP-map-leader-x-a">
            <a:extLst xmlns:a="http://schemas.openxmlformats.org/drawingml/2006/main">
              <a:ext uri="{FF2B5EF4-FFF2-40B4-BE49-F238E27FC236}">
                <a16:creationId xmlns:a16="http://schemas.microsoft.com/office/drawing/2014/main" id="{588E1FEF-167B-437D-91CB-03D59A20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1428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4" name="DEMO-MAP-map-leader-y-a">
            <a:extLst xmlns:a="http://schemas.openxmlformats.org/drawingml/2006/main">
              <a:ext uri="{FF2B5EF4-FFF2-40B4-BE49-F238E27FC236}">
                <a16:creationId xmlns:a16="http://schemas.microsoft.com/office/drawing/2014/main" id="{90915207-E548-415F-83B6-C652050F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14288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5" name="DEMO-MAP-map-label-bg-a">
            <a:extLst xmlns:a="http://schemas.openxmlformats.org/drawingml/2006/main">
              <a:ext uri="{FF2B5EF4-FFF2-40B4-BE49-F238E27FC236}">
                <a16:creationId xmlns:a16="http://schemas.microsoft.com/office/drawing/2014/main" id="{619B099A-834E-416B-90C3-5874CF0C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18097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B8844C"/>
          </a:solidFill>
          <a:ln xmlns:a="http://schemas.openxmlformats.org/drawingml/2006/main" w="9525">
            <a:solidFill>
              <a:srgbClr val="B8844C"/>
            </a:solidFill>
          </a:ln>
        </p:spPr>
      </p:sp>
      <p:sp>
        <p:nvSpPr>
          <p:cNvPr id="6" name="DEMO-MAP-map-label-a">
            <a:extLst xmlns:a="http://schemas.openxmlformats.org/drawingml/2006/main">
              <a:ext uri="{FF2B5EF4-FFF2-40B4-BE49-F238E27FC236}">
                <a16:creationId xmlns:a16="http://schemas.microsoft.com/office/drawing/2014/main" id="{3259DBDE-C1B5-4458-B85E-3579192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29175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F6F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6F3EB"/>
                </a:solidFill>
                <a:latin typeface="PingFang SC"/>
                <a:ea typeface="PingFang SC"/>
                <a:cs typeface="PingFang SC"/>
              </a:rPr>
              <a:t>青岚澄境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F6F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6F3EB"/>
                </a:solidFill>
                <a:latin typeface="PingFang SC"/>
                <a:ea typeface="PingFang SC"/>
                <a:cs typeface="PingFang SC"/>
              </a:rPr>
              <a:t>虚构位置</a:t>
            </a:r>
          </a:p>
        </p:txBody>
      </p:sp>
      <p:sp>
        <p:nvSpPr>
          <p:cNvPr id="7" name="DEMO-MAP-point-b">
            <a:extLst xmlns:a="http://schemas.openxmlformats.org/drawingml/2006/main">
              <a:ext uri="{FF2B5EF4-FFF2-40B4-BE49-F238E27FC236}">
                <a16:creationId xmlns:a16="http://schemas.microsoft.com/office/drawing/2014/main" id="{D4105A6D-7546-4BC3-8432-5883985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9525">
            <a:solidFill>
              <a:srgbClr val="F6F3EB"/>
            </a:solidFill>
          </a:ln>
        </p:spPr>
      </p:sp>
      <p:sp>
        <p:nvSpPr>
          <p:cNvPr id="8" name="DEMO-MAP-map-leader-x-b">
            <a:extLst xmlns:a="http://schemas.openxmlformats.org/drawingml/2006/main">
              <a:ext uri="{FF2B5EF4-FFF2-40B4-BE49-F238E27FC236}">
                <a16:creationId xmlns:a16="http://schemas.microsoft.com/office/drawing/2014/main" id="{D39365F4-94DE-4751-8885-0DE8E094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90875"/>
            <a:ext cx="1428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0">
            <a:noFill/>
          </a:ln>
        </p:spPr>
      </p:sp>
      <p:sp>
        <p:nvSpPr>
          <p:cNvPr id="9" name="DEMO-MAP-map-leader-y-b">
            <a:extLst xmlns:a="http://schemas.openxmlformats.org/drawingml/2006/main">
              <a:ext uri="{FF2B5EF4-FFF2-40B4-BE49-F238E27FC236}">
                <a16:creationId xmlns:a16="http://schemas.microsoft.com/office/drawing/2014/main" id="{FE3FA4D2-0E6F-421F-8F41-0CE6F4E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142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0">
            <a:noFill/>
          </a:ln>
        </p:spPr>
      </p:sp>
      <p:sp>
        <p:nvSpPr>
          <p:cNvPr id="10" name="DEMO-MAP-map-label-bg-b">
            <a:extLst xmlns:a="http://schemas.openxmlformats.org/drawingml/2006/main">
              <a:ext uri="{FF2B5EF4-FFF2-40B4-BE49-F238E27FC236}">
                <a16:creationId xmlns:a16="http://schemas.microsoft.com/office/drawing/2014/main" id="{6C6CE998-89EA-4A88-A8DD-47562AED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38425"/>
            <a:ext cx="18478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9525">
            <a:solidFill>
              <a:srgbClr val="B8844C"/>
            </a:solidFill>
          </a:ln>
        </p:spPr>
      </p:sp>
      <p:sp>
        <p:nvSpPr>
          <p:cNvPr id="11" name="DEMO-MAP-map-label-b">
            <a:extLst xmlns:a="http://schemas.openxmlformats.org/drawingml/2006/main">
              <a:ext uri="{FF2B5EF4-FFF2-40B4-BE49-F238E27FC236}">
                <a16:creationId xmlns:a16="http://schemas.microsoft.com/office/drawing/2014/main" id="{BCCD62F5-7286-47E2-8CF0-2C1C447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05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北湾府（虚构）</a:t>
            </a:r>
          </a:p>
        </p:txBody>
      </p:sp>
      <p:sp>
        <p:nvSpPr>
          <p:cNvPr id="12" name="DEMO-MAP-point-c">
            <a:extLst xmlns:a="http://schemas.openxmlformats.org/drawingml/2006/main">
              <a:ext uri="{FF2B5EF4-FFF2-40B4-BE49-F238E27FC236}">
                <a16:creationId xmlns:a16="http://schemas.microsoft.com/office/drawing/2014/main" id="{0218BBB6-4E5A-40E4-B7E5-357DCCBB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02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9525">
            <a:solidFill>
              <a:srgbClr val="F6F3EB"/>
            </a:solidFill>
          </a:ln>
        </p:spPr>
      </p:sp>
      <p:sp>
        <p:nvSpPr>
          <p:cNvPr id="13" name="DEMO-MAP-map-leader-x-c">
            <a:extLst xmlns:a="http://schemas.openxmlformats.org/drawingml/2006/main">
              <a:ext uri="{FF2B5EF4-FFF2-40B4-BE49-F238E27FC236}">
                <a16:creationId xmlns:a16="http://schemas.microsoft.com/office/drawing/2014/main" id="{79956128-FB59-4432-8708-569289F8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76950"/>
            <a:ext cx="1428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0">
            <a:noFill/>
          </a:ln>
        </p:spPr>
      </p:sp>
      <p:sp>
        <p:nvSpPr>
          <p:cNvPr id="14" name="DEMO-MAP-map-leader-y-c">
            <a:extLst xmlns:a="http://schemas.openxmlformats.org/drawingml/2006/main">
              <a:ext uri="{FF2B5EF4-FFF2-40B4-BE49-F238E27FC236}">
                <a16:creationId xmlns:a16="http://schemas.microsoft.com/office/drawing/2014/main" id="{4D9C50EB-175F-4BF2-851A-96CD37B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76950"/>
            <a:ext cx="1428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34"/>
          </a:solidFill>
          <a:ln xmlns:a="http://schemas.openxmlformats.org/drawingml/2006/main" w="0">
            <a:noFill/>
          </a:ln>
        </p:spPr>
      </p:sp>
      <p:sp>
        <p:nvSpPr>
          <p:cNvPr id="15" name="DEMO-MAP-map-label-bg-c">
            <a:extLst xmlns:a="http://schemas.openxmlformats.org/drawingml/2006/main">
              <a:ext uri="{FF2B5EF4-FFF2-40B4-BE49-F238E27FC236}">
                <a16:creationId xmlns:a16="http://schemas.microsoft.com/office/drawing/2014/main" id="{86E189CD-4880-44E5-9339-0EF03D2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10325"/>
            <a:ext cx="18478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9525">
            <a:solidFill>
              <a:srgbClr val="B8844C"/>
            </a:solidFill>
          </a:ln>
        </p:spPr>
      </p:sp>
      <p:sp>
        <p:nvSpPr>
          <p:cNvPr id="16" name="DEMO-MAP-map-label-c">
            <a:extLst xmlns:a="http://schemas.openxmlformats.org/drawingml/2006/main">
              <a:ext uri="{FF2B5EF4-FFF2-40B4-BE49-F238E27FC236}">
                <a16:creationId xmlns:a16="http://schemas.microsoft.com/office/drawing/2014/main" id="{72E770B1-D94A-41F1-8389-089D9360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4770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栖霞里（虚构）</a:t>
            </a:r>
          </a:p>
        </p:txBody>
      </p:sp>
      <p:sp>
        <p:nvSpPr>
          <p:cNvPr id="17" name="DEMO-MAP-map-header-shade">
            <a:extLst xmlns:a="http://schemas.openxmlformats.org/drawingml/2006/main">
              <a:ext uri="{FF2B5EF4-FFF2-40B4-BE49-F238E27FC236}">
                <a16:creationId xmlns:a16="http://schemas.microsoft.com/office/drawing/2014/main" id="{25847F78-D9A5-4D98-AFF5-39E43E95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2000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3EB">
                  <a:alpha val="99000"/>
                </a:srgbClr>
              </a:gs>
              <a:gs pos="83000">
                <a:srgbClr val="F6F3EB">
                  <a:alpha val="98000"/>
                </a:srgbClr>
              </a:gs>
              <a:gs pos="100000">
                <a:srgbClr val="F6F3EB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8" name="DEMO-MAP-chapter-rule">
            <a:extLst xmlns:a="http://schemas.openxmlformats.org/drawingml/2006/main">
              <a:ext uri="{FF2B5EF4-FFF2-40B4-BE49-F238E27FC236}">
                <a16:creationId xmlns:a16="http://schemas.microsoft.com/office/drawing/2014/main" id="{2BCA18F3-AF62-450B-8A59-6529E6A3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19" name="DEMO-MAP-chapter">
            <a:extLst xmlns:a="http://schemas.openxmlformats.org/drawingml/2006/main">
              <a:ext uri="{FF2B5EF4-FFF2-40B4-BE49-F238E27FC236}">
                <a16:creationId xmlns:a16="http://schemas.microsoft.com/office/drawing/2014/main" id="{FBAA26E2-E1F0-4183-8A81-838B40F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52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公开虚构样例 · 产物3页面摘样</a:t>
            </a:r>
          </a:p>
        </p:txBody>
      </p:sp>
      <p:sp>
        <p:nvSpPr>
          <p:cNvPr id="20" name="DEMO-MAP-title">
            <a:extLst xmlns:a="http://schemas.openxmlformats.org/drawingml/2006/main">
              <a:ext uri="{FF2B5EF4-FFF2-40B4-BE49-F238E27FC236}">
                <a16:creationId xmlns:a16="http://schemas.microsoft.com/office/drawing/2014/main" id="{93A3C619-00CB-49D9-B3F0-4483E60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1419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92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两处工作地点都要兼顾，区位选择才能适合双职工家庭</a:t>
            </a:r>
          </a:p>
        </p:txBody>
      </p:sp>
      <p:sp>
        <p:nvSpPr>
          <p:cNvPr id="21" name="DEMO-MAP-subtitle">
            <a:extLst xmlns:a="http://schemas.openxmlformats.org/drawingml/2006/main">
              <a:ext uri="{FF2B5EF4-FFF2-40B4-BE49-F238E27FC236}">
                <a16:creationId xmlns:a16="http://schemas.microsoft.com/office/drawing/2014/main" id="{B258B967-D74F-48F2-A578-54548486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95400"/>
            <a:ext cx="1419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青岚澄境虚构样例将双向就业与低密居住放在同一次比较中。成熟轨道与低密空间各有吸引力，家庭仍需取舍。</a:t>
            </a:r>
          </a:p>
        </p:txBody>
      </p:sp>
      <p:sp>
        <p:nvSpPr>
          <p:cNvPr id="22" name="DEMO-MAP-map-card-home">
            <a:extLst xmlns:a="http://schemas.openxmlformats.org/drawingml/2006/main">
              <a:ext uri="{FF2B5EF4-FFF2-40B4-BE49-F238E27FC236}">
                <a16:creationId xmlns:a16="http://schemas.microsoft.com/office/drawing/2014/main" id="{EE711AF2-EF61-4576-970D-9BE96A06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9325"/>
            <a:ext cx="3067050" cy="209169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153E35">
              <a:alpha val="95000"/>
            </a:srgbClr>
          </a:solidFill>
          <a:ln xmlns:a="http://schemas.openxmlformats.org/drawingml/2006/main" w="9525">
            <a:solidFill>
              <a:srgbClr val="A6B4A5">
                <a:alpha val="40000"/>
              </a:srgbClr>
            </a:solidFill>
          </a:ln>
        </p:spPr>
      </p:sp>
      <p:sp>
        <p:nvSpPr>
          <p:cNvPr id="23" name="DEMO-MAP-map-card-title-home">
            <a:extLst xmlns:a="http://schemas.openxmlformats.org/drawingml/2006/main">
              <a:ext uri="{FF2B5EF4-FFF2-40B4-BE49-F238E27FC236}">
                <a16:creationId xmlns:a16="http://schemas.microsoft.com/office/drawing/2014/main" id="{AA8F3893-B0D7-45F1-A955-A1892C4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27241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00" b="1">
                <a:solidFill>
                  <a:srgbClr val="F6F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6F3EB"/>
                </a:solidFill>
                <a:latin typeface="PingFang SC"/>
                <a:ea typeface="PingFang SC"/>
                <a:cs typeface="PingFang SC"/>
              </a:rPr>
              <a:t>青岚澄境</a:t>
            </a:r>
          </a:p>
        </p:txBody>
      </p:sp>
      <p:sp>
        <p:nvSpPr>
          <p:cNvPr id="24" name="DEMO-MAP-map-card-body-home-0">
            <a:extLst xmlns:a="http://schemas.openxmlformats.org/drawingml/2006/main">
              <a:ext uri="{FF2B5EF4-FFF2-40B4-BE49-F238E27FC236}">
                <a16:creationId xmlns:a16="http://schemas.microsoft.com/office/drawing/2014/main" id="{199B858E-1A2E-4E67-B150-BDB7D74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796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DFBB8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FBB87"/>
                </a:solidFill>
                <a:latin typeface="PingFang SC"/>
                <a:ea typeface="PingFang SC"/>
                <a:cs typeface="PingFang SC"/>
              </a:rPr>
              <a:t>双向就业关系与低密住区共同进入选择。</a:t>
            </a:r>
          </a:p>
        </p:txBody>
      </p:sp>
      <p:sp>
        <p:nvSpPr>
          <p:cNvPr id="25" name="DEMO-MAP-map-card-body-home-1">
            <a:extLst xmlns:a="http://schemas.openxmlformats.org/drawingml/2006/main">
              <a:ext uri="{FF2B5EF4-FFF2-40B4-BE49-F238E27FC236}">
                <a16:creationId xmlns:a16="http://schemas.microsoft.com/office/drawing/2014/main" id="{139E8766-77BC-4653-A046-B8D0683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091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F6F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6F3EB"/>
                </a:solidFill>
                <a:latin typeface="PingFang SC"/>
                <a:ea typeface="PingFang SC"/>
                <a:cs typeface="PingFang SC"/>
              </a:rPr>
              <a:t>两处工作安排都能接受，低密改善才有实际意义。</a:t>
            </a:r>
          </a:p>
        </p:txBody>
      </p:sp>
      <p:sp>
        <p:nvSpPr>
          <p:cNvPr id="26" name="DEMO-MAP-map-card-b">
            <a:extLst xmlns:a="http://schemas.openxmlformats.org/drawingml/2006/main">
              <a:ext uri="{FF2B5EF4-FFF2-40B4-BE49-F238E27FC236}">
                <a16:creationId xmlns:a16="http://schemas.microsoft.com/office/drawing/2014/main" id="{FB9FAA4E-C0E5-4C1B-B509-769F403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44365"/>
            <a:ext cx="3067050" cy="1767840"/>
          </a:xfrm>
          <a:prstGeom xmlns:a="http://schemas.openxmlformats.org/drawingml/2006/main" prst="roundRect">
            <a:avLst>
              <a:gd name="adj" fmla="val 4849"/>
            </a:avLst>
          </a:prstGeom>
          <a:solidFill xmlns:a="http://schemas.openxmlformats.org/drawingml/2006/main">
            <a:srgbClr val="FBFAF4">
              <a:alpha val="95000"/>
            </a:srgbClr>
          </a:solidFill>
          <a:ln xmlns:a="http://schemas.openxmlformats.org/drawingml/2006/main" w="9525">
            <a:solidFill>
              <a:srgbClr val="A6B4A5">
                <a:alpha val="40000"/>
              </a:srgbClr>
            </a:solidFill>
          </a:ln>
        </p:spPr>
      </p:sp>
      <p:sp>
        <p:nvSpPr>
          <p:cNvPr id="27" name="DEMO-MAP-map-card-title-b">
            <a:extLst xmlns:a="http://schemas.openxmlformats.org/drawingml/2006/main">
              <a:ext uri="{FF2B5EF4-FFF2-40B4-BE49-F238E27FC236}">
                <a16:creationId xmlns:a16="http://schemas.microsoft.com/office/drawing/2014/main" id="{DFACB3B0-1E6F-42A9-88E7-F498C303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6765"/>
            <a:ext cx="27241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北湾府</a:t>
            </a:r>
          </a:p>
        </p:txBody>
      </p:sp>
      <p:sp>
        <p:nvSpPr>
          <p:cNvPr id="28" name="DEMO-MAP-map-card-body-b-0">
            <a:extLst xmlns:a="http://schemas.openxmlformats.org/drawingml/2006/main">
              <a:ext uri="{FF2B5EF4-FFF2-40B4-BE49-F238E27FC236}">
                <a16:creationId xmlns:a16="http://schemas.microsoft.com/office/drawing/2014/main" id="{036A9F0D-2600-4199-B016-BF73157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3005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成熟轨道是既有优势。</a:t>
            </a:r>
          </a:p>
        </p:txBody>
      </p:sp>
      <p:sp>
        <p:nvSpPr>
          <p:cNvPr id="29" name="DEMO-MAP-map-card-body-b-1">
            <a:extLst xmlns:a="http://schemas.openxmlformats.org/drawingml/2006/main">
              <a:ext uri="{FF2B5EF4-FFF2-40B4-BE49-F238E27FC236}">
                <a16:creationId xmlns:a16="http://schemas.microsoft.com/office/drawing/2014/main" id="{CA293028-3E38-442A-B0FF-B84606AC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210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更看重轨道确定性的家庭，会优先比较这里。</a:t>
            </a:r>
          </a:p>
        </p:txBody>
      </p:sp>
      <p:sp>
        <p:nvSpPr>
          <p:cNvPr id="30" name="DEMO-MAP-map-card-c">
            <a:extLst xmlns:a="http://schemas.openxmlformats.org/drawingml/2006/main">
              <a:ext uri="{FF2B5EF4-FFF2-40B4-BE49-F238E27FC236}">
                <a16:creationId xmlns:a16="http://schemas.microsoft.com/office/drawing/2014/main" id="{16BDC515-1869-4B80-BFB0-859732B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219325"/>
            <a:ext cx="3067050" cy="1767840"/>
          </a:xfrm>
          <a:prstGeom xmlns:a="http://schemas.openxmlformats.org/drawingml/2006/main" prst="roundRect">
            <a:avLst>
              <a:gd name="adj" fmla="val 4849"/>
            </a:avLst>
          </a:prstGeom>
          <a:solidFill xmlns:a="http://schemas.openxmlformats.org/drawingml/2006/main">
            <a:srgbClr val="FBFAF4">
              <a:alpha val="95000"/>
            </a:srgbClr>
          </a:solidFill>
          <a:ln xmlns:a="http://schemas.openxmlformats.org/drawingml/2006/main" w="9525">
            <a:solidFill>
              <a:srgbClr val="A6B4A5">
                <a:alpha val="40000"/>
              </a:srgbClr>
            </a:solidFill>
          </a:ln>
        </p:spPr>
      </p:sp>
      <p:sp>
        <p:nvSpPr>
          <p:cNvPr id="31" name="DEMO-MAP-map-card-title-c">
            <a:extLst xmlns:a="http://schemas.openxmlformats.org/drawingml/2006/main">
              <a:ext uri="{FF2B5EF4-FFF2-40B4-BE49-F238E27FC236}">
                <a16:creationId xmlns:a16="http://schemas.microsoft.com/office/drawing/2014/main" id="{A94B42E4-E5EA-42EB-9867-9A040E3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371725"/>
            <a:ext cx="27241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栖霞里</a:t>
            </a:r>
          </a:p>
        </p:txBody>
      </p:sp>
      <p:sp>
        <p:nvSpPr>
          <p:cNvPr id="32" name="DEMO-MAP-map-card-body-c-0">
            <a:extLst xmlns:a="http://schemas.openxmlformats.org/drawingml/2006/main">
              <a:ext uri="{FF2B5EF4-FFF2-40B4-BE49-F238E27FC236}">
                <a16:creationId xmlns:a16="http://schemas.microsoft.com/office/drawing/2014/main" id="{4A85B398-9783-4EAD-A2F7-62995D0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67965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低密住区与已开放会所形成吸引。</a:t>
            </a:r>
          </a:p>
        </p:txBody>
      </p:sp>
      <p:sp>
        <p:nvSpPr>
          <p:cNvPr id="33" name="DEMO-MAP-map-card-body-c-1">
            <a:extLst xmlns:a="http://schemas.openxmlformats.org/drawingml/2006/main">
              <a:ext uri="{FF2B5EF4-FFF2-40B4-BE49-F238E27FC236}">
                <a16:creationId xmlns:a16="http://schemas.microsoft.com/office/drawing/2014/main" id="{7F3BB052-FD2E-4D42-8C88-D33C28A3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18706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偏爱眼前可感知社区生活的家庭，有另一种选择。</a:t>
            </a:r>
          </a:p>
        </p:txBody>
      </p:sp>
      <p:sp>
        <p:nvSpPr>
          <p:cNvPr id="34" name="DEMO-MAP-map-meta-bg">
            <a:extLst xmlns:a="http://schemas.openxmlformats.org/drawingml/2006/main">
              <a:ext uri="{FF2B5EF4-FFF2-40B4-BE49-F238E27FC236}">
                <a16:creationId xmlns:a16="http://schemas.microsoft.com/office/drawing/2014/main" id="{D0A5C46B-965A-4741-8EC0-59D4E840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486650"/>
            <a:ext cx="795337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9F0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DEMO-MAP-map-meta">
            <a:extLst xmlns:a="http://schemas.openxmlformats.org/drawingml/2006/main">
              <a:ext uri="{FF2B5EF4-FFF2-40B4-BE49-F238E27FC236}">
                <a16:creationId xmlns:a16="http://schemas.microsoft.com/office/drawing/2014/main" id="{9393AFEC-EA1C-4D7B-8AA7-73CC257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7572375"/>
            <a:ext cx="7686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>
                <a:solidFill>
                  <a:srgbClr val="4A625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6253"/>
                </a:solidFill>
                <a:latin typeface="PingFang SC"/>
                <a:ea typeface="PingFang SC"/>
                <a:cs typeface="PingFang SC"/>
              </a:rPr>
              <a:t>昆明真实底图仅作排版示范；虚构项目点位不代表实际位置、距离或通行条件。</a:t>
            </a:r>
          </a:p>
        </p:txBody>
      </p:sp>
      <p:sp>
        <p:nvSpPr>
          <p:cNvPr id="36" name="DEMO-MAP-map-footer-bg">
            <a:extLst xmlns:a="http://schemas.openxmlformats.org/drawingml/2006/main">
              <a:ext uri="{FF2B5EF4-FFF2-40B4-BE49-F238E27FC236}">
                <a16:creationId xmlns:a16="http://schemas.microsoft.com/office/drawing/2014/main" id="{B4C72D5D-19BD-44AC-8EEF-F2E6CE1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915275"/>
            <a:ext cx="1466850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6F3EB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7" name="DEMO-MAP-footer">
            <a:extLst xmlns:a="http://schemas.openxmlformats.org/drawingml/2006/main">
              <a:ext uri="{FF2B5EF4-FFF2-40B4-BE49-F238E27FC236}">
                <a16:creationId xmlns:a16="http://schemas.microsoft.com/office/drawing/2014/main" id="{EFDB036A-7730-4899-B1F5-2B6028A6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001000"/>
            <a:ext cx="1271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是否适合家庭的两处工作安排，比单看某一个通勤方向更重要。</a:t>
            </a:r>
          </a:p>
        </p:txBody>
      </p:sp>
      <p:sp>
        <p:nvSpPr>
          <p:cNvPr id="38" name="DEMO-MAP-page_number">
            <a:extLst xmlns:a="http://schemas.openxmlformats.org/drawingml/2006/main">
              <a:ext uri="{FF2B5EF4-FFF2-40B4-BE49-F238E27FC236}">
                <a16:creationId xmlns:a16="http://schemas.microsoft.com/office/drawing/2014/main" id="{B4A6ED12-2F49-4B0C-B7E9-CF2D75EB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9533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rPr>
              <a:t>01 / 4</a:t>
            </a:r>
          </a:p>
        </p:txBody>
      </p:sp>
      <p:sp>
        <p:nvSpPr>
          <p:cNvPr id="39" name="DEMO-MAP-map-attribution-bg">
            <a:extLst xmlns:a="http://schemas.openxmlformats.org/drawingml/2006/main">
              <a:ext uri="{FF2B5EF4-FFF2-40B4-BE49-F238E27FC236}">
                <a16:creationId xmlns:a16="http://schemas.microsoft.com/office/drawing/2014/main" id="{F4302AE1-4152-4B23-95B3-4B010E3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343900"/>
            <a:ext cx="2190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40" name="DEMO-MAP-map-attribution">
            <a:extLst xmlns:a="http://schemas.openxmlformats.org/drawingml/2006/main">
              <a:ext uri="{FF2B5EF4-FFF2-40B4-BE49-F238E27FC236}">
                <a16:creationId xmlns:a16="http://schemas.microsoft.com/office/drawing/2014/main" id="{70A74C6B-3A05-47BF-ACD8-4523F7B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83724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8625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8625A"/>
                </a:solidFill>
                <a:latin typeface="PingFang SC"/>
                <a:ea typeface="PingFang SC"/>
                <a:cs typeface="PingFang SC"/>
              </a:rPr>
              <a:t>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1084884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EMO-GARDEN-chapter-rule">
            <a:extLst xmlns:a="http://schemas.openxmlformats.org/drawingml/2006/main">
              <a:ext uri="{FF2B5EF4-FFF2-40B4-BE49-F238E27FC236}">
                <a16:creationId xmlns:a16="http://schemas.microsoft.com/office/drawing/2014/main" id="{5D39E654-6C26-4C26-95A7-D5E7FC7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2" name="DEMO-GARDEN-chapter">
            <a:extLst xmlns:a="http://schemas.openxmlformats.org/drawingml/2006/main">
              <a:ext uri="{FF2B5EF4-FFF2-40B4-BE49-F238E27FC236}">
                <a16:creationId xmlns:a16="http://schemas.microsoft.com/office/drawing/2014/main" id="{EBACCEA5-238A-4A49-88B7-4C92792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公开虚构样例 · 产物3页面摘样</a:t>
            </a:r>
          </a:p>
        </p:txBody>
      </p:sp>
      <p:sp>
        <p:nvSpPr>
          <p:cNvPr id="3" name="DEMO-GARDEN-title">
            <a:extLst xmlns:a="http://schemas.openxmlformats.org/drawingml/2006/main">
              <a:ext uri="{FF2B5EF4-FFF2-40B4-BE49-F238E27FC236}">
                <a16:creationId xmlns:a16="http://schemas.microsoft.com/office/drawing/2014/main" id="{04A9F605-EC93-4B0C-9B49-5E67537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386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园林与架空层连成归家路径，家门外也有共同生活的空间</a:t>
            </a:r>
          </a:p>
        </p:txBody>
      </p:sp>
      <p:sp>
        <p:nvSpPr>
          <p:cNvPr id="4" name="DEMO-GARDEN-subtitle">
            <a:extLst xmlns:a="http://schemas.openxmlformats.org/drawingml/2006/main">
              <a:ext uri="{FF2B5EF4-FFF2-40B4-BE49-F238E27FC236}">
                <a16:creationId xmlns:a16="http://schemas.microsoft.com/office/drawing/2014/main" id="{D7D7AE3D-41E1-4000-B3E5-9DD8A30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青岚澄境虚构资料将园林、架空层与地下会所纳入连续归家路径。家庭日常经过和停留的地方，也成为改善的组成部分。</a:t>
            </a:r>
          </a:p>
        </p:txBody>
      </p:sp>
      <p:sp>
        <p:nvSpPr>
          <p:cNvPr id="5" name="DEMO-GARDEN-figure-image-bg-0">
            <a:extLst xmlns:a="http://schemas.openxmlformats.org/drawingml/2006/main">
              <a:ext uri="{FF2B5EF4-FFF2-40B4-BE49-F238E27FC236}">
                <a16:creationId xmlns:a16="http://schemas.microsoft.com/office/drawing/2014/main" id="{0A0045F1-8DCE-4295-8AC2-6E9837A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67913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24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c0d0515214eac"/>
          <a:stretch xmlns:a="http://schemas.openxmlformats.org/drawingml/2006/main"/>
        </p:blipFill>
        <p:spPr>
          <a:xfrm xmlns:a="http://schemas.openxmlformats.org/drawingml/2006/main">
            <a:off x="1118129" y="2276475"/>
            <a:ext cx="5926667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DEMO-GARDEN-figure-caption-bg-0">
            <a:extLst xmlns:a="http://schemas.openxmlformats.org/drawingml/2006/main">
              <a:ext uri="{FF2B5EF4-FFF2-40B4-BE49-F238E27FC236}">
                <a16:creationId xmlns:a16="http://schemas.microsoft.com/office/drawing/2014/main" id="{BDA77C89-A251-4027-B926-4D58990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6791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2"/>
          </a:solidFill>
          <a:ln xmlns:a="http://schemas.openxmlformats.org/drawingml/2006/main" w="0">
            <a:noFill/>
          </a:ln>
        </p:spPr>
      </p:sp>
      <p:sp>
        <p:nvSpPr>
          <p:cNvPr id="8" name="DEMO-GARDEN-image-title-0">
            <a:extLst xmlns:a="http://schemas.openxmlformats.org/drawingml/2006/main">
              <a:ext uri="{FF2B5EF4-FFF2-40B4-BE49-F238E27FC236}">
                <a16:creationId xmlns:a16="http://schemas.microsoft.com/office/drawing/2014/main" id="{60E3F600-2F38-4A40-9461-6746AE0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641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从归家路进入社区公共生活</a:t>
            </a:r>
          </a:p>
        </p:txBody>
      </p:sp>
      <p:sp>
        <p:nvSpPr>
          <p:cNvPr id="9" name="DEMO-GARDEN-image-caption-0">
            <a:extLst xmlns:a="http://schemas.openxmlformats.org/drawingml/2006/main">
              <a:ext uri="{FF2B5EF4-FFF2-40B4-BE49-F238E27FC236}">
                <a16:creationId xmlns:a16="http://schemas.microsoft.com/office/drawing/2014/main" id="{0264F4FC-2DC2-464A-BBB1-B269A451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64103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rPr>
              <a:t>园林与架空层共同承接归家过程，住宅之外还有家人日常经过和停留的公共空间。</a:t>
            </a:r>
          </a:p>
        </p:txBody>
      </p:sp>
      <p:sp>
        <p:nvSpPr>
          <p:cNvPr id="10" name="DEMO-GARDEN-figure-image-bg-1">
            <a:extLst xmlns:a="http://schemas.openxmlformats.org/drawingml/2006/main">
              <a:ext uri="{FF2B5EF4-FFF2-40B4-BE49-F238E27FC236}">
                <a16:creationId xmlns:a16="http://schemas.microsoft.com/office/drawing/2014/main" id="{84C586D3-720D-41DF-9F1B-706940DA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76475"/>
            <a:ext cx="67913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24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fd803d513466b"/>
          <a:stretch xmlns:a="http://schemas.openxmlformats.org/drawingml/2006/main"/>
        </p:blipFill>
        <p:spPr>
          <a:xfrm xmlns:a="http://schemas.openxmlformats.org/drawingml/2006/main">
            <a:off x="8136441" y="2276475"/>
            <a:ext cx="6044193" cy="3333750"/>
          </a:xfrm>
          <a:prstGeom xmlns:a="http://schemas.openxmlformats.org/drawingml/2006/main" prst="rect">
            <a:avLst/>
          </a:prstGeom>
        </p:spPr>
      </p:pic>
      <p:sp>
        <p:nvSpPr>
          <p:cNvPr id="12" name="DEMO-GARDEN-figure-caption-bg-1">
            <a:extLst xmlns:a="http://schemas.openxmlformats.org/drawingml/2006/main">
              <a:ext uri="{FF2B5EF4-FFF2-40B4-BE49-F238E27FC236}">
                <a16:creationId xmlns:a16="http://schemas.microsoft.com/office/drawing/2014/main" id="{EBE8C91C-FEC0-40EF-A0F4-B821B5F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10225"/>
            <a:ext cx="6791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2"/>
          </a:solidFill>
          <a:ln xmlns:a="http://schemas.openxmlformats.org/drawingml/2006/main" w="0">
            <a:noFill/>
          </a:ln>
        </p:spPr>
      </p:sp>
      <p:sp>
        <p:nvSpPr>
          <p:cNvPr id="13" name="DEMO-GARDEN-image-title-1">
            <a:extLst xmlns:a="http://schemas.openxmlformats.org/drawingml/2006/main">
              <a:ext uri="{FF2B5EF4-FFF2-40B4-BE49-F238E27FC236}">
                <a16:creationId xmlns:a16="http://schemas.microsoft.com/office/drawing/2014/main" id="{95E7F111-D3FF-4D1F-808B-4C95D2A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81675"/>
            <a:ext cx="641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共享空间延伸居住体验</a:t>
            </a:r>
          </a:p>
        </p:txBody>
      </p:sp>
      <p:sp>
        <p:nvSpPr>
          <p:cNvPr id="14" name="DEMO-GARDEN-image-caption-1">
            <a:extLst xmlns:a="http://schemas.openxmlformats.org/drawingml/2006/main">
              <a:ext uri="{FF2B5EF4-FFF2-40B4-BE49-F238E27FC236}">
                <a16:creationId xmlns:a16="http://schemas.microsoft.com/office/drawing/2014/main" id="{CBE85538-08DF-4E17-9877-0FE61FB4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200775"/>
            <a:ext cx="64103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rPr>
              <a:t>家庭既有自己住宅内的生活，也能在社区的公共空间相处。具体使用内容仍以项目方案为准。</a:t>
            </a:r>
          </a:p>
        </p:txBody>
      </p:sp>
      <p:sp>
        <p:nvSpPr>
          <p:cNvPr id="15" name="DEMO-GARDEN-step-rule-0">
            <a:extLst xmlns:a="http://schemas.openxmlformats.org/drawingml/2006/main">
              <a:ext uri="{FF2B5EF4-FFF2-40B4-BE49-F238E27FC236}">
                <a16:creationId xmlns:a16="http://schemas.microsoft.com/office/drawing/2014/main" id="{F3FFE319-B280-40D7-8427-635E39C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16" name="DEMO-GARDEN-step-summary-0">
            <a:extLst xmlns:a="http://schemas.openxmlformats.org/drawingml/2006/main">
              <a:ext uri="{FF2B5EF4-FFF2-40B4-BE49-F238E27FC236}">
                <a16:creationId xmlns:a16="http://schemas.microsoft.com/office/drawing/2014/main" id="{EE607866-2360-4B97-975E-626D820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园林承接归家的户外体验</a:t>
            </a:r>
          </a:p>
        </p:txBody>
      </p:sp>
      <p:sp>
        <p:nvSpPr>
          <p:cNvPr id="17" name="DEMO-GARDEN-step-rule-1">
            <a:extLst xmlns:a="http://schemas.openxmlformats.org/drawingml/2006/main">
              <a:ext uri="{FF2B5EF4-FFF2-40B4-BE49-F238E27FC236}">
                <a16:creationId xmlns:a16="http://schemas.microsoft.com/office/drawing/2014/main" id="{56139847-2536-469B-A785-F848EB5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18" name="DEMO-GARDEN-step-summary-1">
            <a:extLst xmlns:a="http://schemas.openxmlformats.org/drawingml/2006/main">
              <a:ext uri="{FF2B5EF4-FFF2-40B4-BE49-F238E27FC236}">
                <a16:creationId xmlns:a16="http://schemas.microsoft.com/office/drawing/2014/main" id="{1AFCE62B-383B-4384-A52D-61D2ED8E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架空层连接社区公共生活</a:t>
            </a:r>
          </a:p>
        </p:txBody>
      </p:sp>
      <p:sp>
        <p:nvSpPr>
          <p:cNvPr id="19" name="DEMO-GARDEN-step-rule-2">
            <a:extLst xmlns:a="http://schemas.openxmlformats.org/drawingml/2006/main">
              <a:ext uri="{FF2B5EF4-FFF2-40B4-BE49-F238E27FC236}">
                <a16:creationId xmlns:a16="http://schemas.microsoft.com/office/drawing/2014/main" id="{1E614813-DAC8-4D50-AB92-93E621A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20" name="DEMO-GARDEN-step-summary-2">
            <a:extLst xmlns:a="http://schemas.openxmlformats.org/drawingml/2006/main">
              <a:ext uri="{FF2B5EF4-FFF2-40B4-BE49-F238E27FC236}">
                <a16:creationId xmlns:a16="http://schemas.microsoft.com/office/drawing/2014/main" id="{DE45FFB7-4380-40F2-B97E-9266556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地下会所加入连续归家路径</a:t>
            </a:r>
          </a:p>
        </p:txBody>
      </p:sp>
      <p:sp>
        <p:nvSpPr>
          <p:cNvPr id="21" name="DEMO-GARDEN-footer">
            <a:extLst xmlns:a="http://schemas.openxmlformats.org/drawingml/2006/main">
              <a:ext uri="{FF2B5EF4-FFF2-40B4-BE49-F238E27FC236}">
                <a16:creationId xmlns:a16="http://schemas.microsoft.com/office/drawing/2014/main" id="{6E1CAE13-A783-406F-81F1-28AB300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238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rPr>
              <a:t>明源UE案例｜示例项目与案例项目不同，画面不代表本案设计、配置或景观。</a:t>
            </a:r>
          </a:p>
        </p:txBody>
      </p:sp>
      <p:sp>
        <p:nvSpPr>
          <p:cNvPr id="22" name="DEMO-GARDEN-page_number">
            <a:extLst xmlns:a="http://schemas.openxmlformats.org/drawingml/2006/main">
              <a:ext uri="{FF2B5EF4-FFF2-40B4-BE49-F238E27FC236}">
                <a16:creationId xmlns:a16="http://schemas.microsoft.com/office/drawing/2014/main" id="{1010D2E0-84B1-4B96-8E8B-B42808B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48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rPr>
              <a:t>02 / 4</a:t>
            </a:r>
          </a:p>
        </p:txBody>
      </p:sp>
    </p:spTree>
    <p:extLst>
      <p:ext uri="{BB962C8B-B14F-4D97-AF65-F5344CB8AC3E}">
        <p14:creationId xmlns:p14="http://schemas.microsoft.com/office/powerpoint/2010/main" val="1393312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EMO-WINDOW-chapter-rule">
            <a:extLst xmlns:a="http://schemas.openxmlformats.org/drawingml/2006/main">
              <a:ext uri="{FF2B5EF4-FFF2-40B4-BE49-F238E27FC236}">
                <a16:creationId xmlns:a16="http://schemas.microsoft.com/office/drawing/2014/main" id="{66665ED0-8161-4E32-9700-41966258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2" name="DEMO-WINDOW-chapter">
            <a:extLst xmlns:a="http://schemas.openxmlformats.org/drawingml/2006/main">
              <a:ext uri="{FF2B5EF4-FFF2-40B4-BE49-F238E27FC236}">
                <a16:creationId xmlns:a16="http://schemas.microsoft.com/office/drawing/2014/main" id="{9A87DA21-DC07-4F97-834B-1946D87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公开虚构样例 · 产物3页面摘样</a:t>
            </a:r>
          </a:p>
        </p:txBody>
      </p:sp>
      <p:sp>
        <p:nvSpPr>
          <p:cNvPr id="3" name="DEMO-WINDOW-title">
            <a:extLst xmlns:a="http://schemas.openxmlformats.org/drawingml/2006/main">
              <a:ext uri="{FF2B5EF4-FFF2-40B4-BE49-F238E27FC236}">
                <a16:creationId xmlns:a16="http://schemas.microsoft.com/office/drawing/2014/main" id="{00934837-5D04-4D53-99C6-2ADC140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386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选择具体住房，也是在选择每天窗外的环境</a:t>
            </a:r>
          </a:p>
        </p:txBody>
      </p:sp>
      <p:sp>
        <p:nvSpPr>
          <p:cNvPr id="4" name="DEMO-WINDOW-subtitle">
            <a:extLst xmlns:a="http://schemas.openxmlformats.org/drawingml/2006/main">
              <a:ext uri="{FF2B5EF4-FFF2-40B4-BE49-F238E27FC236}">
                <a16:creationId xmlns:a16="http://schemas.microsoft.com/office/drawing/2014/main" id="{70F1068D-6669-4D38-B1E9-A8A1D102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同一社区里的楼栋与楼层不同，窗前面对的建筑和景观也会不同。重视居家感受的家庭，会把这些关系放进具体房源比较。</a:t>
            </a:r>
          </a:p>
        </p:txBody>
      </p:sp>
      <p:sp>
        <p:nvSpPr>
          <p:cNvPr id="5" name="DEMO-WINDOW-figure-image-bg-0">
            <a:extLst xmlns:a="http://schemas.openxmlformats.org/drawingml/2006/main">
              <a:ext uri="{FF2B5EF4-FFF2-40B4-BE49-F238E27FC236}">
                <a16:creationId xmlns:a16="http://schemas.microsoft.com/office/drawing/2014/main" id="{53E001BD-98DD-4F54-BE6F-CBE28B53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67913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24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15f0a617348be"/>
          <a:stretch xmlns:a="http://schemas.openxmlformats.org/drawingml/2006/main"/>
        </p:blipFill>
        <p:spPr>
          <a:xfrm xmlns:a="http://schemas.openxmlformats.org/drawingml/2006/main">
            <a:off x="1118129" y="2276475"/>
            <a:ext cx="5926667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DEMO-WINDOW-figure-caption-bg-0">
            <a:extLst xmlns:a="http://schemas.openxmlformats.org/drawingml/2006/main">
              <a:ext uri="{FF2B5EF4-FFF2-40B4-BE49-F238E27FC236}">
                <a16:creationId xmlns:a16="http://schemas.microsoft.com/office/drawing/2014/main" id="{1983FEAD-9F36-42CD-B561-37786B1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6791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2"/>
          </a:solidFill>
          <a:ln xmlns:a="http://schemas.openxmlformats.org/drawingml/2006/main" w="0">
            <a:noFill/>
          </a:ln>
        </p:spPr>
      </p:sp>
      <p:sp>
        <p:nvSpPr>
          <p:cNvPr id="8" name="DEMO-WINDOW-image-title-0">
            <a:extLst xmlns:a="http://schemas.openxmlformats.org/drawingml/2006/main">
              <a:ext uri="{FF2B5EF4-FFF2-40B4-BE49-F238E27FC236}">
                <a16:creationId xmlns:a16="http://schemas.microsoft.com/office/drawing/2014/main" id="{E793D60D-035A-4ABA-8FA7-B84AC4C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641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窗边的停留，与窗外环境有关</a:t>
            </a:r>
          </a:p>
        </p:txBody>
      </p:sp>
      <p:sp>
        <p:nvSpPr>
          <p:cNvPr id="9" name="DEMO-WINDOW-image-caption-0">
            <a:extLst xmlns:a="http://schemas.openxmlformats.org/drawingml/2006/main">
              <a:ext uri="{FF2B5EF4-FFF2-40B4-BE49-F238E27FC236}">
                <a16:creationId xmlns:a16="http://schemas.microsoft.com/office/drawing/2014/main" id="{D01B4D65-C333-47E7-81C8-7F1D956D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64103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rPr>
              <a:t>在家休息、阅读或与家人相处时，窗外的建筑与景观也影响居家感受。</a:t>
            </a:r>
          </a:p>
        </p:txBody>
      </p:sp>
      <p:sp>
        <p:nvSpPr>
          <p:cNvPr id="10" name="DEMO-WINDOW-figure-image-bg-1">
            <a:extLst xmlns:a="http://schemas.openxmlformats.org/drawingml/2006/main">
              <a:ext uri="{FF2B5EF4-FFF2-40B4-BE49-F238E27FC236}">
                <a16:creationId xmlns:a16="http://schemas.microsoft.com/office/drawing/2014/main" id="{F4586E5F-A5D1-4A92-A017-7E58EEC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76475"/>
            <a:ext cx="67913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24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3bc9b997d46b7"/>
          <a:stretch xmlns:a="http://schemas.openxmlformats.org/drawingml/2006/main"/>
        </p:blipFill>
        <p:spPr>
          <a:xfrm xmlns:a="http://schemas.openxmlformats.org/drawingml/2006/main">
            <a:off x="8195204" y="2276475"/>
            <a:ext cx="5926667" cy="3333750"/>
          </a:xfrm>
          <a:prstGeom xmlns:a="http://schemas.openxmlformats.org/drawingml/2006/main" prst="rect">
            <a:avLst/>
          </a:prstGeom>
        </p:spPr>
      </p:pic>
      <p:sp>
        <p:nvSpPr>
          <p:cNvPr id="12" name="DEMO-WINDOW-figure-caption-bg-1">
            <a:extLst xmlns:a="http://schemas.openxmlformats.org/drawingml/2006/main">
              <a:ext uri="{FF2B5EF4-FFF2-40B4-BE49-F238E27FC236}">
                <a16:creationId xmlns:a16="http://schemas.microsoft.com/office/drawing/2014/main" id="{D2AE9F15-C418-4263-9163-82858CD0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10225"/>
            <a:ext cx="6791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2"/>
          </a:solidFill>
          <a:ln xmlns:a="http://schemas.openxmlformats.org/drawingml/2006/main" w="0">
            <a:noFill/>
          </a:ln>
        </p:spPr>
      </p:sp>
      <p:sp>
        <p:nvSpPr>
          <p:cNvPr id="13" name="DEMO-WINDOW-image-title-1">
            <a:extLst xmlns:a="http://schemas.openxmlformats.org/drawingml/2006/main">
              <a:ext uri="{FF2B5EF4-FFF2-40B4-BE49-F238E27FC236}">
                <a16:creationId xmlns:a16="http://schemas.microsoft.com/office/drawing/2014/main" id="{A32D1F0D-C246-47E3-B93D-5C30B4B4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81675"/>
            <a:ext cx="641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楼层不同，观察到的关系也不同</a:t>
            </a:r>
          </a:p>
        </p:txBody>
      </p:sp>
      <p:sp>
        <p:nvSpPr>
          <p:cNvPr id="14" name="DEMO-WINDOW-image-caption-1">
            <a:extLst xmlns:a="http://schemas.openxmlformats.org/drawingml/2006/main">
              <a:ext uri="{FF2B5EF4-FFF2-40B4-BE49-F238E27FC236}">
                <a16:creationId xmlns:a16="http://schemas.microsoft.com/office/drawing/2014/main" id="{67A9EF46-5E8B-4C08-9A66-1F27409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200775"/>
            <a:ext cx="64103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86D5D"/>
                </a:solidFill>
                <a:latin typeface="PingFang SC"/>
                <a:ea typeface="PingFang SC"/>
                <a:cs typeface="PingFang SC"/>
              </a:rPr>
              <a:t>窗前面对的建筑与景观，影响每天在家的感受。楼层与朝向不同，观察到的关系也不同；各套实际视野依照本案设计。</a:t>
            </a:r>
          </a:p>
        </p:txBody>
      </p:sp>
      <p:sp>
        <p:nvSpPr>
          <p:cNvPr id="15" name="DEMO-WINDOW-step-rule-0">
            <a:extLst xmlns:a="http://schemas.openxmlformats.org/drawingml/2006/main">
              <a:ext uri="{FF2B5EF4-FFF2-40B4-BE49-F238E27FC236}">
                <a16:creationId xmlns:a16="http://schemas.microsoft.com/office/drawing/2014/main" id="{7783DCAD-15EE-4478-8C02-3561EC52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16" name="DEMO-WINDOW-step-summary-0">
            <a:extLst xmlns:a="http://schemas.openxmlformats.org/drawingml/2006/main">
              <a:ext uri="{FF2B5EF4-FFF2-40B4-BE49-F238E27FC236}">
                <a16:creationId xmlns:a16="http://schemas.microsoft.com/office/drawing/2014/main" id="{3B23BD3C-4BA2-4A3F-84E2-E2C3F0C1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窗前环境进入具体住房比较</a:t>
            </a:r>
          </a:p>
        </p:txBody>
      </p:sp>
      <p:sp>
        <p:nvSpPr>
          <p:cNvPr id="17" name="DEMO-WINDOW-step-rule-1">
            <a:extLst xmlns:a="http://schemas.openxmlformats.org/drawingml/2006/main">
              <a:ext uri="{FF2B5EF4-FFF2-40B4-BE49-F238E27FC236}">
                <a16:creationId xmlns:a16="http://schemas.microsoft.com/office/drawing/2014/main" id="{A51920F9-7036-4832-8DD1-671DEC90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18" name="DEMO-WINDOW-step-summary-1">
            <a:extLst xmlns:a="http://schemas.openxmlformats.org/drawingml/2006/main">
              <a:ext uri="{FF2B5EF4-FFF2-40B4-BE49-F238E27FC236}">
                <a16:creationId xmlns:a16="http://schemas.microsoft.com/office/drawing/2014/main" id="{493EC903-176E-40D5-96F5-39B4A0E2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楼栋与楼层共同影响观察关系</a:t>
            </a:r>
          </a:p>
        </p:txBody>
      </p:sp>
      <p:sp>
        <p:nvSpPr>
          <p:cNvPr id="19" name="DEMO-WINDOW-step-rule-2">
            <a:extLst xmlns:a="http://schemas.openxmlformats.org/drawingml/2006/main">
              <a:ext uri="{FF2B5EF4-FFF2-40B4-BE49-F238E27FC236}">
                <a16:creationId xmlns:a16="http://schemas.microsoft.com/office/drawing/2014/main" id="{13736EF5-D39F-44D4-BAFB-0828A14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7353300"/>
            <a:ext cx="44640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B1"/>
          </a:solidFill>
          <a:ln xmlns:a="http://schemas.openxmlformats.org/drawingml/2006/main" w="0">
            <a:noFill/>
          </a:ln>
        </p:spPr>
      </p:sp>
      <p:sp>
        <p:nvSpPr>
          <p:cNvPr id="20" name="DEMO-WINDOW-step-summary-2">
            <a:extLst xmlns:a="http://schemas.openxmlformats.org/drawingml/2006/main">
              <a:ext uri="{FF2B5EF4-FFF2-40B4-BE49-F238E27FC236}">
                <a16:creationId xmlns:a16="http://schemas.microsoft.com/office/drawing/2014/main" id="{C9A76226-6BF0-447A-8D3A-D4CC72F9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7505700"/>
            <a:ext cx="446408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案例视野不构成本案景观承诺</a:t>
            </a:r>
          </a:p>
        </p:txBody>
      </p:sp>
      <p:sp>
        <p:nvSpPr>
          <p:cNvPr id="21" name="DEMO-WINDOW-footer">
            <a:extLst xmlns:a="http://schemas.openxmlformats.org/drawingml/2006/main">
              <a:ext uri="{FF2B5EF4-FFF2-40B4-BE49-F238E27FC236}">
                <a16:creationId xmlns:a16="http://schemas.microsoft.com/office/drawing/2014/main" id="{14884A80-F1DD-44BA-A6DB-EEFBB22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238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rPr>
              <a:t>明源UE案例｜本页说明具体选房的观察对象，不承诺样例项目拥有案例中的景观。</a:t>
            </a:r>
          </a:p>
        </p:txBody>
      </p:sp>
      <p:sp>
        <p:nvSpPr>
          <p:cNvPr id="22" name="DEMO-WINDOW-page_number">
            <a:extLst xmlns:a="http://schemas.openxmlformats.org/drawingml/2006/main">
              <a:ext uri="{FF2B5EF4-FFF2-40B4-BE49-F238E27FC236}">
                <a16:creationId xmlns:a16="http://schemas.microsoft.com/office/drawing/2014/main" id="{162DA383-E289-4160-9259-313E0179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48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rPr>
              <a:t>03 / 4</a:t>
            </a:r>
          </a:p>
        </p:txBody>
      </p:sp>
    </p:spTree>
    <p:extLst>
      <p:ext uri="{BB962C8B-B14F-4D97-AF65-F5344CB8AC3E}">
        <p14:creationId xmlns:p14="http://schemas.microsoft.com/office/powerpoint/2010/main" val="2051253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DEMO-SCOPE-chapter-rule">
            <a:extLst xmlns:a="http://schemas.openxmlformats.org/drawingml/2006/main">
              <a:ext uri="{FF2B5EF4-FFF2-40B4-BE49-F238E27FC236}">
                <a16:creationId xmlns:a16="http://schemas.microsoft.com/office/drawing/2014/main" id="{A4931889-5731-4435-A87C-04FCC9B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2" name="DEMO-SCOPE-chapter">
            <a:extLst xmlns:a="http://schemas.openxmlformats.org/drawingml/2006/main">
              <a:ext uri="{FF2B5EF4-FFF2-40B4-BE49-F238E27FC236}">
                <a16:creationId xmlns:a16="http://schemas.microsoft.com/office/drawing/2014/main" id="{F7EE0847-B853-40F2-AF8D-9210BC5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公开虚构样例 · 产物3页面摘样</a:t>
            </a:r>
          </a:p>
        </p:txBody>
      </p:sp>
      <p:sp>
        <p:nvSpPr>
          <p:cNvPr id="3" name="DEMO-SCOPE-title">
            <a:extLst xmlns:a="http://schemas.openxmlformats.org/drawingml/2006/main">
              <a:ext uri="{FF2B5EF4-FFF2-40B4-BE49-F238E27FC236}">
                <a16:creationId xmlns:a16="http://schemas.microsoft.com/office/drawing/2014/main" id="{9AD5DB21-0606-4EC4-A002-07BAF97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386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同一套项目内容，支持完整介绍与不同家庭的重点讲解</a:t>
            </a:r>
          </a:p>
        </p:txBody>
      </p:sp>
      <p:sp>
        <p:nvSpPr>
          <p:cNvPr id="4" name="DEMO-SCOPE-subtitle">
            <a:extLst xmlns:a="http://schemas.openxmlformats.org/drawingml/2006/main">
              <a:ext uri="{FF2B5EF4-FFF2-40B4-BE49-F238E27FC236}">
                <a16:creationId xmlns:a16="http://schemas.microsoft.com/office/drawing/2014/main" id="{20202EB7-52CC-46ED-A5ED-EAC0F6D7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C64"/>
                </a:solidFill>
                <a:latin typeface="PingFang SC"/>
                <a:ea typeface="PingFang SC"/>
                <a:cs typeface="PingFang SC"/>
              </a:rPr>
              <a:t>系统保留项目整体介绍，也组织围绕工作安排和家庭空间的主题讲解。不同讲解可以共用页面、模型与底图。</a:t>
            </a:r>
          </a:p>
        </p:txBody>
      </p:sp>
      <p:sp>
        <p:nvSpPr>
          <p:cNvPr id="5" name="DEMO-SCOPE-scope-bg-0">
            <a:extLst xmlns:a="http://schemas.openxmlformats.org/drawingml/2006/main">
              <a:ext uri="{FF2B5EF4-FFF2-40B4-BE49-F238E27FC236}">
                <a16:creationId xmlns:a16="http://schemas.microsoft.com/office/drawing/2014/main" id="{EA1368CA-6E01-41F2-AD7D-E3FC836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6" name="DEMO-SCOPE-scope-rule-0">
            <a:extLst xmlns:a="http://schemas.openxmlformats.org/drawingml/2006/main">
              <a:ext uri="{FF2B5EF4-FFF2-40B4-BE49-F238E27FC236}">
                <a16:creationId xmlns:a16="http://schemas.microsoft.com/office/drawing/2014/main" id="{C4E96E15-86CE-4AF9-82B0-7F9EC02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7" name="DEMO-SCOPE-scope-title-0">
            <a:extLst xmlns:a="http://schemas.openxmlformats.org/drawingml/2006/main">
              <a:ext uri="{FF2B5EF4-FFF2-40B4-BE49-F238E27FC236}">
                <a16:creationId xmlns:a16="http://schemas.microsoft.com/office/drawing/2014/main" id="{2804217A-33DA-445D-A50D-17D5A752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品牌</a:t>
            </a:r>
          </a:p>
        </p:txBody>
      </p:sp>
      <p:sp>
        <p:nvSpPr>
          <p:cNvPr id="8" name="DEMO-SCOPE-scope-copy-0">
            <a:extLst xmlns:a="http://schemas.openxmlformats.org/drawingml/2006/main">
              <a:ext uri="{FF2B5EF4-FFF2-40B4-BE49-F238E27FC236}">
                <a16:creationId xmlns:a16="http://schemas.microsoft.com/office/drawing/2014/main" id="{C54184AE-5DBE-4C8A-A483-B921646B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开发商资料</a:t>
            </a:r>
          </a:p>
        </p:txBody>
      </p:sp>
      <p:sp>
        <p:nvSpPr>
          <p:cNvPr id="9" name="DEMO-SCOPE-scope-bg-1">
            <a:extLst xmlns:a="http://schemas.openxmlformats.org/drawingml/2006/main">
              <a:ext uri="{FF2B5EF4-FFF2-40B4-BE49-F238E27FC236}">
                <a16:creationId xmlns:a16="http://schemas.microsoft.com/office/drawing/2014/main" id="{DD1E1648-97D4-4EC5-8453-5D875E7B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89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10" name="DEMO-SCOPE-scope-rule-1">
            <a:extLst xmlns:a="http://schemas.openxmlformats.org/drawingml/2006/main">
              <a:ext uri="{FF2B5EF4-FFF2-40B4-BE49-F238E27FC236}">
                <a16:creationId xmlns:a16="http://schemas.microsoft.com/office/drawing/2014/main" id="{A2572649-EDEA-4AA8-B0DC-74D46B8D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89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11" name="DEMO-SCOPE-scope-title-1">
            <a:extLst xmlns:a="http://schemas.openxmlformats.org/drawingml/2006/main">
              <a:ext uri="{FF2B5EF4-FFF2-40B4-BE49-F238E27FC236}">
                <a16:creationId xmlns:a16="http://schemas.microsoft.com/office/drawing/2014/main" id="{8B979675-E11F-4E6F-A380-FBFBF5F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139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城市</a:t>
            </a:r>
          </a:p>
        </p:txBody>
      </p:sp>
      <p:sp>
        <p:nvSpPr>
          <p:cNvPr id="12" name="DEMO-SCOPE-scope-copy-1">
            <a:extLst xmlns:a="http://schemas.openxmlformats.org/drawingml/2006/main">
              <a:ext uri="{FF2B5EF4-FFF2-40B4-BE49-F238E27FC236}">
                <a16:creationId xmlns:a16="http://schemas.microsoft.com/office/drawing/2014/main" id="{735AB37C-8E7C-4FB4-8852-0070B06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139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城市生活背景</a:t>
            </a:r>
          </a:p>
        </p:txBody>
      </p:sp>
      <p:sp>
        <p:nvSpPr>
          <p:cNvPr id="13" name="DEMO-SCOPE-scope-bg-2">
            <a:extLst xmlns:a="http://schemas.openxmlformats.org/drawingml/2006/main">
              <a:ext uri="{FF2B5EF4-FFF2-40B4-BE49-F238E27FC236}">
                <a16:creationId xmlns:a16="http://schemas.microsoft.com/office/drawing/2014/main" id="{8C2FDEA2-8F5B-4322-B177-A79951C4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579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14" name="DEMO-SCOPE-scope-rule-2">
            <a:extLst xmlns:a="http://schemas.openxmlformats.org/drawingml/2006/main">
              <a:ext uri="{FF2B5EF4-FFF2-40B4-BE49-F238E27FC236}">
                <a16:creationId xmlns:a16="http://schemas.microsoft.com/office/drawing/2014/main" id="{B4E98A98-E1DB-452C-8713-E0A692B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579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15" name="DEMO-SCOPE-scope-title-2">
            <a:extLst xmlns:a="http://schemas.openxmlformats.org/drawingml/2006/main">
              <a:ext uri="{FF2B5EF4-FFF2-40B4-BE49-F238E27FC236}">
                <a16:creationId xmlns:a16="http://schemas.microsoft.com/office/drawing/2014/main" id="{60DB4C52-86EB-4A3E-A30D-235809B5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区域</a:t>
            </a:r>
          </a:p>
        </p:txBody>
      </p:sp>
      <p:sp>
        <p:nvSpPr>
          <p:cNvPr id="16" name="DEMO-SCOPE-scope-copy-2">
            <a:extLst xmlns:a="http://schemas.openxmlformats.org/drawingml/2006/main">
              <a:ext uri="{FF2B5EF4-FFF2-40B4-BE49-F238E27FC236}">
                <a16:creationId xmlns:a16="http://schemas.microsoft.com/office/drawing/2014/main" id="{9B064B7D-9C15-493D-9F81-F82D767A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工作与生活关系</a:t>
            </a:r>
          </a:p>
        </p:txBody>
      </p:sp>
      <p:sp>
        <p:nvSpPr>
          <p:cNvPr id="17" name="DEMO-SCOPE-scope-bg-3">
            <a:extLst xmlns:a="http://schemas.openxmlformats.org/drawingml/2006/main">
              <a:ext uri="{FF2B5EF4-FFF2-40B4-BE49-F238E27FC236}">
                <a16:creationId xmlns:a16="http://schemas.microsoft.com/office/drawing/2014/main" id="{4287F257-1CA8-48EE-B710-BD74F35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68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18" name="DEMO-SCOPE-scope-rule-3">
            <a:extLst xmlns:a="http://schemas.openxmlformats.org/drawingml/2006/main">
              <a:ext uri="{FF2B5EF4-FFF2-40B4-BE49-F238E27FC236}">
                <a16:creationId xmlns:a16="http://schemas.microsoft.com/office/drawing/2014/main" id="{EE393FE2-EFDA-4CA9-B175-5075431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68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19" name="DEMO-SCOPE-scope-title-3">
            <a:extLst xmlns:a="http://schemas.openxmlformats.org/drawingml/2006/main">
              <a:ext uri="{FF2B5EF4-FFF2-40B4-BE49-F238E27FC236}">
                <a16:creationId xmlns:a16="http://schemas.microsoft.com/office/drawing/2014/main" id="{8905E6E0-6116-4416-81DF-79A8D169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918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板块</a:t>
            </a:r>
          </a:p>
        </p:txBody>
      </p:sp>
      <p:sp>
        <p:nvSpPr>
          <p:cNvPr id="20" name="DEMO-SCOPE-scope-copy-3">
            <a:extLst xmlns:a="http://schemas.openxmlformats.org/drawingml/2006/main">
              <a:ext uri="{FF2B5EF4-FFF2-40B4-BE49-F238E27FC236}">
                <a16:creationId xmlns:a16="http://schemas.microsoft.com/office/drawing/2014/main" id="{78720AF6-C565-48FE-8197-D597B87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918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周边生活环境</a:t>
            </a:r>
          </a:p>
        </p:txBody>
      </p:sp>
      <p:sp>
        <p:nvSpPr>
          <p:cNvPr id="21" name="DEMO-SCOPE-scope-bg-4">
            <a:extLst xmlns:a="http://schemas.openxmlformats.org/drawingml/2006/main">
              <a:ext uri="{FF2B5EF4-FFF2-40B4-BE49-F238E27FC236}">
                <a16:creationId xmlns:a16="http://schemas.microsoft.com/office/drawing/2014/main" id="{ACD69278-4ECB-4DAD-BCF1-68CCF94D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357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22" name="DEMO-SCOPE-scope-rule-4">
            <a:extLst xmlns:a="http://schemas.openxmlformats.org/drawingml/2006/main">
              <a:ext uri="{FF2B5EF4-FFF2-40B4-BE49-F238E27FC236}">
                <a16:creationId xmlns:a16="http://schemas.microsoft.com/office/drawing/2014/main" id="{CCDC7A07-182E-465E-A757-2B9C11C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357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23" name="DEMO-SCOPE-scope-title-4">
            <a:extLst xmlns:a="http://schemas.openxmlformats.org/drawingml/2006/main">
              <a:ext uri="{FF2B5EF4-FFF2-40B4-BE49-F238E27FC236}">
                <a16:creationId xmlns:a16="http://schemas.microsoft.com/office/drawing/2014/main" id="{01D10553-4D59-420D-B808-F73A91E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07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土地</a:t>
            </a:r>
          </a:p>
        </p:txBody>
      </p:sp>
      <p:sp>
        <p:nvSpPr>
          <p:cNvPr id="24" name="DEMO-SCOPE-scope-copy-4">
            <a:extLst xmlns:a="http://schemas.openxmlformats.org/drawingml/2006/main">
              <a:ext uri="{FF2B5EF4-FFF2-40B4-BE49-F238E27FC236}">
                <a16:creationId xmlns:a16="http://schemas.microsoft.com/office/drawing/2014/main" id="{3A5A0BF9-5CFD-4514-BDFF-F07A7502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07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本案场地条件</a:t>
            </a:r>
          </a:p>
        </p:txBody>
      </p:sp>
      <p:sp>
        <p:nvSpPr>
          <p:cNvPr id="25" name="DEMO-SCOPE-scope-bg-5">
            <a:extLst xmlns:a="http://schemas.openxmlformats.org/drawingml/2006/main">
              <a:ext uri="{FF2B5EF4-FFF2-40B4-BE49-F238E27FC236}">
                <a16:creationId xmlns:a16="http://schemas.microsoft.com/office/drawing/2014/main" id="{13444008-6576-4604-8C20-724DF8D4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246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26" name="DEMO-SCOPE-scope-rule-5">
            <a:extLst xmlns:a="http://schemas.openxmlformats.org/drawingml/2006/main">
              <a:ext uri="{FF2B5EF4-FFF2-40B4-BE49-F238E27FC236}">
                <a16:creationId xmlns:a16="http://schemas.microsoft.com/office/drawing/2014/main" id="{84AF15EC-F83B-4670-96E7-B7C2C265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246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27" name="DEMO-SCOPE-scope-title-5">
            <a:extLst xmlns:a="http://schemas.openxmlformats.org/drawingml/2006/main">
              <a:ext uri="{FF2B5EF4-FFF2-40B4-BE49-F238E27FC236}">
                <a16:creationId xmlns:a16="http://schemas.microsoft.com/office/drawing/2014/main" id="{0E8666EE-8349-442D-9DBA-54BEE2F4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696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配套</a:t>
            </a:r>
          </a:p>
        </p:txBody>
      </p:sp>
      <p:sp>
        <p:nvSpPr>
          <p:cNvPr id="28" name="DEMO-SCOPE-scope-copy-5">
            <a:extLst xmlns:a="http://schemas.openxmlformats.org/drawingml/2006/main">
              <a:ext uri="{FF2B5EF4-FFF2-40B4-BE49-F238E27FC236}">
                <a16:creationId xmlns:a16="http://schemas.microsoft.com/office/drawing/2014/main" id="{4084B361-5E2C-4E4B-8F4C-0C99D05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696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日常目的地</a:t>
            </a:r>
          </a:p>
        </p:txBody>
      </p:sp>
      <p:sp>
        <p:nvSpPr>
          <p:cNvPr id="29" name="DEMO-SCOPE-scope-bg-6">
            <a:extLst xmlns:a="http://schemas.openxmlformats.org/drawingml/2006/main">
              <a:ext uri="{FF2B5EF4-FFF2-40B4-BE49-F238E27FC236}">
                <a16:creationId xmlns:a16="http://schemas.microsoft.com/office/drawing/2014/main" id="{9D690928-04E7-4770-9B3F-E212E7B4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9136" y="2276475"/>
            <a:ext cx="1875064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DF"/>
          </a:solidFill>
          <a:ln xmlns:a="http://schemas.openxmlformats.org/drawingml/2006/main" w="0">
            <a:noFill/>
          </a:ln>
        </p:spPr>
      </p:sp>
      <p:sp>
        <p:nvSpPr>
          <p:cNvPr id="30" name="DEMO-SCOPE-scope-rule-6">
            <a:extLst xmlns:a="http://schemas.openxmlformats.org/drawingml/2006/main">
              <a:ext uri="{FF2B5EF4-FFF2-40B4-BE49-F238E27FC236}">
                <a16:creationId xmlns:a16="http://schemas.microsoft.com/office/drawing/2014/main" id="{B8CD5ADA-786A-4BEF-B341-C54D038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9136" y="2276475"/>
            <a:ext cx="18750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4C"/>
          </a:solidFill>
          <a:ln xmlns:a="http://schemas.openxmlformats.org/drawingml/2006/main" w="0">
            <a:noFill/>
          </a:ln>
        </p:spPr>
      </p:sp>
      <p:sp>
        <p:nvSpPr>
          <p:cNvPr id="31" name="DEMO-SCOPE-scope-title-6">
            <a:extLst xmlns:a="http://schemas.openxmlformats.org/drawingml/2006/main">
              <a:ext uri="{FF2B5EF4-FFF2-40B4-BE49-F238E27FC236}">
                <a16:creationId xmlns:a16="http://schemas.microsoft.com/office/drawing/2014/main" id="{4006E1DE-E10F-4E28-84A4-D318F2F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586" y="2524125"/>
            <a:ext cx="1532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32" name="DEMO-SCOPE-scope-copy-6">
            <a:extLst xmlns:a="http://schemas.openxmlformats.org/drawingml/2006/main">
              <a:ext uri="{FF2B5EF4-FFF2-40B4-BE49-F238E27FC236}">
                <a16:creationId xmlns:a16="http://schemas.microsoft.com/office/drawing/2014/main" id="{285DBE87-AB2B-46DA-BB13-A3B3B07B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586" y="3181350"/>
            <a:ext cx="1532164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2715C"/>
                </a:solidFill>
                <a:latin typeface="PingFang SC"/>
                <a:ea typeface="PingFang SC"/>
                <a:cs typeface="PingFang SC"/>
              </a:rPr>
              <a:t>社区与具体住宅</a:t>
            </a:r>
          </a:p>
        </p:txBody>
      </p:sp>
      <p:sp>
        <p:nvSpPr>
          <p:cNvPr id="33" name="DEMO-SCOPE-scope-project">
            <a:extLst xmlns:a="http://schemas.openxmlformats.org/drawingml/2006/main">
              <a:ext uri="{FF2B5EF4-FFF2-40B4-BE49-F238E27FC236}">
                <a16:creationId xmlns:a16="http://schemas.microsoft.com/office/drawing/2014/main" id="{E2CB73C1-EFF1-4AF1-A22A-960F7907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386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43B3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3B34"/>
                </a:solidFill>
                <a:latin typeface="PingFang SC"/>
                <a:ea typeface="PingFang SC"/>
                <a:cs typeface="PingFang SC"/>
              </a:rPr>
              <a:t>项目内容覆盖社区整体与具体住房</a:t>
            </a:r>
          </a:p>
        </p:txBody>
      </p:sp>
      <p:sp>
        <p:nvSpPr>
          <p:cNvPr id="34" name="DEMO-SCOPE-scope-item-bg-0">
            <a:extLst xmlns:a="http://schemas.openxmlformats.org/drawingml/2006/main">
              <a:ext uri="{FF2B5EF4-FFF2-40B4-BE49-F238E27FC236}">
                <a16:creationId xmlns:a16="http://schemas.microsoft.com/office/drawing/2014/main" id="{8391F38A-F94D-45D8-817B-08503AE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35" name="DEMO-SCOPE-scope-item-0">
            <a:extLst xmlns:a="http://schemas.openxmlformats.org/drawingml/2006/main">
              <a:ext uri="{FF2B5EF4-FFF2-40B4-BE49-F238E27FC236}">
                <a16:creationId xmlns:a16="http://schemas.microsoft.com/office/drawing/2014/main" id="{3C338054-248D-4FF0-8DBF-F1457AD4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项目规划</a:t>
            </a:r>
          </a:p>
        </p:txBody>
      </p:sp>
      <p:sp>
        <p:nvSpPr>
          <p:cNvPr id="36" name="DEMO-SCOPE-scope-item-bg-1">
            <a:extLst xmlns:a="http://schemas.openxmlformats.org/drawingml/2006/main">
              <a:ext uri="{FF2B5EF4-FFF2-40B4-BE49-F238E27FC236}">
                <a16:creationId xmlns:a16="http://schemas.microsoft.com/office/drawing/2014/main" id="{F35F47F3-AE9A-4126-8A4F-4D3331F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9585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37" name="DEMO-SCOPE-scope-item-1">
            <a:extLst xmlns:a="http://schemas.openxmlformats.org/drawingml/2006/main">
              <a:ext uri="{FF2B5EF4-FFF2-40B4-BE49-F238E27FC236}">
                <a16:creationId xmlns:a16="http://schemas.microsoft.com/office/drawing/2014/main" id="{9E1E0E53-7359-4DB3-B064-199E60C1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482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美学立面</a:t>
            </a:r>
          </a:p>
        </p:txBody>
      </p:sp>
      <p:sp>
        <p:nvSpPr>
          <p:cNvPr id="38" name="DEMO-SCOPE-scope-item-bg-2">
            <a:extLst xmlns:a="http://schemas.openxmlformats.org/drawingml/2006/main">
              <a:ext uri="{FF2B5EF4-FFF2-40B4-BE49-F238E27FC236}">
                <a16:creationId xmlns:a16="http://schemas.microsoft.com/office/drawing/2014/main" id="{513406D6-6469-4E23-A9E6-AEB8EE5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585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39" name="DEMO-SCOPE-scope-item-2">
            <a:extLst xmlns:a="http://schemas.openxmlformats.org/drawingml/2006/main">
              <a:ext uri="{FF2B5EF4-FFF2-40B4-BE49-F238E27FC236}">
                <a16:creationId xmlns:a16="http://schemas.microsoft.com/office/drawing/2014/main" id="{8719D9ED-EF2D-4212-87E9-C43239F9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公共空间</a:t>
            </a:r>
          </a:p>
        </p:txBody>
      </p:sp>
      <p:sp>
        <p:nvSpPr>
          <p:cNvPr id="40" name="DEMO-SCOPE-scope-item-bg-3">
            <a:extLst xmlns:a="http://schemas.openxmlformats.org/drawingml/2006/main">
              <a:ext uri="{FF2B5EF4-FFF2-40B4-BE49-F238E27FC236}">
                <a16:creationId xmlns:a16="http://schemas.microsoft.com/office/drawing/2014/main" id="{916877F0-D9B9-4A7C-9B0F-76E4F68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89585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41" name="DEMO-SCOPE-scope-item-3">
            <a:extLst xmlns:a="http://schemas.openxmlformats.org/drawingml/2006/main">
              <a:ext uri="{FF2B5EF4-FFF2-40B4-BE49-F238E27FC236}">
                <a16:creationId xmlns:a16="http://schemas.microsoft.com/office/drawing/2014/main" id="{59A88E4F-B392-42F2-9620-E6803A4F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0482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景观鉴赏</a:t>
            </a:r>
          </a:p>
        </p:txBody>
      </p:sp>
      <p:sp>
        <p:nvSpPr>
          <p:cNvPr id="42" name="DEMO-SCOPE-scope-item-bg-4">
            <a:extLst xmlns:a="http://schemas.openxmlformats.org/drawingml/2006/main">
              <a:ext uri="{FF2B5EF4-FFF2-40B4-BE49-F238E27FC236}">
                <a16:creationId xmlns:a16="http://schemas.microsoft.com/office/drawing/2014/main" id="{F73FB062-7F1D-4F00-AD44-E4102621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43" name="DEMO-SCOPE-scope-item-4">
            <a:extLst xmlns:a="http://schemas.openxmlformats.org/drawingml/2006/main">
              <a:ext uri="{FF2B5EF4-FFF2-40B4-BE49-F238E27FC236}">
                <a16:creationId xmlns:a16="http://schemas.microsoft.com/office/drawing/2014/main" id="{93CEA6A5-AF50-49F5-808F-894BCE6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智能选房</a:t>
            </a:r>
          </a:p>
        </p:txBody>
      </p:sp>
      <p:sp>
        <p:nvSpPr>
          <p:cNvPr id="44" name="DEMO-SCOPE-scope-item-bg-5">
            <a:extLst xmlns:a="http://schemas.openxmlformats.org/drawingml/2006/main">
              <a:ext uri="{FF2B5EF4-FFF2-40B4-BE49-F238E27FC236}">
                <a16:creationId xmlns:a16="http://schemas.microsoft.com/office/drawing/2014/main" id="{51211A3A-8002-49B2-9E80-570BCA0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667375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45" name="DEMO-SCOPE-scope-item-5">
            <a:extLst xmlns:a="http://schemas.openxmlformats.org/drawingml/2006/main">
              <a:ext uri="{FF2B5EF4-FFF2-40B4-BE49-F238E27FC236}">
                <a16:creationId xmlns:a16="http://schemas.microsoft.com/office/drawing/2014/main" id="{7F3AB894-9647-4660-8D11-AC43732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1977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物业服务</a:t>
            </a:r>
          </a:p>
        </p:txBody>
      </p:sp>
      <p:sp>
        <p:nvSpPr>
          <p:cNvPr id="46" name="DEMO-SCOPE-scope-item-bg-6">
            <a:extLst xmlns:a="http://schemas.openxmlformats.org/drawingml/2006/main">
              <a:ext uri="{FF2B5EF4-FFF2-40B4-BE49-F238E27FC236}">
                <a16:creationId xmlns:a16="http://schemas.microsoft.com/office/drawing/2014/main" id="{BAD16E08-FC8E-4822-A06D-C744EB4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67375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47" name="DEMO-SCOPE-scope-item-6">
            <a:extLst xmlns:a="http://schemas.openxmlformats.org/drawingml/2006/main">
              <a:ext uri="{FF2B5EF4-FFF2-40B4-BE49-F238E27FC236}">
                <a16:creationId xmlns:a16="http://schemas.microsoft.com/office/drawing/2014/main" id="{72257210-468D-4B9E-9341-366AC07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977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标准层</a:t>
            </a:r>
          </a:p>
        </p:txBody>
      </p:sp>
      <p:sp>
        <p:nvSpPr>
          <p:cNvPr id="48" name="DEMO-SCOPE-scope-item-bg-7">
            <a:extLst xmlns:a="http://schemas.openxmlformats.org/drawingml/2006/main">
              <a:ext uri="{FF2B5EF4-FFF2-40B4-BE49-F238E27FC236}">
                <a16:creationId xmlns:a16="http://schemas.microsoft.com/office/drawing/2014/main" id="{F85E08C4-C9BE-4C21-BD17-A21C5AA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667375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F32"/>
          </a:solidFill>
          <a:ln xmlns:a="http://schemas.openxmlformats.org/drawingml/2006/main" w="0">
            <a:noFill/>
          </a:ln>
        </p:spPr>
      </p:sp>
      <p:sp>
        <p:nvSpPr>
          <p:cNvPr id="49" name="DEMO-SCOPE-scope-item-7">
            <a:extLst xmlns:a="http://schemas.openxmlformats.org/drawingml/2006/main">
              <a:ext uri="{FF2B5EF4-FFF2-40B4-BE49-F238E27FC236}">
                <a16:creationId xmlns:a16="http://schemas.microsoft.com/office/drawing/2014/main" id="{7A57C12A-3BFC-4841-9D0A-E191BFD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81977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8EBDE"/>
                </a:solidFill>
                <a:latin typeface="PingFang SC"/>
                <a:ea typeface="PingFang SC"/>
                <a:cs typeface="PingFang SC"/>
              </a:rPr>
              <a:t>精装样板间</a:t>
            </a:r>
          </a:p>
        </p:txBody>
      </p:sp>
      <p:sp>
        <p:nvSpPr>
          <p:cNvPr id="50" name="DEMO-SCOPE-conclusion">
            <a:extLst xmlns:a="http://schemas.openxmlformats.org/drawingml/2006/main">
              <a:ext uri="{FF2B5EF4-FFF2-40B4-BE49-F238E27FC236}">
                <a16:creationId xmlns:a16="http://schemas.microsoft.com/office/drawing/2014/main" id="{B676EBA3-5C54-4952-9D15-33FD345B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77025"/>
            <a:ext cx="13868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725" b="0">
                <a:solidFill>
                  <a:srgbClr val="5E71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715E"/>
                </a:solidFill>
                <a:latin typeface="PingFang SC"/>
                <a:ea typeface="PingFang SC"/>
                <a:cs typeface="PingFang SC"/>
              </a:rPr>
              <a:t>主题讲解调用已经编排的内容，入口可进入双向就业、家庭空间或通用住房浏览。具体设计、配置、售价与房源安排依项目正式资料。</a:t>
            </a:r>
          </a:p>
        </p:txBody>
      </p:sp>
      <p:sp>
        <p:nvSpPr>
          <p:cNvPr id="51" name="DEMO-SCOPE-footer">
            <a:extLst xmlns:a="http://schemas.openxmlformats.org/drawingml/2006/main">
              <a:ext uri="{FF2B5EF4-FFF2-40B4-BE49-F238E27FC236}">
                <a16:creationId xmlns:a16="http://schemas.microsoft.com/office/drawing/2014/main" id="{6E4389C4-5A08-4CA6-A497-CCA9C3E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238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8867D"/>
                </a:solidFill>
                <a:latin typeface="PingFang SC"/>
                <a:ea typeface="PingFang SC"/>
                <a:cs typeface="PingFang SC"/>
              </a:rPr>
              <a:t>公开虚构样例｜方案范围说明不代表系统已完成开发或交付。</a:t>
            </a:r>
          </a:p>
        </p:txBody>
      </p:sp>
      <p:sp>
        <p:nvSpPr>
          <p:cNvPr id="52" name="DEMO-SCOPE-page_number">
            <a:extLst xmlns:a="http://schemas.openxmlformats.org/drawingml/2006/main">
              <a:ext uri="{FF2B5EF4-FFF2-40B4-BE49-F238E27FC236}">
                <a16:creationId xmlns:a16="http://schemas.microsoft.com/office/drawing/2014/main" id="{65D43CCC-339F-4B4D-BF47-E970A7CB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48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8844C"/>
                </a:solidFill>
                <a:latin typeface="PingFang SC"/>
                <a:ea typeface="PingFang SC"/>
                <a:cs typeface="PingFang SC"/>
              </a:rPr>
              <a:t>04 / 4</a:t>
            </a:r>
          </a:p>
        </p:txBody>
      </p:sp>
    </p:spTree>
    <p:extLst>
      <p:ext uri="{BB962C8B-B14F-4D97-AF65-F5344CB8AC3E}">
        <p14:creationId xmlns:p14="http://schemas.microsoft.com/office/powerpoint/2010/main" val="2020593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2026-09-07T10:39:12.3360000Z</dcterms:created>
  <dcterms:modified xsi:type="dcterms:W3CDTF">2026-09-07T10:39:12.3360000Z</dcterms:modified>
</coreProperties>
</file>