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e3cef6ea94107" /><Relationship Type="http://schemas.openxmlformats.org/officeDocument/2006/relationships/extended-properties" Target="/docProps/app.xml" Id="R68cbe87b79614755" /><Relationship Type="http://schemas.openxmlformats.org/officeDocument/2006/relationships/officeDocument" Target="/ppt/presentation.xml" Id="Rf1a5dc4075bb4d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2549b38cf4d42"/>
  </p:sldMasterIdLst>
  <p:notesMasterIdLst>
    <p:notesMasterId xmlns:r="http://schemas.openxmlformats.org/officeDocument/2006/relationships" r:id="R1f41bb70d0ca465b"/>
  </p:notesMasterIdLst>
  <p:sldIdLst>
    <p:sldId xmlns:r="http://schemas.openxmlformats.org/officeDocument/2006/relationships" id="256" r:id="R207683450f274491"/>
    <p:sldId xmlns:r="http://schemas.openxmlformats.org/officeDocument/2006/relationships" id="257" r:id="Rdbb392f8972b465f"/>
    <p:sldId xmlns:r="http://schemas.openxmlformats.org/officeDocument/2006/relationships" id="258" r:id="Re4af6b4be0844462"/>
    <p:sldId xmlns:r="http://schemas.openxmlformats.org/officeDocument/2006/relationships" id="259" r:id="Rad4cf6e3fb284aff"/>
    <p:sldId xmlns:r="http://schemas.openxmlformats.org/officeDocument/2006/relationships" id="260" r:id="Rf7b6ac72c5f3412c"/>
    <p:sldId xmlns:r="http://schemas.openxmlformats.org/officeDocument/2006/relationships" id="261" r:id="R9b35d35f56b9437f"/>
    <p:sldId xmlns:r="http://schemas.openxmlformats.org/officeDocument/2006/relationships" id="262" r:id="Rb30ae94d04164961"/>
    <p:sldId xmlns:r="http://schemas.openxmlformats.org/officeDocument/2006/relationships" id="263" r:id="R27194a658c204948"/>
    <p:sldId xmlns:r="http://schemas.openxmlformats.org/officeDocument/2006/relationships" id="264" r:id="R35880f16363c4ab6"/>
    <p:sldId xmlns:r="http://schemas.openxmlformats.org/officeDocument/2006/relationships" id="265" r:id="Rb31d09fc72894307"/>
    <p:sldId xmlns:r="http://schemas.openxmlformats.org/officeDocument/2006/relationships" id="266" r:id="R4e1405887fb44f47"/>
    <p:sldId xmlns:r="http://schemas.openxmlformats.org/officeDocument/2006/relationships" id="267" r:id="R9d54d957c89a441e"/>
    <p:sldId xmlns:r="http://schemas.openxmlformats.org/officeDocument/2006/relationships" id="268" r:id="Rb6fd316df3dd4bc7"/>
    <p:sldId xmlns:r="http://schemas.openxmlformats.org/officeDocument/2006/relationships" id="269" r:id="Re17d3988ae9943d2"/>
    <p:sldId xmlns:r="http://schemas.openxmlformats.org/officeDocument/2006/relationships" id="270" r:id="R0cf4ce253ac94084"/>
    <p:sldId xmlns:r="http://schemas.openxmlformats.org/officeDocument/2006/relationships" id="271" r:id="Ra6f08ca35ab64221"/>
    <p:sldId xmlns:r="http://schemas.openxmlformats.org/officeDocument/2006/relationships" id="272" r:id="Re071947ed97e43e8"/>
    <p:sldId xmlns:r="http://schemas.openxmlformats.org/officeDocument/2006/relationships" id="273" r:id="R4e6d41e1d3dd4933"/>
    <p:sldId xmlns:r="http://schemas.openxmlformats.org/officeDocument/2006/relationships" id="274" r:id="R8ed0f54205dd4d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a11d8fb5564088" /><Relationship Type="http://schemas.openxmlformats.org/officeDocument/2006/relationships/slideMaster" Target="/ppt/slideMasters/slideMaster1.xml" Id="Rca22549b38cf4d42" /><Relationship Type="http://schemas.openxmlformats.org/officeDocument/2006/relationships/notesMaster" Target="/ppt/notesMasters/notesMaster1.xml" Id="R1f41bb70d0ca465b" /><Relationship Type="http://schemas.openxmlformats.org/officeDocument/2006/relationships/presProps" Target="/ppt/presProps.xml" Id="R2516bc9e867447e4" /><Relationship Type="http://schemas.openxmlformats.org/officeDocument/2006/relationships/tableStyles" Target="/ppt/tableStyles.xml" Id="R3530e8c5dcdc47ff" /><Relationship Type="http://schemas.openxmlformats.org/officeDocument/2006/relationships/slide" Target="/ppt/slides/slide1.xml" Id="R207683450f274491" /><Relationship Type="http://schemas.openxmlformats.org/officeDocument/2006/relationships/slide" Target="/ppt/slides/slide2.xml" Id="Rdbb392f8972b465f" /><Relationship Type="http://schemas.openxmlformats.org/officeDocument/2006/relationships/slide" Target="/ppt/slides/slide3.xml" Id="Re4af6b4be0844462" /><Relationship Type="http://schemas.openxmlformats.org/officeDocument/2006/relationships/slide" Target="/ppt/slides/slide4.xml" Id="Rad4cf6e3fb284aff" /><Relationship Type="http://schemas.openxmlformats.org/officeDocument/2006/relationships/slide" Target="/ppt/slides/slide5.xml" Id="Rf7b6ac72c5f3412c" /><Relationship Type="http://schemas.openxmlformats.org/officeDocument/2006/relationships/slide" Target="/ppt/slides/slide6.xml" Id="R9b35d35f56b9437f" /><Relationship Type="http://schemas.openxmlformats.org/officeDocument/2006/relationships/slide" Target="/ppt/slides/slide7.xml" Id="Rb30ae94d04164961" /><Relationship Type="http://schemas.openxmlformats.org/officeDocument/2006/relationships/slide" Target="/ppt/slides/slide8.xml" Id="R27194a658c204948" /><Relationship Type="http://schemas.openxmlformats.org/officeDocument/2006/relationships/slide" Target="/ppt/slides/slide9.xml" Id="R35880f16363c4ab6" /><Relationship Type="http://schemas.openxmlformats.org/officeDocument/2006/relationships/slide" Target="/ppt/slides/slide10.xml" Id="Rb31d09fc72894307" /><Relationship Type="http://schemas.openxmlformats.org/officeDocument/2006/relationships/slide" Target="/ppt/slides/slide11.xml" Id="R4e1405887fb44f47" /><Relationship Type="http://schemas.openxmlformats.org/officeDocument/2006/relationships/slide" Target="/ppt/slides/slide12.xml" Id="R9d54d957c89a441e" /><Relationship Type="http://schemas.openxmlformats.org/officeDocument/2006/relationships/slide" Target="/ppt/slides/slide13.xml" Id="Rb6fd316df3dd4bc7" /><Relationship Type="http://schemas.openxmlformats.org/officeDocument/2006/relationships/slide" Target="/ppt/slides/slide14.xml" Id="Re17d3988ae9943d2" /><Relationship Type="http://schemas.openxmlformats.org/officeDocument/2006/relationships/slide" Target="/ppt/slides/slide15.xml" Id="R0cf4ce253ac94084" /><Relationship Type="http://schemas.openxmlformats.org/officeDocument/2006/relationships/slide" Target="/ppt/slides/slide16.xml" Id="Ra6f08ca35ab64221" /><Relationship Type="http://schemas.openxmlformats.org/officeDocument/2006/relationships/slide" Target="/ppt/slides/slide17.xml" Id="Re071947ed97e43e8" /><Relationship Type="http://schemas.openxmlformats.org/officeDocument/2006/relationships/slide" Target="/ppt/slides/slide18.xml" Id="R4e6d41e1d3dd4933" /><Relationship Type="http://schemas.openxmlformats.org/officeDocument/2006/relationships/slide" Target="/ppt/slides/slide19.xml" Id="R8ed0f54205dd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2da78cdda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63fc62278941fb" /><Relationship Type="http://schemas.openxmlformats.org/officeDocument/2006/relationships/notesMaster" Target="/ppt/notesMasters/notesMaster1.xml" Id="R00144c2bf72b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9982046d247a0" /><Relationship Type="http://schemas.openxmlformats.org/officeDocument/2006/relationships/notesMaster" Target="/ppt/notesMasters/notesMaster1.xml" Id="R01ef1a8fa859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6e6c89115a4aca" /><Relationship Type="http://schemas.openxmlformats.org/officeDocument/2006/relationships/notesMaster" Target="/ppt/notesMasters/notesMaster1.xml" Id="Rc9ad86da648d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5e06a58254b30" /><Relationship Type="http://schemas.openxmlformats.org/officeDocument/2006/relationships/notesMaster" Target="/ppt/notesMasters/notesMaster1.xml" Id="R539395ffdda549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00a4f5b354c4c" /><Relationship Type="http://schemas.openxmlformats.org/officeDocument/2006/relationships/notesMaster" Target="/ppt/notesMasters/notesMaster1.xml" Id="R9d99d1f168fa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d060b5975e43bd" /><Relationship Type="http://schemas.openxmlformats.org/officeDocument/2006/relationships/notesMaster" Target="/ppt/notesMasters/notesMaster1.xml" Id="R06e6960704e44c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711f7eb1f44fe" /><Relationship Type="http://schemas.openxmlformats.org/officeDocument/2006/relationships/notesMaster" Target="/ppt/notesMasters/notesMaster1.xml" Id="R0395c73e87c344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657bd2d6984875" /><Relationship Type="http://schemas.openxmlformats.org/officeDocument/2006/relationships/notesMaster" Target="/ppt/notesMasters/notesMaster1.xml" Id="Rc1cd9e59aa374a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a8fe02c7b40c3" /><Relationship Type="http://schemas.openxmlformats.org/officeDocument/2006/relationships/notesMaster" Target="/ppt/notesMasters/notesMaster1.xml" Id="R8086ae68a86b48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5eba323f82480c" /><Relationship Type="http://schemas.openxmlformats.org/officeDocument/2006/relationships/notesMaster" Target="/ppt/notesMasters/notesMaster1.xml" Id="Rce3994c464d54f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97a21043d946e1" /><Relationship Type="http://schemas.openxmlformats.org/officeDocument/2006/relationships/notesMaster" Target="/ppt/notesMasters/notesMaster1.xml" Id="R2b7e6735edab4c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f4d5dd19c8486a" /><Relationship Type="http://schemas.openxmlformats.org/officeDocument/2006/relationships/notesMaster" Target="/ppt/notesMasters/notesMaster1.xml" Id="Re76b204dad214a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6354086ff4b80" /><Relationship Type="http://schemas.openxmlformats.org/officeDocument/2006/relationships/notesMaster" Target="/ppt/notesMasters/notesMaster1.xml" Id="R5e3f48202fff45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c78600e7ed41c1" /><Relationship Type="http://schemas.openxmlformats.org/officeDocument/2006/relationships/notesMaster" Target="/ppt/notesMasters/notesMaster1.xml" Id="Rf18d1499d03943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6e998e3cae4f8a" /><Relationship Type="http://schemas.openxmlformats.org/officeDocument/2006/relationships/notesMaster" Target="/ppt/notesMasters/notesMaster1.xml" Id="R5e439f8f9d0c47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0250752e3540b1" /><Relationship Type="http://schemas.openxmlformats.org/officeDocument/2006/relationships/notesMaster" Target="/ppt/notesMasters/notesMaster1.xml" Id="Re23a4dec690d49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0ad132bd2b4c7d" /><Relationship Type="http://schemas.openxmlformats.org/officeDocument/2006/relationships/notesMaster" Target="/ppt/notesMasters/notesMaster1.xml" Id="Rf3f31b26ae1941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3b62b9a2834fd2" /><Relationship Type="http://schemas.openxmlformats.org/officeDocument/2006/relationships/notesMaster" Target="/ppt/notesMasters/notesMaster1.xml" Id="Rdf6ef18d5d0746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9aa70ee9434160" /><Relationship Type="http://schemas.openxmlformats.org/officeDocument/2006/relationships/notesMaster" Target="/ppt/notesMasters/notesMaster1.xml" Id="Re9b85413086240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examples/production-path-tutorial/expected/semantic-core.json</a:t>
            </a:r>
          </a:p>
          <a:p xmlns:a="http://schemas.openxmlformats.org/drawingml/2006/main">
            <a:r>
              <a:t>- tools/product5_shell/assets-register.json — P5-GEN-001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examples/production-path-tutorial/input/customer-voices.md — six synthetic voices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examples/production-path-tutorial/expected/product1-competition-study.md</a:t>
            </a:r>
          </a:p>
          <a:p xmlns:a="http://schemas.openxmlformats.org/drawingml/2006/main">
            <a:r>
              <a:t>- examples/production-path-tutorial/expected/product2-buyer-decision-study.md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examples/production-path-tutorial/expected/product3-chapter2-contract.json — DIM-ACCESS</a:t>
            </a:r>
          </a:p>
          <a:p xmlns:a="http://schemas.openxmlformats.org/drawingml/2006/main">
            <a:r>
              <a:t>- examples/production-path-tutorial/expected/product1-competition-study.md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examples/production-path-tutorial/expected/product3-chapter2-contract.json — DIM-CONTINUITY</a:t>
            </a:r>
          </a:p>
          <a:p xmlns:a="http://schemas.openxmlformats.org/drawingml/2006/main">
            <a:r>
              <a:t>- examples/production-path-tutorial/expected/product1-competition-study.md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examples/production-path-tutorial/expected/product2-buyer-decision-study.md — continue waiting</a:t>
            </a:r>
          </a:p>
          <a:p xmlns:a="http://schemas.openxmlformats.org/drawingml/2006/main">
            <a:r>
              <a:t>- examples/production-path-tutorial/expected/product3-chapter2-contract.json — DIM-FLEX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examples/production-path-tutorial/expected/product1-competition-study.md</a:t>
            </a:r>
          </a:p>
          <a:p xmlns:a="http://schemas.openxmlformats.org/drawingml/2006/main">
            <a:r>
              <a:t>- examples/production-path-tutorial/expected/product3-chapter2-contract.json — super_competitiveness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examples/production-path-tutorial/expected/product3-chapter2-contract.json — value_anchor</a:t>
            </a:r>
          </a:p>
          <a:p xmlns:a="http://schemas.openxmlformats.org/drawingml/2006/main">
            <a:r>
              <a:t>- tools/product5_shell/assets-register.json — P5-GEN-002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core/06-产物3从竞争策略到UE解决方案.md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examples/production-path-tutorial/expected/product3-chapter2-contract.json</a:t>
            </a:r>
          </a:p>
          <a:p xmlns:a="http://schemas.openxmlformats.org/drawingml/2006/main">
            <a:r>
              <a:t>- examples/production-path-tutorial/expected/product3-chapter3-contract.json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examples/production-path-tutorial/expected/product3-chapter3-contract.json — SC-ACCESS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examples/production-path-tutorial/expected/product3-chapter3-contract.json — SC-CONTINUITY</a:t>
            </a:r>
          </a:p>
          <a:p xmlns:a="http://schemas.openxmlformats.org/drawingml/2006/main">
            <a:r>
              <a:t>- tools/product5_shell/assets-register.json — P5-GEN-003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examples/production-path-tutorial/expected/product3-chapter3-contract.json — SC-FLEXIBILITY</a:t>
            </a:r>
          </a:p>
          <a:p xmlns:a="http://schemas.openxmlformats.org/drawingml/2006/main">
            <a:r>
              <a:t>- tools/product5_shell/assets-register.json — P5-GEN-006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examples/production-path-tutorial/expected/product2-buyer-decision-study.md</a:t>
            </a:r>
          </a:p>
          <a:p xmlns:a="http://schemas.openxmlformats.org/drawingml/2006/main">
            <a:r>
              <a:t>- tools/product5_shell/assets-register.json — P5-GEN-005, P5-GEN-004, P5-GEN-007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examples/production-path-tutorial/expected/product2-buyer-decision-study.md — family-space task</a:t>
            </a:r>
          </a:p>
          <a:p xmlns:a="http://schemas.openxmlformats.org/drawingml/2006/main">
            <a:r>
              <a:t>- examples/production-path-tutorial/expected/product3-chapter3-contract.json — family_routes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examples/production-path-tutorial/expected/product3-chapter3-contract.json — system_modules</a:t>
            </a:r>
          </a:p>
          <a:p xmlns:a="http://schemas.openxmlformats.org/drawingml/2006/main">
            <a:r>
              <a:t>- core/08-产物5交互蓝图.md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examples/gold-product5-public-safe/qa/desktop-city-1600x900.png</a:t>
            </a:r>
          </a:p>
          <a:p xmlns:a="http://schemas.openxmlformats.org/drawingml/2006/main">
            <a:r>
              <a:t>- examples/gold-product5-public-safe/qa/design-qa.md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examples/gold-product5-public-safe/qa/desktop-advisor-result-1600x900.png</a:t>
            </a:r>
          </a:p>
          <a:p xmlns:a="http://schemas.openxmlformats.org/drawingml/2006/main">
            <a:r>
              <a:t>- examples/gold-product5-public-safe/qa/mobile-family-flex-390x844.png</a:t>
            </a:r>
          </a:p>
          <a:p xmlns:a="http://schemas.openxmlformats.org/drawingml/2006/main">
            <a:r>
              <a:t>- tools/product5_shell/public/project-data.js — advisor 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examples/production-path-tutorial/expected/product3-chapter2-contract.json</a:t>
            </a:r>
          </a:p>
          <a:p xmlns:a="http://schemas.openxmlformats.org/drawingml/2006/main">
            <a:r>
              <a:t>- examples/production-path-tutorial/expected/product3-chapter3-contract.json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f95ab3b31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01b09e0834fb9" /><Relationship Type="http://schemas.openxmlformats.org/officeDocument/2006/relationships/slideLayout" Target="/ppt/slideLayouts/slideLayout1.xml" Id="Rd960d5b3a62c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0d5b3a62c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cdd2d5dcb4225" /><Relationship Type="http://schemas.openxmlformats.org/officeDocument/2006/relationships/image" Target="/ppt/media/image.png" Id="R90978d4391f74911" /><Relationship Type="http://schemas.openxmlformats.org/officeDocument/2006/relationships/notesSlide" Target="/ppt/notesSlides/notesSlide1.xml" Id="Rf69bec134d6e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60fb371c24d09" /><Relationship Type="http://schemas.openxmlformats.org/officeDocument/2006/relationships/notesSlide" Target="/ppt/notesSlides/notesSlide2.xml" Id="R616dc02c100449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8a17c3a884473" /><Relationship Type="http://schemas.openxmlformats.org/officeDocument/2006/relationships/notesSlide" Target="/ppt/notesSlides/notesSlide3.xml" Id="R9aa814c8fed6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95b3066a740e6" /><Relationship Type="http://schemas.openxmlformats.org/officeDocument/2006/relationships/notesSlide" Target="/ppt/notesSlides/notesSlide4.xml" Id="Raa1e7ee2d93247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431b82fa2418b" /><Relationship Type="http://schemas.openxmlformats.org/officeDocument/2006/relationships/notesSlide" Target="/ppt/notesSlides/notesSlide5.xml" Id="R8de7a30b6c3c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0eed059dc4985" /><Relationship Type="http://schemas.openxmlformats.org/officeDocument/2006/relationships/notesSlide" Target="/ppt/notesSlides/notesSlide6.xml" Id="R6f9b0aa088f34e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07d875a5c47c1" /><Relationship Type="http://schemas.openxmlformats.org/officeDocument/2006/relationships/notesSlide" Target="/ppt/notesSlides/notesSlide7.xml" Id="Ra92205a5e09f41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c0039ec984d83" /><Relationship Type="http://schemas.openxmlformats.org/officeDocument/2006/relationships/image" Target="/ppt/media/image2.png" Id="R821e9cc0e1614871" /><Relationship Type="http://schemas.openxmlformats.org/officeDocument/2006/relationships/notesSlide" Target="/ppt/notesSlides/notesSlide8.xml" Id="R2bac1f4fa8084b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d9a341df24c68" /><Relationship Type="http://schemas.openxmlformats.org/officeDocument/2006/relationships/notesSlide" Target="/ppt/notesSlides/notesSlide9.xml" Id="R17b5f9dabe0341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44a2a6155477b" /><Relationship Type="http://schemas.openxmlformats.org/officeDocument/2006/relationships/notesSlide" Target="/ppt/notesSlides/notesSlide10.xml" Id="R981bbb015e894a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3cdedd4842e3" /><Relationship Type="http://schemas.openxmlformats.org/officeDocument/2006/relationships/notesSlide" Target="/ppt/notesSlides/notesSlide11.xml" Id="R595b4bcb2a6441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476bac8ba46d2" /><Relationship Type="http://schemas.openxmlformats.org/officeDocument/2006/relationships/image" Target="/ppt/media/image3.png" Id="Ra364b182b5674d30" /><Relationship Type="http://schemas.openxmlformats.org/officeDocument/2006/relationships/notesSlide" Target="/ppt/notesSlides/notesSlide12.xml" Id="R9b72aa241bc748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ca17a609a4f9b" /><Relationship Type="http://schemas.openxmlformats.org/officeDocument/2006/relationships/image" Target="/ppt/media/image4.png" Id="Rebff24a60d094214" /><Relationship Type="http://schemas.openxmlformats.org/officeDocument/2006/relationships/notesSlide" Target="/ppt/notesSlides/notesSlide13.xml" Id="R0d820e44bc6040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5ce6e924c44d5" /><Relationship Type="http://schemas.openxmlformats.org/officeDocument/2006/relationships/image" Target="/ppt/media/image5.png" Id="R5045892a1ae94637" /><Relationship Type="http://schemas.openxmlformats.org/officeDocument/2006/relationships/image" Target="/ppt/media/image6.png" Id="Rb3b29da6ff3d4a01" /><Relationship Type="http://schemas.openxmlformats.org/officeDocument/2006/relationships/image" Target="/ppt/media/image7.png" Id="R6021cba0f1cf4692" /><Relationship Type="http://schemas.openxmlformats.org/officeDocument/2006/relationships/notesSlide" Target="/ppt/notesSlides/notesSlide14.xml" Id="Re81e820467354e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d5f288b0d4b53" /><Relationship Type="http://schemas.openxmlformats.org/officeDocument/2006/relationships/notesSlide" Target="/ppt/notesSlides/notesSlide15.xml" Id="Rb5cdd3e20a1e4b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c9f1cf5f943d2" /><Relationship Type="http://schemas.openxmlformats.org/officeDocument/2006/relationships/notesSlide" Target="/ppt/notesSlides/notesSlide16.xml" Id="R9d3f4e29b68f40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2262704e6424f" /><Relationship Type="http://schemas.openxmlformats.org/officeDocument/2006/relationships/image" Target="/ppt/media/image8.png" Id="R45b9a912581a443a" /><Relationship Type="http://schemas.openxmlformats.org/officeDocument/2006/relationships/notesSlide" Target="/ppt/notesSlides/notesSlide17.xml" Id="R84bea2f361fd48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b0faf44114136" /><Relationship Type="http://schemas.openxmlformats.org/officeDocument/2006/relationships/image" Target="/ppt/media/image9.png" Id="R206c1ac9e87e4042" /><Relationship Type="http://schemas.openxmlformats.org/officeDocument/2006/relationships/image" Target="/ppt/media/image10.png" Id="Rc79c4dec1f274cd2" /><Relationship Type="http://schemas.openxmlformats.org/officeDocument/2006/relationships/notesSlide" Target="/ppt/notesSlides/notesSlide18.xml" Id="R1f7000b3b82742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1e98aaf6247db" /><Relationship Type="http://schemas.openxmlformats.org/officeDocument/2006/relationships/notesSlide" Target="/ppt/notesSlides/notesSlide19.xml" Id="R937957fca9ab40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78d4391f749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3ABD2A77-C1F2-4A34-BCBF-484066A8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A15">
                  <a:alpha val="96000"/>
                </a:srgbClr>
              </a:gs>
              <a:gs pos="48000">
                <a:srgbClr val="061A15">
                  <a:alpha val="68000"/>
                </a:srgbClr>
              </a:gs>
              <a:gs pos="100000">
                <a:srgbClr val="061A15">
                  <a:alpha val="1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07EEC1E-2BA7-4461-B48C-A90B6351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B56D"/>
                </a:solidFill>
              </a:defRPr>
            </a:pPr>
            <a:r>
              <a:rPr sz="1125" b="1">
                <a:solidFill>
                  <a:srgbClr val="D8B56D"/>
                </a:solidFill>
              </a:rPr>
              <a:t>青岚澄境 · 全量虚构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649567D-0DD2-4EF3-8382-88BD3A7F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6F2E8"/>
                </a:solidFill>
              </a:defRPr>
            </a:pPr>
            <a:r>
              <a:rPr sz="4800" b="1">
                <a:solidFill>
                  <a:srgbClr val="F6F2E8"/>
                </a:solidFill>
              </a:rPr>
              <a:t>双节点生活里的</a:t>
            </a:r>
          </a:p>
          <a:p xmlns:a="http://schemas.openxmlformats.org/drawingml/2006/main">
            <a:pPr algn="l">
              <a:defRPr sz="4800" b="1">
                <a:solidFill>
                  <a:srgbClr val="F6F2E8"/>
                </a:solidFill>
              </a:defRPr>
            </a:pPr>
            <a:r>
              <a:rPr sz="4800" b="1">
                <a:solidFill>
                  <a:srgbClr val="F6F2E8"/>
                </a:solidFill>
              </a:rPr>
              <a:t>低密改善选择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5471EFC-F38D-48A9-8337-6C8BDCBB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8DE"/>
                </a:solidFill>
              </a:defRPr>
            </a:pPr>
            <a:r>
              <a:rPr sz="1875" b="0">
                <a:solidFill>
                  <a:srgbClr val="D6E8DE"/>
                </a:solidFill>
              </a:rPr>
              <a:t>住宅UE售前解决方案与销讲展示策略</a:t>
            </a:r>
          </a:p>
        </p:txBody>
      </p:sp>
      <p:sp>
        <p:nvSpPr>
          <p:cNvPr id="6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995CA56B-48D0-4F47-9E94-E0592375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56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62934D-A4E2-4C08-A5CB-7D57CF65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CEC7"/>
                </a:solidFill>
              </a:defRPr>
            </a:pPr>
            <a:r>
              <a:rPr sz="1500" b="0">
                <a:solidFill>
                  <a:srgbClr val="C6CEC7"/>
                </a:solidFill>
              </a:rPr>
              <a:t>让位置可比较，让低密可体验，让家庭选择可推进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94D026-C83E-4387-927F-84A55556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5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6CEC7"/>
                </a:solidFill>
              </a:defRPr>
            </a:pPr>
            <a:r>
              <a:rPr sz="900" b="0">
                <a:solidFill>
                  <a:srgbClr val="C6CEC7"/>
                </a:solidFill>
              </a:rPr>
              <a:t>公开安全黄金参考</a:t>
            </a:r>
          </a:p>
        </p:txBody>
      </p:sp>
    </p:spTree>
    <p:extLst>
      <p:ext uri="{BB962C8B-B14F-4D97-AF65-F5344CB8AC3E}">
        <p14:creationId xmlns:p14="http://schemas.microsoft.com/office/powerpoint/2010/main" val="78400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04F0D3F-35B2-4DBE-8A4B-7CFE0281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客户声音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46E67B-65C9-4AD3-8880-8478EA1C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</a:defRPr>
            </a:pPr>
            <a:r>
              <a:rPr sz="2850" b="1">
                <a:solidFill>
                  <a:srgbClr val="F6F2E8"/>
                </a:solidFill>
              </a:rPr>
              <a:t>六条有限声音只承担一项职责：识别三项选择条件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5B2F0D4D-5137-461F-AB72-E18B4776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9720A9B-E8BC-412E-A02B-5137D7C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4E22ADDC-DEAC-4DA7-8770-26F9CA8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6FB971-2F84-44A2-BC49-4CE65467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02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FBC08B6E-21A1-4D44-8CFD-58913D6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8DE">
                <a:alpha val="24000"/>
              </a:srgbClr>
            </a:solidFill>
            <a:prstDash val="solid"/>
          </a:ln>
        </p:spPr>
      </p:sp>
      <p:sp>
        <p:nvSpPr>
          <p:cNvPr id="8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47EC3441-1C8D-48D1-A840-B0B8525C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8DE">
                <a:alpha val="2400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0BEDBF-D114-4B16-A0AC-4C41512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56D"/>
                </a:solidFill>
              </a:defRPr>
            </a:pPr>
            <a:r>
              <a:rPr sz="1650" b="1">
                <a:solidFill>
                  <a:srgbClr val="D8B56D"/>
                </a:solidFill>
              </a:rPr>
              <a:t>家庭时间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B8C536-3032-4A50-891E-7F006E42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</a:defRPr>
            </a:pPr>
            <a:r>
              <a:rPr sz="1500" b="0">
                <a:solidFill>
                  <a:srgbClr val="F6F2E8"/>
                </a:solidFill>
              </a:rPr>
              <a:t>“房子可以远一点，但每天的时间不能完全押在一条路上。”</a:t>
            </a:r>
          </a:p>
        </p:txBody>
      </p:sp>
      <p:sp>
        <p:nvSpPr>
          <p:cNvPr id="11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8C5F10BC-3C9A-48C8-87A8-565BD909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D">
                <a:alpha val="60000"/>
              </a:srgbClr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BA8B2B-C1DE-4EE1-AD53-03DD5D76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CEC7"/>
                </a:solidFill>
              </a:defRPr>
            </a:pPr>
            <a:r>
              <a:rPr sz="1500" b="0">
                <a:solidFill>
                  <a:srgbClr val="C6CEC7"/>
                </a:solidFill>
              </a:rPr>
              <a:t>“学校如果只是规划，就别当成我买房的理由。”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BB09862-264F-4C90-A8F3-E2C1817E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56D"/>
                </a:solidFill>
              </a:defRPr>
            </a:pPr>
            <a:r>
              <a:rPr sz="1650" b="1">
                <a:solidFill>
                  <a:srgbClr val="D8B56D"/>
                </a:solidFill>
              </a:rPr>
              <a:t>低密怎样被使用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6035B7-652C-4A32-A171-9633FA5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</a:defRPr>
            </a:pPr>
            <a:r>
              <a:rPr sz="1500" b="0">
                <a:solidFill>
                  <a:srgbClr val="F6F2E8"/>
                </a:solidFill>
              </a:rPr>
              <a:t>“如果只是环境好，我不会为了低密多走那么远。”</a:t>
            </a:r>
          </a:p>
        </p:txBody>
      </p:sp>
      <p:sp>
        <p:nvSpPr>
          <p:cNvPr id="15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AFBB008A-8C01-425B-8905-0EDF2F5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D">
                <a:alpha val="60000"/>
              </a:srgbClr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687927-FF5F-4104-B4FF-B4D6DC7B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CEC7"/>
                </a:solidFill>
              </a:defRPr>
            </a:pPr>
            <a:r>
              <a:rPr sz="1500" b="0">
                <a:solidFill>
                  <a:srgbClr val="C6CEC7"/>
                </a:solidFill>
              </a:rPr>
              <a:t>“园林和地下空间，最好让我一次看懂怎么走、怎么用。”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A968864-9B0B-416C-B4EA-66D45264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56D"/>
                </a:solidFill>
              </a:defRPr>
            </a:pPr>
            <a:r>
              <a:rPr sz="1650" b="1">
                <a:solidFill>
                  <a:srgbClr val="D8B56D"/>
                </a:solidFill>
              </a:rPr>
              <a:t>家庭弹性与等待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2F03759-5346-4FD6-90AC-5DF66466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</a:defRPr>
            </a:pPr>
            <a:r>
              <a:rPr sz="1500" b="0">
                <a:solidFill>
                  <a:srgbClr val="F6F2E8"/>
                </a:solidFill>
              </a:rPr>
              <a:t>“父母一年会来住几个月，最好各自有卫生间。”</a:t>
            </a:r>
          </a:p>
        </p:txBody>
      </p:sp>
      <p:sp>
        <p:nvSpPr>
          <p:cNvPr id="19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77B8B787-39F8-4E1D-BF3E-85C5B90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D">
                <a:alpha val="60000"/>
              </a:srgbClr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00986C7-DEEC-4B61-8364-B02D0828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CEC7"/>
                </a:solidFill>
              </a:defRPr>
            </a:pPr>
            <a:r>
              <a:rPr sz="1500" b="0">
                <a:solidFill>
                  <a:srgbClr val="C6CEC7"/>
                </a:solidFill>
              </a:rPr>
              <a:t>“价格还没出来，我不着急定，多看看也没有损失。”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6AFEA82-8604-464C-B0E5-E21DC44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CEBC"/>
                </a:solidFill>
              </a:defRPr>
            </a:pPr>
            <a:r>
              <a:rPr sz="1275" b="1">
                <a:solidFill>
                  <a:srgbClr val="A8CEBC"/>
                </a:solidFill>
              </a:rPr>
              <a:t>这些声音只揭示比较机制：路径要同时成立、低密要进入每天、家庭空间要先关闭适配。</a:t>
            </a:r>
          </a:p>
        </p:txBody>
      </p:sp>
    </p:spTree>
    <p:extLst>
      <p:ext uri="{BB962C8B-B14F-4D97-AF65-F5344CB8AC3E}">
        <p14:creationId xmlns:p14="http://schemas.microsoft.com/office/powerpoint/2010/main" val="1898254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17321BF4-02D5-4635-B673-98326979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客户选择局面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E77B3F-EEC6-4970-ABCA-8BAF9555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128"/>
                </a:solidFill>
              </a:defRPr>
            </a:pPr>
            <a:r>
              <a:rPr sz="3000" b="1">
                <a:solidFill>
                  <a:srgbClr val="153128"/>
                </a:solidFill>
              </a:rPr>
              <a:t>本案面对三套成立的选择逻辑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6DF35E7E-B4D8-4FDF-9C83-93B22DA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C3B20FDB-E7BE-4979-81F2-A93F739E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C58E8771-84FF-4DA2-967C-EDE57914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BC6A65-3554-40C6-8F6E-8749495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03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67C89EBC-643D-43C2-9C00-6836E02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667000" y="2324100"/>
            <a:ext cx="34290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269">
                <a:alpha val="48000"/>
              </a:srgbClr>
            </a:solidFill>
            <a:prstDash val="solid"/>
          </a:ln>
        </p:spPr>
      </p:sp>
      <p:sp>
        <p:nvSpPr>
          <p:cNvPr id="8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669E0DA-1387-4837-B5B5-32EAE1E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2324100"/>
            <a:ext cx="34290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269">
                <a:alpha val="48000"/>
              </a:srgbClr>
            </a:solidFill>
            <a:prstDash val="solid"/>
          </a:ln>
        </p:spPr>
      </p:sp>
      <p:sp>
        <p:nvSpPr>
          <p:cNvPr id="9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7FE3A44A-AA9B-4B73-A895-CEE13B17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269">
                <a:alpha val="48000"/>
              </a:srgbClr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142C7678-FD62-4556-A1CE-0A2A9C4A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238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88FF5EA-C400-44A5-A84C-3E4888C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128"/>
                </a:solidFill>
              </a:defRPr>
            </a:pPr>
            <a:r>
              <a:rPr sz="1950" b="1">
                <a:solidFill>
                  <a:srgbClr val="153128"/>
                </a:solidFill>
              </a:rPr>
              <a:t>北湾府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BB8EF0-2E75-43A9-A803-2F9E4C3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成熟轨道与配套</a:t>
            </a:r>
          </a:p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降低每天的不确定性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2AF826F3-B74A-47B5-B000-226B0A25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238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F4252D-EDDF-482A-A41D-899B28F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128"/>
                </a:solidFill>
              </a:defRPr>
            </a:pPr>
            <a:r>
              <a:rPr sz="1950" b="1">
                <a:solidFill>
                  <a:srgbClr val="153128"/>
                </a:solidFill>
              </a:rPr>
              <a:t>栖霞里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7AB6322-3785-4862-85BF-72707E62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更低容积率与已开放会所</a:t>
            </a:r>
          </a:p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让低密体验现在可见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714D5231-E259-43FD-BE2E-1C24B42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32385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10372B"/>
          </a:solidFill>
          <a:ln xmlns:a="http://schemas.openxmlformats.org/drawingml/2006/main" w="19050">
            <a:solidFill>
              <a:srgbClr val="D8B56D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A08A334-3BBC-491D-89D1-ED91800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6F2E8"/>
                </a:solidFill>
              </a:defRPr>
            </a:pPr>
            <a:r>
              <a:rPr sz="2325" b="1">
                <a:solidFill>
                  <a:srgbClr val="F6F2E8"/>
                </a:solidFill>
              </a:rPr>
              <a:t>青岚澄境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175AF17-CCA5-4883-BE2F-537D16BD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6E8DE"/>
                </a:solidFill>
              </a:defRPr>
            </a:pPr>
            <a:r>
              <a:rPr sz="1200" b="0">
                <a:solidFill>
                  <a:srgbClr val="D6E8DE"/>
                </a:solidFill>
              </a:rPr>
              <a:t>双节点路径 × 连续归家 × 家庭弹性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5EC73BDA-FEDD-4DC9-A021-7D76D78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238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D9D1C1"/>
          </a:solidFill>
          <a:ln xmlns:a="http://schemas.openxmlformats.org/drawingml/2006/main" w="9525">
            <a:solidFill>
              <a:srgbClr val="153128">
                <a:alpha val="14000"/>
              </a:srgbClr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0CF2061-66AF-4D2D-B976-75D2A157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继续居住并等待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99ED5D0-0919-4B4E-B21E-ADBBA0E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269"/>
                </a:solidFill>
              </a:defRPr>
            </a:pPr>
            <a:r>
              <a:rPr sz="1200" b="0">
                <a:solidFill>
                  <a:srgbClr val="607269"/>
                </a:solidFill>
              </a:rPr>
              <a:t>保留现金流与选择权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362E9A2-C37B-4AF1-B787-03CA001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372B"/>
                </a:solidFill>
              </a:defRPr>
            </a:pPr>
            <a:r>
              <a:rPr sz="1350" b="1">
                <a:solidFill>
                  <a:srgbClr val="10372B"/>
                </a:solidFill>
              </a:rPr>
              <a:t>本案必须同时回答：为什么值得进入、凭什么赢得比较、现在还能先推进什么。</a:t>
            </a:r>
          </a:p>
        </p:txBody>
      </p:sp>
    </p:spTree>
    <p:extLst>
      <p:ext uri="{BB962C8B-B14F-4D97-AF65-F5344CB8AC3E}">
        <p14:creationId xmlns:p14="http://schemas.microsoft.com/office/powerpoint/2010/main" val="94635177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15"/>
            </a:gs>
            <a:gs pos="62000">
              <a:srgbClr val="10372B"/>
            </a:gs>
            <a:gs pos="100000">
              <a:srgbClr val="071E1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BF11E51-C813-4619-BDE5-5D3D6F9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竞争地图 01 · 进入候选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76488D-8D0A-4A21-9AA7-80D92941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</a:defRPr>
            </a:pPr>
            <a:r>
              <a:rPr sz="2850" b="1">
                <a:solidFill>
                  <a:srgbClr val="F6F2E8"/>
                </a:solidFill>
              </a:rPr>
              <a:t>两条就业方向同时可接受，新区低密才有资格进入家庭选择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6E8B3DE2-72B8-4A51-A4C9-42B61684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26D476B8-9EAE-4FAF-B8A3-D27F56D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15C9B662-C454-40CE-A689-BD9F52C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02B3B0-CAAC-4A0E-9117-496785E9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04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80A5DE45-A978-447A-A058-FF1CEDE3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762250" y="2381250"/>
            <a:ext cx="2667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EBC">
                <a:alpha val="65000"/>
              </a:srgbClr>
            </a:solidFill>
            <a:prstDash val="dash"/>
          </a:ln>
        </p:spPr>
      </p:sp>
      <p:sp>
        <p:nvSpPr>
          <p:cNvPr id="8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40EEFB4D-DD1C-46EF-A114-E08E3FCE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9250" y="2476500"/>
            <a:ext cx="3429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EBC">
                <a:alpha val="65000"/>
              </a:srgbClr>
            </a:solidFill>
            <a:prstDash val="dash"/>
          </a:ln>
        </p:spPr>
      </p:sp>
      <p:sp>
        <p:nvSpPr>
          <p:cNvPr id="9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47364A84-6E4F-430B-96D2-EA30682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56D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20018684-8EF7-45EE-98D2-F39C7848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85950"/>
            <a:ext cx="20955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FE6">
              <a:alpha val="10000"/>
            </a:srgbClr>
          </a:solidFill>
          <a:ln xmlns:a="http://schemas.openxmlformats.org/drawingml/2006/main" w="9525">
            <a:solidFill>
              <a:srgbClr val="D6E8DE">
                <a:alpha val="30000"/>
              </a:srgbClr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B1FDEA3-6C4A-4A79-BEEC-D96ABC33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52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老城就业方向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675F183-843D-4D91-B2C3-97A81CF0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24765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FE6">
              <a:alpha val="10000"/>
            </a:srgbClr>
          </a:solidFill>
          <a:ln xmlns:a="http://schemas.openxmlformats.org/drawingml/2006/main" w="9525">
            <a:solidFill>
              <a:srgbClr val="D6E8DE">
                <a:alpha val="3000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74E88C-1FBF-4C5C-9DA4-7EEEC2BB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52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东部产业园方向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5FC3F241-1388-4358-8264-EB185FA7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21336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FE6"/>
          </a:solidFill>
          <a:ln xmlns:a="http://schemas.openxmlformats.org/drawingml/2006/main" w="19050">
            <a:solidFill>
              <a:srgbClr val="D8B56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1171B1-7EC7-4E99-BCB1-15E3021D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3128"/>
                </a:solidFill>
              </a:defRPr>
            </a:pPr>
            <a:r>
              <a:rPr sz="2025" b="1">
                <a:solidFill>
                  <a:srgbClr val="153128"/>
                </a:solidFill>
              </a:rPr>
              <a:t>家庭时间表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EAA23BB-E59E-431A-8E48-AEDB7342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6670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84B3B"/>
          </a:solidFill>
          <a:ln xmlns:a="http://schemas.openxmlformats.org/drawingml/2006/main" w="19050">
            <a:solidFill>
              <a:srgbClr val="A8CEB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8CAF55D-C3C7-4D73-8266-531ABFD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</a:defRPr>
            </a:pPr>
            <a:r>
              <a:rPr sz="1950" b="1">
                <a:solidFill>
                  <a:srgbClr val="F6F2E8"/>
                </a:solidFill>
              </a:rPr>
              <a:t>青岚澄境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122AB9F-F622-4DCA-9AF0-33A61C3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10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6E8DE"/>
                </a:solidFill>
              </a:defRPr>
            </a:pPr>
            <a:r>
              <a:rPr sz="1200" b="0">
                <a:solidFill>
                  <a:srgbClr val="D6E8DE"/>
                </a:solidFill>
              </a:rPr>
              <a:t>1.45低密底盘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DAA8CA-2B19-4631-B89B-A565F76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E8DE"/>
                </a:solidFill>
              </a:defRPr>
            </a:pPr>
            <a:r>
              <a:rPr sz="1650" b="1">
                <a:solidFill>
                  <a:srgbClr val="D6E8DE"/>
                </a:solidFill>
              </a:rPr>
              <a:t>北湾府继续占据成熟轨道优势；本案用“双向路径＋低密所得”重设候选标准。</a:t>
            </a:r>
          </a:p>
        </p:txBody>
      </p:sp>
    </p:spTree>
    <p:extLst>
      <p:ext uri="{BB962C8B-B14F-4D97-AF65-F5344CB8AC3E}">
        <p14:creationId xmlns:p14="http://schemas.microsoft.com/office/powerpoint/2010/main" val="1618994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7635FB44-EFC9-432D-8A11-FB6808DB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竞争地图 02 · 赢得比较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3D0668-46EC-4DDD-A93C-34FC322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128"/>
                </a:solidFill>
              </a:defRPr>
            </a:pPr>
            <a:r>
              <a:rPr sz="2850" b="1">
                <a:solidFill>
                  <a:srgbClr val="153128"/>
                </a:solidFill>
              </a:rPr>
              <a:t>会所可见赢在当下，连续归家才能把低密价值带进每天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2E926F9B-01FC-4B51-BB6D-331FE4B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96B0094E-2858-4656-A1C4-E563E5C3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DE837371-3B33-4879-BE7E-F20F4DF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59D3D0-4F2C-4965-9110-F7CBCFA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05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8E90AD-C48A-4F71-A420-E4AD8EAF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128"/>
                </a:solidFill>
              </a:defRPr>
            </a:pPr>
            <a:r>
              <a:rPr sz="2100" b="1">
                <a:solidFill>
                  <a:srgbClr val="153128"/>
                </a:solidFill>
              </a:rPr>
              <a:t>栖霞里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AD7876-3533-4236-9620-D842504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87954"/>
                </a:solidFill>
              </a:defRPr>
            </a:pPr>
            <a:r>
              <a:rPr sz="2700" b="1">
                <a:solidFill>
                  <a:srgbClr val="B87954"/>
                </a:solidFill>
              </a:rPr>
              <a:t>已开放会所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41E8ACC-17D5-47C8-B06B-ED761A64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当前体验更确定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6A0EA8-C856-4BB6-8937-73C4B5E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53128"/>
                </a:solidFill>
              </a:defRPr>
            </a:pPr>
            <a:r>
              <a:rPr sz="2100" b="1">
                <a:solidFill>
                  <a:srgbClr val="153128"/>
                </a:solidFill>
              </a:rPr>
              <a:t>青岚澄境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606907-73CD-41D2-8182-6EFC293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10372B"/>
                </a:solidFill>
              </a:defRPr>
            </a:pPr>
            <a:r>
              <a:rPr sz="2700" b="1">
                <a:solidFill>
                  <a:srgbClr val="10372B"/>
                </a:solidFill>
              </a:rPr>
              <a:t>连续归家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9C9658-6ADB-4BB6-8266-DA0EE26A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每天经过、随时使用</a:t>
            </a:r>
          </a:p>
        </p:txBody>
      </p:sp>
      <p:sp>
        <p:nvSpPr>
          <p:cNvPr id="13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5F97118-F0F9-44FD-8E97-D5160A8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3128">
                <a:alpha val="34000"/>
              </a:srgbClr>
            </a:solidFill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B345942D-367E-4F8F-A753-BD6BB599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219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72B"/>
          </a:solidFill>
          <a:ln xmlns:a="http://schemas.openxmlformats.org/drawingml/2006/main" w="9525">
            <a:solidFill>
              <a:srgbClr val="153128">
                <a:alpha val="22000"/>
              </a:srgbClr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577BFE-AD26-4F45-940D-50CCF43C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B56D"/>
                </a:solidFill>
              </a:defRPr>
            </a:pPr>
            <a:r>
              <a:rPr sz="900" b="1">
                <a:solidFill>
                  <a:srgbClr val="D8B56D"/>
                </a:solidFill>
              </a:rPr>
              <a:t>01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177A09-E24F-4FDC-A557-2D98BFCC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8"/>
                </a:solidFill>
              </a:defRPr>
            </a:pPr>
            <a:r>
              <a:rPr sz="1350" b="1">
                <a:solidFill>
                  <a:srgbClr val="F6F2E8"/>
                </a:solidFill>
              </a:rPr>
              <a:t>到达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75257EB1-9AC7-474C-AA8F-DBF8C6AD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29100"/>
            <a:ext cx="1219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22000"/>
              </a:srgbClr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9D4C47-323F-4910-B305-E2BC8ADB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954"/>
                </a:solidFill>
              </a:defRPr>
            </a:pPr>
            <a:r>
              <a:rPr sz="900" b="1">
                <a:solidFill>
                  <a:srgbClr val="B87954"/>
                </a:solidFill>
              </a:rPr>
              <a:t>02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B4B84AB-2A99-4F34-A719-F4B96A4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196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3128"/>
                </a:solidFill>
              </a:defRPr>
            </a:pPr>
            <a:r>
              <a:rPr sz="1350" b="1">
                <a:solidFill>
                  <a:srgbClr val="153128"/>
                </a:solidFill>
              </a:rPr>
              <a:t>首层园林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F7874C0E-C817-4E7B-A4E9-2F54B8C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1219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2200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FDA02FE-537B-49B6-A47E-230BD1E9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954"/>
                </a:solidFill>
              </a:defRPr>
            </a:pPr>
            <a:r>
              <a:rPr sz="900" b="1">
                <a:solidFill>
                  <a:srgbClr val="B87954"/>
                </a:solidFill>
              </a:rPr>
              <a:t>03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A6C5970-78A3-4EFA-816F-439B223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3128"/>
                </a:solidFill>
              </a:defRPr>
            </a:pPr>
            <a:r>
              <a:rPr sz="1350" b="1">
                <a:solidFill>
                  <a:srgbClr val="153128"/>
                </a:solidFill>
              </a:rPr>
              <a:t>架空层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1E7CD77D-94B6-4531-8329-853A1A4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1219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22000"/>
              </a:srgbClr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42E0533-753B-478C-81F0-6748E4A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7954"/>
                </a:solidFill>
              </a:defRPr>
            </a:pPr>
            <a:r>
              <a:rPr sz="900" b="1">
                <a:solidFill>
                  <a:srgbClr val="B87954"/>
                </a:solidFill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A647E1C-E479-4EAE-B6A0-E110BEA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96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3128"/>
                </a:solidFill>
              </a:defRPr>
            </a:pPr>
            <a:r>
              <a:rPr sz="1350" b="1">
                <a:solidFill>
                  <a:srgbClr val="153128"/>
                </a:solidFill>
              </a:rPr>
              <a:t>地下会所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0CC845D-9F4B-4048-B85E-71F40907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372B"/>
                </a:solidFill>
              </a:defRPr>
            </a:pPr>
            <a:r>
              <a:rPr sz="1500" b="1">
                <a:solidFill>
                  <a:srgbClr val="10372B"/>
                </a:solidFill>
              </a:rPr>
              <a:t>本案承认对手的现时体验优势，以高频日常使用重设低密比较标准。</a:t>
            </a:r>
          </a:p>
        </p:txBody>
      </p:sp>
    </p:spTree>
    <p:extLst>
      <p:ext uri="{BB962C8B-B14F-4D97-AF65-F5344CB8AC3E}">
        <p14:creationId xmlns:p14="http://schemas.microsoft.com/office/powerpoint/2010/main" val="960797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0C187724-406B-476C-80CD-18C4A896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竞争地图 03 · 推进行动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8DCCBA-3F4D-48D8-828A-2E7D2CA1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8"/>
                </a:solidFill>
              </a:defRPr>
            </a:pPr>
            <a:r>
              <a:rPr sz="2775" b="1">
                <a:solidFill>
                  <a:srgbClr val="F6F2E8"/>
                </a:solidFill>
              </a:rPr>
              <a:t>价格未公布时，先关闭空间适配，</a:t>
            </a:r>
          </a:p>
          <a:p xmlns:a="http://schemas.openxmlformats.org/drawingml/2006/main">
            <a:pPr algn="l">
              <a:defRPr sz="2775" b="1">
                <a:solidFill>
                  <a:srgbClr val="F6F2E8"/>
                </a:solidFill>
              </a:defRPr>
            </a:pPr>
            <a:r>
              <a:rPr sz="2775" b="1">
                <a:solidFill>
                  <a:srgbClr val="F6F2E8"/>
                </a:solidFill>
              </a:rPr>
              <a:t>把等待收敛为一次支付判断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F07FF75E-5A5B-45A1-BA32-FED7970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C9511AA1-6707-4311-8AA2-1C88812D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E47AA1F2-B38F-4BA5-85DD-D430D196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F6C268-75BC-4C97-81FD-F5E5CD7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06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2187962B-B0A9-46F9-BE66-4DBB719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764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D">
                <a:alpha val="60000"/>
              </a:srgbClr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EAF6DD-AD1D-4780-8303-4C0890C6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2E8"/>
                </a:solidFill>
              </a:defRPr>
            </a:pPr>
            <a:r>
              <a:rPr sz="2700" b="1">
                <a:solidFill>
                  <a:srgbClr val="F6F2E8"/>
                </a:solidFill>
              </a:rPr>
              <a:t>继续等待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31C04A-4FA1-4956-A950-8B21C592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6CEC7"/>
                </a:solidFill>
              </a:defRPr>
            </a:pPr>
            <a:r>
              <a:rPr sz="1800" b="0">
                <a:solidFill>
                  <a:srgbClr val="C6CEC7"/>
                </a:solidFill>
              </a:rPr>
              <a:t>保留现金流</a:t>
            </a:r>
          </a:p>
          <a:p xmlns:a="http://schemas.openxmlformats.org/drawingml/2006/main">
            <a:pPr algn="l">
              <a:defRPr sz="1800" b="0">
                <a:solidFill>
                  <a:srgbClr val="C6CEC7"/>
                </a:solidFill>
              </a:defRPr>
            </a:pPr>
            <a:r>
              <a:rPr sz="1800" b="0">
                <a:solidFill>
                  <a:srgbClr val="C6CEC7"/>
                </a:solidFill>
              </a:rPr>
              <a:t>保留选择权</a:t>
            </a:r>
          </a:p>
          <a:p xmlns:a="http://schemas.openxmlformats.org/drawingml/2006/main">
            <a:pPr algn="l">
              <a:defRPr sz="1800" b="0">
                <a:solidFill>
                  <a:srgbClr val="C6CEC7"/>
                </a:solidFill>
              </a:defRPr>
            </a:pPr>
            <a:r>
              <a:rPr sz="1800" b="0">
                <a:solidFill>
                  <a:srgbClr val="C6CEC7"/>
                </a:solidFill>
              </a:rPr>
              <a:t>保留正式价格判断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2F383E-50CA-4114-9D7C-6EC9169A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954"/>
                </a:solidFill>
              </a:defRPr>
            </a:pPr>
            <a:r>
              <a:rPr sz="1500" b="1">
                <a:solidFill>
                  <a:srgbClr val="B87954"/>
                </a:solidFill>
              </a:rPr>
              <a:t>所有问题都保持开放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DDDE17-3FEF-451A-BE0B-F191694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B56D"/>
                </a:solidFill>
              </a:defRPr>
            </a:pPr>
            <a:r>
              <a:rPr sz="2700" b="1">
                <a:solidFill>
                  <a:srgbClr val="D8B56D"/>
                </a:solidFill>
              </a:rPr>
              <a:t>先关闭三项适配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9B444D-ED4E-4E92-B647-B9AB808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6F2E8"/>
                </a:solidFill>
              </a:defRPr>
            </a:pPr>
            <a:r>
              <a:rPr sz="1725" b="0">
                <a:solidFill>
                  <a:srgbClr val="F6F2E8"/>
                </a:solidFill>
              </a:rPr>
              <a:t>两条就业路径是否可接受</a:t>
            </a:r>
          </a:p>
          <a:p xmlns:a="http://schemas.openxmlformats.org/drawingml/2006/main">
            <a:pPr algn="l">
              <a:defRPr sz="1725" b="0">
                <a:solidFill>
                  <a:srgbClr val="F6F2E8"/>
                </a:solidFill>
              </a:defRPr>
            </a:pPr>
            <a:r>
              <a:rPr sz="1725" b="0">
                <a:solidFill>
                  <a:srgbClr val="F6F2E8"/>
                </a:solidFill>
              </a:rPr>
              <a:t>连续归家是否值得高频使用</a:t>
            </a:r>
          </a:p>
          <a:p xmlns:a="http://schemas.openxmlformats.org/drawingml/2006/main">
            <a:pPr algn="l">
              <a:defRPr sz="1725" b="0">
                <a:solidFill>
                  <a:srgbClr val="F6F2E8"/>
                </a:solidFill>
              </a:defRPr>
            </a:pPr>
            <a:r>
              <a:rPr sz="1725" b="0">
                <a:solidFill>
                  <a:srgbClr val="F6F2E8"/>
                </a:solidFill>
              </a:rPr>
              <a:t>双套房与可变书房是否适合家庭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9CF18BA-0E5D-4E34-ADF9-57DF3934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91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CEBC"/>
                </a:solidFill>
              </a:defRPr>
            </a:pPr>
            <a:r>
              <a:rPr sz="1500" b="1">
                <a:solidFill>
                  <a:srgbClr val="A8CEBC"/>
                </a:solidFill>
              </a:rPr>
              <a:t>价格公布后，只剩支付判断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F40D2011-C15C-466D-925A-3BFC4FA6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11239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A1CD0A-62C1-4CC9-9701-6BE6A46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4327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E18"/>
                </a:solidFill>
              </a:defRPr>
            </a:pPr>
            <a:r>
              <a:rPr sz="1350" b="1">
                <a:solidFill>
                  <a:srgbClr val="071E18"/>
                </a:solidFill>
              </a:rPr>
              <a:t>先看清</a:t>
            </a:r>
          </a:p>
        </p:txBody>
      </p:sp>
    </p:spTree>
    <p:extLst>
      <p:ext uri="{BB962C8B-B14F-4D97-AF65-F5344CB8AC3E}">
        <p14:creationId xmlns:p14="http://schemas.microsoft.com/office/powerpoint/2010/main" val="159876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20F7421B-9F94-405C-8E81-A878D7E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竞争结论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EA814E-5062-4EC8-ADEA-3F0D7AE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53128"/>
                </a:solidFill>
              </a:defRPr>
            </a:pPr>
            <a:r>
              <a:rPr sz="3075" b="1">
                <a:solidFill>
                  <a:srgbClr val="153128"/>
                </a:solidFill>
              </a:rPr>
              <a:t>三项机制分别承担进入候选、赢得比较与推进行动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BFCA1044-C910-47A5-961A-AB8378E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D961A5C2-D5A5-43D3-817A-52C27DF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7C1D6F84-C2C3-4074-90F0-5C1CFF67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07921E-9C46-454E-918C-4DA3795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07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09D6BA2-B1D5-4AFF-9F27-17D7CDF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5F6B79-8FEA-4085-9232-AD692F2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54"/>
                </a:solidFill>
              </a:defRPr>
            </a:pPr>
            <a:r>
              <a:rPr sz="1050" b="1">
                <a:solidFill>
                  <a:srgbClr val="B87954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673EBE-B927-4B1F-93D5-2FAC72CE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128"/>
                </a:solidFill>
              </a:defRPr>
            </a:pPr>
            <a:r>
              <a:rPr sz="2250" b="1">
                <a:solidFill>
                  <a:srgbClr val="153128"/>
                </a:solidFill>
              </a:rPr>
              <a:t>进入候选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F8C548-9666-4DDD-98F1-3283B66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372B"/>
                </a:solidFill>
              </a:defRPr>
            </a:pPr>
            <a:r>
              <a:rPr sz="1725" b="1">
                <a:solidFill>
                  <a:srgbClr val="10372B"/>
                </a:solidFill>
              </a:rPr>
              <a:t>双向就业低密选择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A3807B-FEB9-4217-8ACD-C5C5CD3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两条就业方向与1.45低密底盘共同成立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9867615D-5F07-4524-B8E8-8E0F083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D0C2CA-CBBD-45D1-9CD7-1F2C3D4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54"/>
                </a:solidFill>
              </a:defRPr>
            </a:pPr>
            <a:r>
              <a:rPr sz="1050" b="1">
                <a:solidFill>
                  <a:srgbClr val="B87954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15986E-4C29-4343-8BD5-076D037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128"/>
                </a:solidFill>
              </a:defRPr>
            </a:pPr>
            <a:r>
              <a:rPr sz="2250" b="1">
                <a:solidFill>
                  <a:srgbClr val="153128"/>
                </a:solidFill>
              </a:rPr>
              <a:t>赢得比较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A05BBB-2F19-4678-90C0-B8C3F96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372B"/>
                </a:solidFill>
              </a:defRPr>
            </a:pPr>
            <a:r>
              <a:rPr sz="1725" b="1">
                <a:solidFill>
                  <a:srgbClr val="10372B"/>
                </a:solidFill>
              </a:rPr>
              <a:t>全天候连续归家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3F59B19-4CF0-4B35-8F25-A23E4E82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园林、架空层与会所沿每天行动顺序展开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6DE0B097-9332-462E-8C82-F8F968AC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41B8E37-50AC-4767-A73E-76A20F09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54"/>
                </a:solidFill>
              </a:defRPr>
            </a:pPr>
            <a:r>
              <a:rPr sz="1050" b="1">
                <a:solidFill>
                  <a:srgbClr val="B87954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FD69DB3-EE91-484F-8F7B-6D7244D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128"/>
                </a:solidFill>
              </a:defRPr>
            </a:pPr>
            <a:r>
              <a:rPr sz="2250" b="1">
                <a:solidFill>
                  <a:srgbClr val="153128"/>
                </a:solidFill>
              </a:rPr>
              <a:t>推进行动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A811C17-DB9D-4FAC-B62A-4F2172D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372B"/>
                </a:solidFill>
              </a:defRPr>
            </a:pPr>
            <a:r>
              <a:rPr sz="1725" b="1">
                <a:solidFill>
                  <a:srgbClr val="10372B"/>
                </a:solidFill>
              </a:rPr>
              <a:t>三代弹性空间先验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ECC928D-D81B-4DAB-911A-25C8428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先确认双套房与可变书房，再等待正式价格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5C91C0E-8C13-41C7-9332-97DE1784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372B"/>
                </a:solidFill>
              </a:defRPr>
            </a:pPr>
            <a:r>
              <a:rPr sz="1425" b="1">
                <a:solidFill>
                  <a:srgbClr val="10372B"/>
                </a:solidFill>
              </a:rPr>
              <a:t>三条竞争力分工明确，共同回答同一个购买问题：这套改善能否同时服务家庭时间、每天使用与阶段变化。</a:t>
            </a:r>
          </a:p>
        </p:txBody>
      </p:sp>
    </p:spTree>
    <p:extLst>
      <p:ext uri="{BB962C8B-B14F-4D97-AF65-F5344CB8AC3E}">
        <p14:creationId xmlns:p14="http://schemas.microsoft.com/office/powerpoint/2010/main" val="5396961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e9cc0e16148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33F9858D-A7FB-42A5-AA57-ED76E71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A15">
                  <a:alpha val="94000"/>
                </a:srgbClr>
              </a:gs>
              <a:gs pos="62000">
                <a:srgbClr val="061A15">
                  <a:alpha val="58000"/>
                </a:srgbClr>
              </a:gs>
              <a:gs pos="100000">
                <a:srgbClr val="061A15">
                  <a:alpha val="2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AF0E5C-ABCB-4928-849B-96890C55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B56D"/>
                </a:solidFill>
              </a:defRPr>
            </a:pPr>
            <a:r>
              <a:rPr sz="1125" b="1">
                <a:solidFill>
                  <a:srgbClr val="D8B56D"/>
                </a:solidFill>
              </a:rPr>
              <a:t>价值锚点</a:t>
            </a:r>
          </a:p>
        </p:txBody>
      </p:sp>
      <p:sp>
        <p:nvSpPr>
          <p:cNvPr id="4" name="value-anchor">
            <a:extLst xmlns:a="http://schemas.openxmlformats.org/drawingml/2006/main">
              <a:ext uri="{FF2B5EF4-FFF2-40B4-BE49-F238E27FC236}">
                <a16:creationId xmlns:a16="http://schemas.microsoft.com/office/drawing/2014/main" id="{09B9ECAE-17D7-419A-8502-04419756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</a:defRPr>
            </a:pPr>
            <a:r>
              <a:rPr sz="3900" b="1">
                <a:solidFill>
                  <a:srgbClr val="F6F2E8"/>
                </a:solidFill>
              </a:rPr>
              <a:t>澄川东岸双节点生活里，</a:t>
            </a:r>
          </a:p>
          <a:p xmlns:a="http://schemas.openxmlformats.org/drawingml/2006/main">
            <a:pPr algn="l">
              <a:defRPr sz="3900" b="1">
                <a:solidFill>
                  <a:srgbClr val="F6F2E8"/>
                </a:solidFill>
              </a:defRPr>
            </a:pPr>
            <a:r>
              <a:rPr sz="3900" b="1">
                <a:solidFill>
                  <a:srgbClr val="F6F2E8"/>
                </a:solidFill>
              </a:rPr>
              <a:t>把低密归家与三代弹性</a:t>
            </a:r>
          </a:p>
          <a:p xmlns:a="http://schemas.openxmlformats.org/drawingml/2006/main">
            <a:pPr algn="l">
              <a:defRPr sz="3900" b="1">
                <a:solidFill>
                  <a:srgbClr val="F6F2E8"/>
                </a:solidFill>
              </a:defRPr>
            </a:pPr>
            <a:r>
              <a:rPr sz="3900" b="1">
                <a:solidFill>
                  <a:srgbClr val="F6F2E8"/>
                </a:solidFill>
              </a:rPr>
              <a:t>放进同一套日常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ED841C-9415-40DB-A748-2FAB7821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CEBC"/>
                </a:solidFill>
              </a:defRPr>
            </a:pPr>
            <a:r>
              <a:rPr sz="1500" b="1">
                <a:solidFill>
                  <a:srgbClr val="A8CEBC"/>
                </a:solidFill>
              </a:rPr>
              <a:t>双向就业关系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2C44E0-15C1-4BA4-AA8B-CD60EBBC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CEBC"/>
                </a:solidFill>
              </a:defRPr>
            </a:pPr>
            <a:r>
              <a:rPr sz="1500" b="1">
                <a:solidFill>
                  <a:srgbClr val="A8CEBC"/>
                </a:solidFill>
              </a:rPr>
              <a:t>连续归家路径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A5E0D2-634C-46EC-90EA-59588218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CEBC"/>
                </a:solidFill>
              </a:defRPr>
            </a:pPr>
            <a:r>
              <a:rPr sz="1500" b="1">
                <a:solidFill>
                  <a:srgbClr val="A8CEBC"/>
                </a:solidFill>
              </a:rPr>
              <a:t>家庭状态切换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A2EBB1-6329-4B16-8D7A-2410F25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进入候选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859D07E-04C9-40DB-86C4-E420A1D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赢得比较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CB1B90-B460-4371-9E78-06D13C21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推进行动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CECFE9-4B96-4D92-89AE-0348FE06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5399775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E18"/>
            </a:gs>
            <a:gs pos="100000">
              <a:srgbClr val="184B3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FA88E9-BAB0-4616-91A0-C1E21EF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01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D8B56D">
                    <a:alpha val="60000"/>
                  </a:srgbClr>
                </a:solidFill>
              </a:defRPr>
            </a:pPr>
            <a:r>
              <a:rPr sz="5850" b="1">
                <a:solidFill>
                  <a:srgbClr val="D8B56D">
                    <a:alpha val="60000"/>
                  </a:srgbClr>
                </a:solidFill>
              </a:rPr>
              <a:t>03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6B9843-7DF5-4CD8-B82C-CC0B1FA7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56D"/>
                </a:solidFill>
              </a:defRPr>
            </a:pPr>
            <a:r>
              <a:rPr sz="1650" b="1">
                <a:solidFill>
                  <a:srgbClr val="D8B56D"/>
                </a:solidFill>
              </a:rPr>
              <a:t>住宅UE系统解决方案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D8875A-5956-4D75-A69B-3906BCF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6F2E8"/>
                </a:solidFill>
              </a:defRPr>
            </a:pPr>
            <a:r>
              <a:rPr sz="3900" b="1">
                <a:solidFill>
                  <a:srgbClr val="F6F2E8"/>
                </a:solidFill>
              </a:rPr>
              <a:t>让三条竞争力在案场里</a:t>
            </a:r>
          </a:p>
          <a:p xmlns:a="http://schemas.openxmlformats.org/drawingml/2006/main">
            <a:pPr algn="l">
              <a:defRPr sz="3900" b="1">
                <a:solidFill>
                  <a:srgbClr val="F6F2E8"/>
                </a:solidFill>
              </a:defRPr>
            </a:pPr>
            <a:r>
              <a:rPr sz="3900" b="1">
                <a:solidFill>
                  <a:srgbClr val="F6F2E8"/>
                </a:solidFill>
              </a:rPr>
              <a:t>被看见、被操作、被继续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B5DB792F-640D-492E-BE5C-EA971941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56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3BD455-D515-4750-B03E-43945F14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8DE"/>
                </a:solidFill>
              </a:defRPr>
            </a:pPr>
            <a:r>
              <a:rPr sz="1425" b="0">
                <a:solidFill>
                  <a:srgbClr val="D6E8DE"/>
                </a:solidFill>
              </a:rPr>
              <a:t>下一章直接回答UE怎样证明三条竞争力。</a:t>
            </a:r>
          </a:p>
        </p:txBody>
      </p:sp>
      <p:sp>
        <p:nvSpPr>
          <p:cNvPr id="6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4AD7EB1E-1204-47B2-ADA5-ED9BC7D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94F6610-C170-467A-988C-69ADA969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8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11F374BE-F7EB-46A3-ABED-D45817A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D8D0AB-CE47-43EF-8A0F-B000857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81102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3A2D494F-86F9-4163-AA67-F034D883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超级竞争力总览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30FB0-A259-4F96-B8F0-6B8E28A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128"/>
                </a:solidFill>
              </a:defRPr>
            </a:pPr>
            <a:r>
              <a:rPr sz="2850" b="1">
                <a:solidFill>
                  <a:srgbClr val="153128"/>
                </a:solidFill>
              </a:rPr>
              <a:t>三条竞争力各自完成一次购买推进，UE只负责把它们证明清楚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20C42B5F-53F5-43DF-BCE8-7AB2FE36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2845BAD5-5542-4529-B66A-FA5FBCF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2FA0E809-E926-4496-AD50-F36494F7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493701-D0AA-4FCE-93E8-B6ECB6D2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10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42617C-8F30-4321-BF05-4D19DBF1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B56D"/>
                </a:solidFill>
              </a:defRPr>
            </a:pPr>
            <a:r>
              <a:rPr sz="2850" b="1">
                <a:solidFill>
                  <a:srgbClr val="D8B56D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13117E-F6C2-46CB-8670-6E5BF72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双向就业低密选择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36EE9E-1F5E-4F6B-BC9B-25C0C84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372B"/>
                </a:solidFill>
              </a:defRPr>
            </a:pPr>
            <a:r>
              <a:rPr sz="1350" b="1">
                <a:solidFill>
                  <a:srgbClr val="10372B"/>
                </a:solidFill>
              </a:rPr>
              <a:t>让本案进入候选</a:t>
            </a:r>
          </a:p>
        </p:txBody>
      </p:sp>
      <p:sp>
        <p:nvSpPr>
          <p:cNvPr id="10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F2862980-295F-4BD6-92CF-3A5887D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128">
                <a:alpha val="28000"/>
              </a:srgbClr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F5E77E-3BD6-4B78-BF00-7DD0B766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切换两条就业方向</a:t>
            </a:r>
          </a:p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比较家庭时间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EF12FE-11B4-41DA-ABE2-1F5E1411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B56D"/>
                </a:solidFill>
              </a:defRPr>
            </a:pPr>
            <a:r>
              <a:rPr sz="2850" b="1">
                <a:solidFill>
                  <a:srgbClr val="D8B56D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76077B-734A-4767-A5C6-822F2C0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全天候连续归家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69D0B2-F490-49A6-8864-AABB9CBD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372B"/>
                </a:solidFill>
              </a:defRPr>
            </a:pPr>
            <a:r>
              <a:rPr sz="1350" b="1">
                <a:solidFill>
                  <a:srgbClr val="10372B"/>
                </a:solidFill>
              </a:rPr>
              <a:t>让本案赢得低密比较</a:t>
            </a:r>
          </a:p>
        </p:txBody>
      </p:sp>
      <p:sp>
        <p:nvSpPr>
          <p:cNvPr id="15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0854A52-DDFA-4998-9282-C3F37B2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128">
                <a:alpha val="28000"/>
              </a:srgbClr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6900E8B-5273-4940-BF82-31E4B9EA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点亮到达—园林—架空层—会所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358F92C-D3E2-4246-8D7C-26110F41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B56D"/>
                </a:solidFill>
              </a:defRPr>
            </a:pPr>
            <a:r>
              <a:rPr sz="2850" b="1">
                <a:solidFill>
                  <a:srgbClr val="D8B56D"/>
                </a:solidFill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4D30D1-3E26-4302-892A-3E6C66C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三代弹性空间先验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48FB7B-E408-47AC-B46A-CA5F996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372B"/>
                </a:solidFill>
              </a:defRPr>
            </a:pPr>
            <a:r>
              <a:rPr sz="1350" b="1">
                <a:solidFill>
                  <a:srgbClr val="10372B"/>
                </a:solidFill>
              </a:rPr>
              <a:t>让客户继续行动</a:t>
            </a:r>
          </a:p>
        </p:txBody>
      </p:sp>
      <p:sp>
        <p:nvSpPr>
          <p:cNvPr id="20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037FFFBF-AADA-44D5-B041-FA76E3E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128">
                <a:alpha val="2800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2A287B-D015-4B62-95F0-CA4625D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9"/>
                </a:solidFill>
              </a:defRPr>
            </a:pPr>
            <a:r>
              <a:rPr sz="1350" b="0">
                <a:solidFill>
                  <a:srgbClr val="607269"/>
                </a:solidFill>
              </a:rPr>
              <a:t>切换核心居住—父母短住—居家办公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CD0A92-FC00-4729-82B1-FF91CCD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954"/>
                </a:solidFill>
              </a:defRPr>
            </a:pPr>
            <a:r>
              <a:rPr sz="1425" b="1">
                <a:solidFill>
                  <a:srgbClr val="B87954"/>
                </a:solidFill>
              </a:rPr>
              <a:t>项目事实建立价值，竞争关系决定价值，UE画面证明价值。三者按此顺序共同成立。</a:t>
            </a:r>
          </a:p>
        </p:txBody>
      </p:sp>
    </p:spTree>
    <p:extLst>
      <p:ext uri="{BB962C8B-B14F-4D97-AF65-F5344CB8AC3E}">
        <p14:creationId xmlns:p14="http://schemas.microsoft.com/office/powerpoint/2010/main" val="19024236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B350498-BA8F-441D-A5AA-608ED035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SC 01 · 双向就业低密选择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9D6B6B-9469-4384-B712-B6777820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2E8"/>
                </a:solidFill>
              </a:defRPr>
            </a:pPr>
            <a:r>
              <a:rPr sz="2925" b="1">
                <a:solidFill>
                  <a:srgbClr val="F6F2E8"/>
                </a:solidFill>
              </a:rPr>
              <a:t>先让一家人的两条路径同时成立，再谈新区低密是否值得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FD53DF87-5166-4432-A625-ED648BBA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02632C29-565D-4318-8E53-4EDCCCB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C8DC8AAF-4F68-414B-BF28-F5C5B06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D32257-AA2D-4E20-8B5D-8C31B0D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11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3D44A267-46E4-4C09-B70D-D5C14688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EBC">
                <a:alpha val="55000"/>
              </a:srgbClr>
            </a:solidFill>
            <a:prstDash val="dash"/>
          </a:ln>
        </p:spPr>
      </p:sp>
      <p:sp>
        <p:nvSpPr>
          <p:cNvPr id="8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B89E7E6D-91A1-4E9E-9FAF-225FA03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56D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7209B2B-0709-46CD-AC6C-2BF3F8A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286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EFE6">
              <a:alpha val="8000"/>
            </a:srgbClr>
          </a:solidFill>
          <a:ln xmlns:a="http://schemas.openxmlformats.org/drawingml/2006/main" w="9525">
            <a:solidFill>
              <a:srgbClr val="D6E8DE">
                <a:alpha val="26000"/>
              </a:srgbClr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0F2C41-160E-41CA-A13B-9111A767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老城就业方向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0127CA-B634-414A-9697-68158A2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6CEC7"/>
                </a:solidFill>
              </a:defRPr>
            </a:pPr>
            <a:r>
              <a:rPr sz="1125" b="0">
                <a:solidFill>
                  <a:srgbClr val="C6CEC7"/>
                </a:solidFill>
              </a:rPr>
              <a:t>成熟通勤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50C81FFE-9AC7-4CF3-B3F8-4862124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286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EFE6">
              <a:alpha val="8000"/>
            </a:srgbClr>
          </a:solidFill>
          <a:ln xmlns:a="http://schemas.openxmlformats.org/drawingml/2006/main" w="9525">
            <a:solidFill>
              <a:srgbClr val="D6E8DE">
                <a:alpha val="26000"/>
              </a:srgbClr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CCBA87-CB1C-43EC-8DC1-E39FC32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东部产业园方向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3A88D3-5457-4E6C-B1F0-6DA3DE7B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6CEC7"/>
                </a:solidFill>
              </a:defRPr>
            </a:pPr>
            <a:r>
              <a:rPr sz="1125" b="0">
                <a:solidFill>
                  <a:srgbClr val="C6CEC7"/>
                </a:solidFill>
              </a:rPr>
              <a:t>新区就业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A0335DF-FD7C-4B3D-8E25-AD680D2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2286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3EFE6"/>
          </a:solidFill>
          <a:ln xmlns:a="http://schemas.openxmlformats.org/drawingml/2006/main" w="19050">
            <a:solidFill>
              <a:srgbClr val="D8B56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43CB8CA-D1C0-4490-B151-E182A9A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3128"/>
                </a:solidFill>
              </a:defRPr>
            </a:pPr>
            <a:r>
              <a:rPr sz="1950" b="1">
                <a:solidFill>
                  <a:srgbClr val="153128"/>
                </a:solidFill>
              </a:rPr>
              <a:t>家庭时间表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B168051-B21C-46D9-ACB3-C4C9B69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269"/>
                </a:solidFill>
              </a:defRPr>
            </a:pPr>
            <a:r>
              <a:rPr sz="1125" b="0">
                <a:solidFill>
                  <a:srgbClr val="607269"/>
                </a:solidFill>
              </a:rPr>
              <a:t>先核对两条路径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AA06D847-FD29-49B5-A554-F709156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91125"/>
            <a:ext cx="27051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4B3B"/>
          </a:solidFill>
          <a:ln xmlns:a="http://schemas.openxmlformats.org/drawingml/2006/main" w="9525">
            <a:solidFill>
              <a:srgbClr val="A8CEB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2694CB-7F03-4B7D-9F0D-AF172DFC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006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2E8"/>
                </a:solidFill>
              </a:defRPr>
            </a:pPr>
            <a:r>
              <a:rPr sz="1500" b="1">
                <a:solidFill>
                  <a:srgbClr val="F6F2E8"/>
                </a:solidFill>
              </a:rPr>
              <a:t>通勤可接受 ＋ 1.45低密</a:t>
            </a:r>
          </a:p>
        </p:txBody>
      </p:sp>
    </p:spTree>
    <p:extLst>
      <p:ext uri="{BB962C8B-B14F-4D97-AF65-F5344CB8AC3E}">
        <p14:creationId xmlns:p14="http://schemas.microsoft.com/office/powerpoint/2010/main" val="8240070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4b182b5674d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A7CE0737-B187-4AAF-AD0D-16F6D0CC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A15">
                  <a:alpha val="92000"/>
                </a:srgbClr>
              </a:gs>
              <a:gs pos="54000">
                <a:srgbClr val="061A15">
                  <a:alpha val="52000"/>
                </a:srgbClr>
              </a:gs>
              <a:gs pos="100000">
                <a:srgbClr val="061A15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35C10F-55DA-48A2-92BD-30288785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B56D"/>
                </a:solidFill>
              </a:defRPr>
            </a:pPr>
            <a:r>
              <a:rPr sz="1125" b="1">
                <a:solidFill>
                  <a:srgbClr val="D8B56D"/>
                </a:solidFill>
              </a:rPr>
              <a:t>SC 02 · 全天候连续归家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11D8BA-258B-4C13-98E0-8908548C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6F2E8"/>
                </a:solidFill>
              </a:defRPr>
            </a:pPr>
            <a:r>
              <a:rPr sz="3450" b="1">
                <a:solidFill>
                  <a:srgbClr val="F6F2E8"/>
                </a:solidFill>
              </a:rPr>
              <a:t>低密通过四步连续归家，</a:t>
            </a:r>
          </a:p>
          <a:p xmlns:a="http://schemas.openxmlformats.org/drawingml/2006/main">
            <a:pPr algn="l">
              <a:defRPr sz="3450" b="1">
                <a:solidFill>
                  <a:srgbClr val="F6F2E8"/>
                </a:solidFill>
              </a:defRPr>
            </a:pPr>
            <a:r>
              <a:rPr sz="3450" b="1">
                <a:solidFill>
                  <a:srgbClr val="F6F2E8"/>
                </a:solidFill>
              </a:rPr>
              <a:t>每天进入家庭使用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8F6DA5-ADED-4F34-8816-4972722C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到达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76D663-BAB4-4417-B089-D8D98D8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首层园林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6FC4C9-B650-4D3E-B283-CCBC562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架空层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A40323-5E63-4A0A-9B39-BE14467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地下会所</a:t>
            </a:r>
          </a:p>
        </p:txBody>
      </p:sp>
      <p:sp>
        <p:nvSpPr>
          <p:cNvPr id="9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9306D227-700F-4EE2-891C-B8ECC4DE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861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56D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CCDE2EC-0853-4F84-A96F-978923BB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45E468B1-1B54-4010-9246-36E47A38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86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A7F8D8EB-281D-4564-8AAB-F43C3CB4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2C2C1E0-580B-41E5-9312-48D706C8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2A897B-359D-4225-8D40-D79A55C9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8DE"/>
                </a:solidFill>
              </a:defRPr>
            </a:pPr>
            <a:r>
              <a:rPr sz="1500" b="0">
                <a:solidFill>
                  <a:srgbClr val="D6E8DE"/>
                </a:solidFill>
              </a:rPr>
              <a:t>客户沿同一条路径判断哪些空间会被高频使用，也看见愿意为低密支付的真实所得。</a:t>
            </a:r>
          </a:p>
        </p:txBody>
      </p:sp>
      <p:sp>
        <p:nvSpPr>
          <p:cNvPr id="15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330F1D8D-F9CF-4E9C-9224-C4A46724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16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9BD4D539-421C-4F3C-9A24-26E53679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17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724C15A4-DFF1-4365-B938-EF6DB90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FDB916-D604-4AA0-8895-5D598A0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49595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f24a60d0942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A08D1A1B-E9FD-4638-9F40-5A6259A9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A15">
                  <a:alpha val="94000"/>
                </a:srgbClr>
              </a:gs>
              <a:gs pos="55000">
                <a:srgbClr val="061A15">
                  <a:alpha val="58000"/>
                </a:srgbClr>
              </a:gs>
              <a:gs pos="100000">
                <a:srgbClr val="061A15">
                  <a:alpha val="2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47107B-6E81-40DF-B64B-32005BF2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B56D"/>
                </a:solidFill>
              </a:defRPr>
            </a:pPr>
            <a:r>
              <a:rPr sz="1125" b="1">
                <a:solidFill>
                  <a:srgbClr val="D8B56D"/>
                </a:solidFill>
              </a:rPr>
              <a:t>SC 03 · 三代弹性空间先验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BF3AEB-5E86-4B39-BAFC-9FF07983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8"/>
                </a:solidFill>
              </a:defRPr>
            </a:pPr>
            <a:r>
              <a:rPr sz="3600" b="1">
                <a:solidFill>
                  <a:srgbClr val="F6F2E8"/>
                </a:solidFill>
              </a:rPr>
              <a:t>双套房保留两代边界，</a:t>
            </a:r>
          </a:p>
          <a:p xmlns:a="http://schemas.openxmlformats.org/drawingml/2006/main">
            <a:pPr algn="l">
              <a:defRPr sz="3600" b="1">
                <a:solidFill>
                  <a:srgbClr val="F6F2E8"/>
                </a:solidFill>
              </a:defRPr>
            </a:pPr>
            <a:r>
              <a:rPr sz="3600" b="1">
                <a:solidFill>
                  <a:srgbClr val="F6F2E8"/>
                </a:solidFill>
              </a:rPr>
              <a:t>可变书房跟着家庭阶段切换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D0901CB2-2DBB-4156-AF84-787EC853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E18">
              <a:alpha val="82000"/>
            </a:srgbClr>
          </a:solidFill>
          <a:ln xmlns:a="http://schemas.openxmlformats.org/drawingml/2006/main" w="9525">
            <a:solidFill>
              <a:srgbClr val="D6E8DE">
                <a:alpha val="20000"/>
              </a:srgbClr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BA87C3-AB77-4202-806A-F6C04BDD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56D"/>
                </a:solidFill>
              </a:defRPr>
            </a:pPr>
            <a:r>
              <a:rPr sz="1500" b="1">
                <a:solidFill>
                  <a:srgbClr val="D8B56D"/>
                </a:solidFill>
              </a:rPr>
              <a:t>核心家庭居住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86BC79-7CCC-45AF-9B53-8CB876C8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工作、学习与相聚互不挤占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C7A7D52-7F5F-49BC-9147-6FDFE4E6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E18">
              <a:alpha val="82000"/>
            </a:srgbClr>
          </a:solidFill>
          <a:ln xmlns:a="http://schemas.openxmlformats.org/drawingml/2006/main" w="9525">
            <a:solidFill>
              <a:srgbClr val="D6E8DE">
                <a:alpha val="20000"/>
              </a:srgbClr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D19B38A-B5EA-40D8-BC87-9939E82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56D"/>
                </a:solidFill>
              </a:defRPr>
            </a:pPr>
            <a:r>
              <a:rPr sz="1500" b="1">
                <a:solidFill>
                  <a:srgbClr val="D8B56D"/>
                </a:solidFill>
              </a:rPr>
              <a:t>父母阶段性同住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A91D81-9760-484C-B421-1C66164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两代各自拥有休息与卫浴边界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7BE1B595-5E87-45A5-A3CE-BD6819B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E18">
              <a:alpha val="82000"/>
            </a:srgbClr>
          </a:solidFill>
          <a:ln xmlns:a="http://schemas.openxmlformats.org/drawingml/2006/main" w="9525">
            <a:solidFill>
              <a:srgbClr val="D6E8DE">
                <a:alpha val="20000"/>
              </a:srgbClr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0FDFE8-8480-421C-A569-8DCA8C03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243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56D"/>
                </a:solidFill>
              </a:defRPr>
            </a:pPr>
            <a:r>
              <a:rPr sz="1500" b="1">
                <a:solidFill>
                  <a:srgbClr val="D8B56D"/>
                </a:solidFill>
              </a:rPr>
              <a:t>居家办公并行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CAE52C-EE66-49AC-BA77-5215E6F3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书房在工作、学习与短住间切换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83673A-CD75-40D2-BBB4-576417C0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CEBC"/>
                </a:solidFill>
              </a:defRPr>
            </a:pPr>
            <a:r>
              <a:rPr sz="1425" b="1">
                <a:solidFill>
                  <a:srgbClr val="A8CEBC"/>
                </a:solidFill>
              </a:rPr>
              <a:t>空间适配先完成，正式价格公布后再完成支付判断。</a:t>
            </a:r>
          </a:p>
        </p:txBody>
      </p:sp>
      <p:sp>
        <p:nvSpPr>
          <p:cNvPr id="15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6144F91E-7A1B-40AF-B7BD-1B66403F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16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546D05E3-5EF7-46FA-B619-600D78B3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17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C9F4A508-8AFF-4FFF-8938-253D0E6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FF4E5A-8619-46CD-BE87-BEB2D141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37892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501E7F7-96AC-4939-BBC2-3D6525E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家庭分流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E353D-60C4-47C2-BDF3-5B3F30E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128"/>
                </a:solidFill>
              </a:defRPr>
            </a:pPr>
            <a:r>
              <a:rPr sz="2850" b="1">
                <a:solidFill>
                  <a:srgbClr val="153128"/>
                </a:solidFill>
              </a:rPr>
              <a:t>三类看房任务需要三条不同路径，</a:t>
            </a:r>
          </a:p>
          <a:p xmlns:a="http://schemas.openxmlformats.org/drawingml/2006/main">
            <a:pPr algn="l">
              <a:defRPr sz="2850" b="1">
                <a:solidFill>
                  <a:srgbClr val="153128"/>
                </a:solidFill>
              </a:defRPr>
            </a:pPr>
            <a:r>
              <a:rPr sz="2850" b="1">
                <a:solidFill>
                  <a:srgbClr val="153128"/>
                </a:solidFill>
              </a:rPr>
              <a:t>面积只在任务清楚后进入选择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0EF761A6-A3CC-4411-8E25-16E8C3D6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984AD29B-F34C-4DE8-BD5C-D4E99707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F79AB5F6-4C49-4E81-932C-F1A419B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905D7C-9EB6-4EA0-9A39-43ED1FF1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14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5892a1ae94637"/>
          <a:srcRect xmlns:a="http://schemas.openxmlformats.org/drawingml/2006/main" l="23468" t="0" r="234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94310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96797FA-0BEB-4DAC-8B36-34E93791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3143250" cy="1352550"/>
          </a:xfrm>
          <a:prstGeom xmlns:a="http://schemas.openxmlformats.org/drawingml/2006/main" prst="roundRect">
            <a:avLst>
              <a:gd name="adj" fmla="val 12676"/>
            </a:avLst>
          </a:prstGeom>
          <a:gradFill xmlns:a="http://schemas.openxmlformats.org/drawingml/2006/main">
            <a:gsLst>
              <a:gs pos="0">
                <a:srgbClr val="071E18">
                  <a:alpha val="94000"/>
                </a:srgbClr>
              </a:gs>
              <a:gs pos="100000">
                <a:srgbClr val="071E18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0D3258-E6E8-4370-98F4-BDD3987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双向通勤家庭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7B0B36-5C3C-4DAD-BB4D-B43932A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先核对夫妻工作、接送与家庭支持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29da6ff3d4a01"/>
          <a:srcRect xmlns:a="http://schemas.openxmlformats.org/drawingml/2006/main" l="23468" t="0" r="234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94310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948C7C6E-3D4B-4FB8-8AC6-B6883AD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24300"/>
            <a:ext cx="3143250" cy="1352550"/>
          </a:xfrm>
          <a:prstGeom xmlns:a="http://schemas.openxmlformats.org/drawingml/2006/main" prst="roundRect">
            <a:avLst>
              <a:gd name="adj" fmla="val 12676"/>
            </a:avLst>
          </a:prstGeom>
          <a:gradFill xmlns:a="http://schemas.openxmlformats.org/drawingml/2006/main">
            <a:gsLst>
              <a:gs pos="0">
                <a:srgbClr val="071E18">
                  <a:alpha val="94000"/>
                </a:srgbClr>
              </a:gs>
              <a:gs pos="100000">
                <a:srgbClr val="071E18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33F7EC9-37C5-4DD8-B697-1A58379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29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家庭空间重组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04A1D2-B663-4E8C-80DF-A124AF32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053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先核对父母短住、工作学习与共同生活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1cba0f1cf4692"/>
          <a:srcRect xmlns:a="http://schemas.openxmlformats.org/drawingml/2006/main" l="23468" t="0" r="234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94310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85F42A03-8E30-4408-AAA0-8F9E2C9A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3143250" cy="1352550"/>
          </a:xfrm>
          <a:prstGeom xmlns:a="http://schemas.openxmlformats.org/drawingml/2006/main" prst="roundRect">
            <a:avLst>
              <a:gd name="adj" fmla="val 12676"/>
            </a:avLst>
          </a:prstGeom>
          <a:gradFill xmlns:a="http://schemas.openxmlformats.org/drawingml/2006/main">
            <a:gsLst>
              <a:gs pos="0">
                <a:srgbClr val="071E18">
                  <a:alpha val="94000"/>
                </a:srgbClr>
              </a:gs>
              <a:gs pos="100000">
                <a:srgbClr val="071E18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C64A44-4034-49E5-8719-72CEC70F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价格纪律客户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57BF97E-0CB4-48FA-89D2-21B575B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先关闭空间适配，再等待正式支付条件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FBA7F8-45AA-4D0C-B08A-9BDB8432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372B"/>
                </a:solidFill>
              </a:defRPr>
            </a:pPr>
            <a:r>
              <a:rPr sz="1425" b="1">
                <a:solidFill>
                  <a:srgbClr val="10372B"/>
                </a:solidFill>
              </a:rPr>
              <a:t>先识别家庭正在解决的现实任务，再打开相应城市、社区与产品内容。</a:t>
            </a:r>
          </a:p>
        </p:txBody>
      </p:sp>
    </p:spTree>
    <p:extLst>
      <p:ext uri="{BB962C8B-B14F-4D97-AF65-F5344CB8AC3E}">
        <p14:creationId xmlns:p14="http://schemas.microsoft.com/office/powerpoint/2010/main" val="4323390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79BA1AFA-D0E3-4ED8-9C5C-2B6ADC97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家庭路径 · 父母短住与居家办公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5A68B3-86A4-4977-8297-C41802D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2E8"/>
                </a:solidFill>
              </a:defRPr>
            </a:pPr>
            <a:r>
              <a:rPr sz="2850" b="1">
                <a:solidFill>
                  <a:srgbClr val="F6F2E8"/>
                </a:solidFill>
              </a:rPr>
              <a:t>一条路线从家庭冲突走到产品选择，再把结论带回现场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95D10FDC-2890-426C-A876-E53A0C6D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CEA5C84D-9174-4721-96F8-6D241F3F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E37C10C8-B0D4-496E-AD57-3857B92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78E113-85C8-4C8D-9663-FD410C39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15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80107F84-EE15-48AC-81B8-B548BBE5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CEBC">
                <a:alpha val="58000"/>
              </a:srgbClr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FDED449-1BE0-4D10-81E0-A189A83B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1049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81F4A3-24E2-48DA-A955-185043A7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18"/>
                </a:solidFill>
              </a:defRPr>
            </a:pPr>
            <a:r>
              <a:rPr sz="1125" b="1">
                <a:solidFill>
                  <a:srgbClr val="071E18"/>
                </a:solidFill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E7F822-842C-4A9F-8FA8-B330A418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当前冲突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31AFF7D-3F69-4FA9-A441-B9388212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054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父母短住、居家办公、孩子学习反复占用同一房间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C1507F73-D022-4255-B639-A50D7D60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11049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24B58D3-6381-40E8-AC0A-22F1B55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18"/>
                </a:solidFill>
              </a:defRPr>
            </a:pPr>
            <a:r>
              <a:rPr sz="1125" b="1">
                <a:solidFill>
                  <a:srgbClr val="071E18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67C417-4CFD-4792-B30C-5C0BD05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适配判断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318B883-AA45-4355-BBB1-58BB09BD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双套房保留两代边界，可变书房承接状态切换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2CF97642-A249-4EB5-801F-64C3204F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11049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CB2E114-B1B2-45F0-AE61-0105A80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E18"/>
                </a:solidFill>
              </a:defRPr>
            </a:pPr>
            <a:r>
              <a:rPr sz="1125" b="1">
                <a:solidFill>
                  <a:srgbClr val="071E18"/>
                </a:solidFill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F3E3503-CE5B-4F47-91A0-CB3EC10F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现场证明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E818D1-D4FB-4D7E-B494-DA3E6B7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0540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切换三种家庭状态，再走连续归家路线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41C89CD-2F7C-4F63-B7C9-A9796837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381250" cy="30670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EFE6">
              <a:alpha val="8000"/>
            </a:srgbClr>
          </a:solidFill>
          <a:ln xmlns:a="http://schemas.openxmlformats.org/drawingml/2006/main" w="9525">
            <a:solidFill>
              <a:srgbClr val="D6E8DE">
                <a:alpha val="2400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FE4E4BE-BC95-4373-A9DA-81A0B5C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56D"/>
                </a:solidFill>
              </a:defRPr>
            </a:pPr>
            <a:r>
              <a:rPr sz="1650" b="1">
                <a:solidFill>
                  <a:srgbClr val="D8B56D"/>
                </a:solidFill>
              </a:rPr>
              <a:t>产品承接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087E327-00CB-4EBC-BC07-43D584D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2E8"/>
                </a:solidFill>
              </a:defRPr>
            </a:pPr>
            <a:r>
              <a:rPr sz="2175" b="1">
                <a:solidFill>
                  <a:srgbClr val="F6F2E8"/>
                </a:solidFill>
              </a:rPr>
              <a:t>143—168㎡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C177EF-993C-46F2-A3BC-E9CFFB86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95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8DE"/>
                </a:solidFill>
              </a:defRPr>
            </a:pPr>
            <a:r>
              <a:rPr sz="1425" b="0">
                <a:solidFill>
                  <a:srgbClr val="D6E8DE"/>
                </a:solidFill>
              </a:rPr>
              <a:t>双套房</a:t>
            </a:r>
          </a:p>
          <a:p xmlns:a="http://schemas.openxmlformats.org/drawingml/2006/main">
            <a:pPr algn="l">
              <a:defRPr sz="1425" b="0">
                <a:solidFill>
                  <a:srgbClr val="D6E8DE"/>
                </a:solidFill>
              </a:defRPr>
            </a:pPr>
            <a:r>
              <a:rPr sz="1425" b="0">
                <a:solidFill>
                  <a:srgbClr val="D6E8DE"/>
                </a:solidFill>
              </a:rPr>
              <a:t>可变书房</a:t>
            </a:r>
          </a:p>
          <a:p xmlns:a="http://schemas.openxmlformats.org/drawingml/2006/main">
            <a:pPr algn="l">
              <a:defRPr sz="1425" b="0">
                <a:solidFill>
                  <a:srgbClr val="D6E8DE"/>
                </a:solidFill>
              </a:defRPr>
            </a:pPr>
            <a:r>
              <a:rPr sz="1425" b="0">
                <a:solidFill>
                  <a:srgbClr val="D6E8DE"/>
                </a:solidFill>
              </a:rPr>
              <a:t>园林—架空层—会所</a:t>
            </a:r>
          </a:p>
        </p:txBody>
      </p:sp>
    </p:spTree>
    <p:extLst>
      <p:ext uri="{BB962C8B-B14F-4D97-AF65-F5344CB8AC3E}">
        <p14:creationId xmlns:p14="http://schemas.microsoft.com/office/powerpoint/2010/main" val="2045313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B0942113-9DE9-415F-879D-898B9BAD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UE制作蓝图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E85BDC-9BCE-4A35-B8D2-02633571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3128"/>
                </a:solidFill>
              </a:defRPr>
            </a:pPr>
            <a:r>
              <a:rPr sz="2925" b="1">
                <a:solidFill>
                  <a:srgbClr val="153128"/>
                </a:solidFill>
              </a:rPr>
              <a:t>一套共享底座承接三条竞争力，再按家庭任务打开专属内容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B02A4426-0449-4680-A2D0-1C962ABA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A068104F-5F05-447D-9678-0B958E8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F222081C-BBBD-4F1D-BBF1-FEB1A56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F57731-3650-401C-BEFB-9168C2C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16</a:t>
            </a:r>
          </a:p>
        </p:txBody>
      </p:sp>
      <p:sp>
        <p:nvSpPr>
          <p:cNvPr id="7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4DE36850-D652-4E30-AFC6-59834766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81250" y="2781300"/>
            <a:ext cx="37147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269">
                <a:alpha val="52000"/>
              </a:srgbClr>
            </a:solidFill>
            <a:prstDash val="solid"/>
          </a:ln>
        </p:spPr>
      </p:sp>
      <p:sp>
        <p:nvSpPr>
          <p:cNvPr id="8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D72994C5-6352-4AFC-B689-0CCEDA3F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269">
                <a:alpha val="52000"/>
              </a:srgbClr>
            </a:solidFill>
            <a:prstDash val="solid"/>
          </a:ln>
        </p:spPr>
      </p:sp>
      <p:sp>
        <p:nvSpPr>
          <p:cNvPr id="9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CBE7F1E-0360-44EF-A033-18AEAA9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37147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269">
                <a:alpha val="52000"/>
              </a:srgbClr>
            </a:solidFill>
            <a:prstDash val="solid"/>
          </a:ln>
        </p:spPr>
      </p:sp>
      <p:sp>
        <p:nvSpPr>
          <p:cNvPr id="10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1FC5077B-CECE-444D-9C89-83054A39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20002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B56D"/>
            </a:solidFill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126D6A5-1E8D-4421-BED4-3DCBA3D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26670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72B"/>
          </a:solidFill>
          <a:ln xmlns:a="http://schemas.openxmlformats.org/drawingml/2006/main" w="19050">
            <a:solidFill>
              <a:srgbClr val="D8B56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6DF666-643D-45BB-A6D2-BA04A65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</a:defRPr>
            </a:pPr>
            <a:r>
              <a:rPr sz="1875" b="1">
                <a:solidFill>
                  <a:srgbClr val="F6F2E8"/>
                </a:solidFill>
              </a:rPr>
              <a:t>通用接待底座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211396-4CBD-49BF-A57B-CC2D80C0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8DE"/>
                </a:solidFill>
              </a:defRPr>
            </a:pPr>
            <a:r>
              <a:rPr sz="975" b="0">
                <a:solidFill>
                  <a:srgbClr val="D6E8DE"/>
                </a:solidFill>
              </a:rPr>
              <a:t>全屏场景 · 双侧信息 · 底部导航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ED66FA00-182C-4983-89BA-AFA2796E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32385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EEAA6E-5142-4DA2-8FDC-85A3CE3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城市关系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4E371D-F3CE-400F-8A8A-477AA783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9"/>
                </a:solidFill>
              </a:defRPr>
            </a:pPr>
            <a:r>
              <a:rPr sz="1275" b="0">
                <a:solidFill>
                  <a:srgbClr val="607269"/>
                </a:solidFill>
              </a:rPr>
              <a:t>两条就业方向</a:t>
            </a:r>
          </a:p>
          <a:p xmlns:a="http://schemas.openxmlformats.org/drawingml/2006/main">
            <a:pPr algn="l">
              <a:defRPr sz="1275" b="0">
                <a:solidFill>
                  <a:srgbClr val="607269"/>
                </a:solidFill>
              </a:defRPr>
            </a:pPr>
            <a:r>
              <a:rPr sz="1275" b="0">
                <a:solidFill>
                  <a:srgbClr val="607269"/>
                </a:solidFill>
              </a:rPr>
              <a:t>家庭时间比较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7A359F1-C9B5-4012-B1FF-C5B5A5E9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32385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47A6E2-BA91-4B37-975B-4BD0E3E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连续归家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235915-3974-41E9-B346-E862574C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9"/>
                </a:solidFill>
              </a:defRPr>
            </a:pPr>
            <a:r>
              <a:rPr sz="1275" b="0">
                <a:solidFill>
                  <a:srgbClr val="607269"/>
                </a:solidFill>
              </a:rPr>
              <a:t>到达—园林—架空层—会所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75381B3-686C-41C5-9ADA-370904D7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32385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7E1D5"/>
          </a:solidFill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69202E-724F-454D-863A-FD8A8AC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128"/>
                </a:solidFill>
              </a:defRPr>
            </a:pPr>
            <a:r>
              <a:rPr sz="1800" b="1">
                <a:solidFill>
                  <a:srgbClr val="153128"/>
                </a:solidFill>
              </a:rPr>
              <a:t>家庭弹性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CD75F86-4C1F-4623-968E-BBA3EC7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672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9"/>
                </a:solidFill>
              </a:defRPr>
            </a:pPr>
            <a:r>
              <a:rPr sz="1275" b="0">
                <a:solidFill>
                  <a:srgbClr val="607269"/>
                </a:solidFill>
              </a:rPr>
              <a:t>双套房与可变书房</a:t>
            </a:r>
          </a:p>
          <a:p xmlns:a="http://schemas.openxmlformats.org/drawingml/2006/main">
            <a:pPr algn="l">
              <a:defRPr sz="1275" b="0">
                <a:solidFill>
                  <a:srgbClr val="607269"/>
                </a:solidFill>
              </a:defRPr>
            </a:pPr>
            <a:r>
              <a:rPr sz="1275" b="0">
                <a:solidFill>
                  <a:srgbClr val="607269"/>
                </a:solidFill>
              </a:rPr>
              <a:t>三种状态切换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42F844F-ADEF-4F61-BB6F-3C492B4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5334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B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83BEC7E-16D9-4A20-9610-31553E4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912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E18"/>
                </a:solidFill>
              </a:defRPr>
            </a:pPr>
            <a:r>
              <a:rPr sz="1200" b="1">
                <a:solidFill>
                  <a:srgbClr val="071E18"/>
                </a:solidFill>
              </a:rPr>
              <a:t>AI推荐官识别条件 → 组合内容 → 手机继续看</a:t>
            </a:r>
          </a:p>
        </p:txBody>
      </p:sp>
    </p:spTree>
    <p:extLst>
      <p:ext uri="{BB962C8B-B14F-4D97-AF65-F5344CB8AC3E}">
        <p14:creationId xmlns:p14="http://schemas.microsoft.com/office/powerpoint/2010/main" val="7596652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9a912581a44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2D8121DF-4783-48EE-A23E-3EA7674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A15">
                  <a:alpha val="94000"/>
                </a:srgbClr>
              </a:gs>
              <a:gs pos="55000">
                <a:srgbClr val="061A15">
                  <a:alpha val="72000"/>
                </a:srgbClr>
              </a:gs>
              <a:gs pos="100000">
                <a:srgbClr val="061A15">
                  <a:alpha val="2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2F4BA9F-5B10-4C1E-82F2-445973D7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全屏UE展示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FCA3865-DF17-4C16-8797-6B2D5F72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2E8"/>
                </a:solidFill>
              </a:defRPr>
            </a:pPr>
            <a:r>
              <a:rPr sz="1875" b="1">
                <a:solidFill>
                  <a:srgbClr val="F6F2E8"/>
                </a:solidFill>
              </a:rPr>
              <a:t>同一视角里完成方向切换、数字比较与项目定位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67229270-5241-4D28-85B4-72B356D6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35623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E18">
              <a:alpha val="88000"/>
            </a:srgbClr>
          </a:solidFill>
          <a:ln xmlns:a="http://schemas.openxmlformats.org/drawingml/2006/main" w="9525">
            <a:solidFill>
              <a:srgbClr val="D6E8DE">
                <a:alpha val="22000"/>
              </a:srgbClr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6A39ED-17A9-42DC-9FB5-A4D1110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245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CEC7"/>
                </a:solidFill>
              </a:defRPr>
            </a:pPr>
            <a:r>
              <a:rPr sz="1200" b="0">
                <a:solidFill>
                  <a:srgbClr val="C6CEC7"/>
                </a:solidFill>
              </a:rPr>
              <a:t>客户先选方向，顾问再把“位置是否可接受”讲成共同判断。</a:t>
            </a:r>
          </a:p>
        </p:txBody>
      </p:sp>
    </p:spTree>
    <p:extLst>
      <p:ext uri="{BB962C8B-B14F-4D97-AF65-F5344CB8AC3E}">
        <p14:creationId xmlns:p14="http://schemas.microsoft.com/office/powerpoint/2010/main" val="171561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B5084FE-FDBA-492D-9443-12FC4A6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B56D"/>
                </a:solidFill>
              </a:defRPr>
            </a:pPr>
            <a:r>
              <a:rPr sz="975" b="1">
                <a:solidFill>
                  <a:srgbClr val="D8B56D"/>
                </a:solidFill>
              </a:rPr>
              <a:t>AI推荐官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B31011-70CD-43B2-90EB-05784061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3128"/>
                </a:solidFill>
              </a:defRPr>
            </a:pPr>
            <a:r>
              <a:rPr sz="2925" b="1">
                <a:solidFill>
                  <a:srgbClr val="153128"/>
                </a:solidFill>
              </a:rPr>
              <a:t>四个生活问题把三条竞争力重排成一条专属看房路线</a:t>
            </a:r>
          </a:p>
        </p:txBody>
      </p:sp>
      <p:sp>
        <p:nvSpPr>
          <p:cNvPr id="3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164C9B88-6468-4630-ABE8-3D345158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D6435"/>
                </a:solidFill>
              </a:defRPr>
            </a:pPr>
            <a:r>
              <a:rPr sz="750" b="1">
                <a:solidFill>
                  <a:srgbClr val="7D6435"/>
                </a:solidFill>
              </a:rPr>
              <a:t>PUBLIC-SAFE FICTIONAL REFERENCE</a:t>
            </a:r>
          </a:p>
        </p:txBody>
      </p:sp>
      <p:sp>
        <p:nvSpPr>
          <p:cNvPr id="4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25323247-DF38-4005-A157-2D9EA10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3128">
                <a:alpha val="18000"/>
              </a:srgbClr>
            </a:solidFill>
            <a:prstDash val="solid"/>
          </a:ln>
        </p:spPr>
      </p:sp>
      <p:sp>
        <p:nvSpPr>
          <p:cNvPr id="5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8B33E358-F005-4FDA-9AAC-B3BCE8AB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EE5EF3-733D-4340-B0B2-2314A649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53128">
                    <a:alpha val="56000"/>
                  </a:srgbClr>
                </a:solidFill>
              </a:defRPr>
            </a:pPr>
            <a:r>
              <a:rPr sz="750" b="0">
                <a:solidFill>
                  <a:srgbClr val="153128">
                    <a:alpha val="56000"/>
                  </a:srgbClr>
                </a:solidFill>
              </a:rPr>
              <a:t>18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c1ac9e87e4042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90700"/>
            <a:ext cx="7429500" cy="4171950"/>
          </a:xfrm>
          <a:prstGeom xmlns:a="http://schemas.openxmlformats.org/drawingml/2006/main" prst="roundRect">
            <a:avLst>
              <a:gd name="adj" fmla="val 3653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c4dec1f274cd2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562100"/>
            <a:ext cx="2095500" cy="45339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9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9988C10A-10A2-4B10-A5B1-5340005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128">
                <a:alpha val="28000"/>
              </a:srgbClr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65E507D-37A8-4DBC-B015-7FC509A8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7954"/>
                </a:solidFill>
              </a:defRPr>
            </a:pPr>
            <a:r>
              <a:rPr sz="1050" b="1">
                <a:solidFill>
                  <a:srgbClr val="B87954"/>
                </a:solidFill>
              </a:rPr>
              <a:t>桌面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A353C1-BDEA-4807-89F7-ACB7E16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24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7954"/>
                </a:solidFill>
              </a:defRPr>
            </a:pPr>
            <a:r>
              <a:rPr sz="1050" b="1">
                <a:solidFill>
                  <a:srgbClr val="B87954"/>
                </a:solidFill>
              </a:rPr>
              <a:t>手机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A9A5C0-1CE5-4B58-B42E-38B61C5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72B"/>
                </a:solidFill>
              </a:defRPr>
            </a:pPr>
            <a:r>
              <a:rPr sz="1200" b="1">
                <a:solidFill>
                  <a:srgbClr val="10372B"/>
                </a:solidFill>
              </a:rPr>
              <a:t>识别家庭任务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C2E079-B91A-4CE3-BB72-E5EE6F89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72B"/>
                </a:solidFill>
              </a:defRPr>
            </a:pPr>
            <a:r>
              <a:rPr sz="1200" b="1">
                <a:solidFill>
                  <a:srgbClr val="10372B"/>
                </a:solidFill>
              </a:rPr>
              <a:t>组合三条理由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7D20FC0-9909-4DE4-8D1B-02C5D189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2440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72B"/>
                </a:solidFill>
              </a:defRPr>
            </a:pPr>
            <a:r>
              <a:rPr sz="1200" b="1">
                <a:solidFill>
                  <a:srgbClr val="10372B"/>
                </a:solidFill>
              </a:rPr>
              <a:t>带走现场顺序</a:t>
            </a:r>
          </a:p>
        </p:txBody>
      </p:sp>
    </p:spTree>
    <p:extLst>
      <p:ext uri="{BB962C8B-B14F-4D97-AF65-F5344CB8AC3E}">
        <p14:creationId xmlns:p14="http://schemas.microsoft.com/office/powerpoint/2010/main" val="368055396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15"/>
            </a:gs>
            <a:gs pos="64000">
              <a:srgbClr val="10372B"/>
            </a:gs>
            <a:gs pos="100000">
              <a:srgbClr val="071E1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7AE0A9E-1BE3-440B-B355-7946463B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B56D"/>
                </a:solidFill>
              </a:defRPr>
            </a:pPr>
            <a:r>
              <a:rPr sz="1125" b="1">
                <a:solidFill>
                  <a:srgbClr val="D8B56D"/>
                </a:solidFill>
              </a:rPr>
              <a:t>最终收口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42CBE0-8A36-4999-BEB4-A39C78F6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6F2E8"/>
                </a:solidFill>
              </a:defRPr>
            </a:pPr>
            <a:r>
              <a:rPr sz="4200" b="1">
                <a:solidFill>
                  <a:srgbClr val="F6F2E8"/>
                </a:solidFill>
              </a:rPr>
              <a:t>把一次复杂改善，</a:t>
            </a:r>
          </a:p>
          <a:p xmlns:a="http://schemas.openxmlformats.org/drawingml/2006/main">
            <a:pPr algn="l">
              <a:defRPr sz="4200" b="1">
                <a:solidFill>
                  <a:srgbClr val="F6F2E8"/>
                </a:solidFill>
              </a:defRPr>
            </a:pPr>
            <a:r>
              <a:rPr sz="4200" b="1">
                <a:solidFill>
                  <a:srgbClr val="F6F2E8"/>
                </a:solidFill>
              </a:rPr>
              <a:t>变成三次清楚选择</a:t>
            </a:r>
          </a:p>
        </p:txBody>
      </p:sp>
      <p:sp>
        <p:nvSpPr>
          <p:cNvPr id="3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273CC0BE-C316-4713-B2BA-08F9CA6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8DE">
                <a:alpha val="24000"/>
              </a:srgbClr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21A84A-B305-4805-A706-AADDD67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B56D"/>
                </a:solidFill>
              </a:defRPr>
            </a:pPr>
            <a:r>
              <a:rPr sz="2100" b="1">
                <a:solidFill>
                  <a:srgbClr val="D8B56D"/>
                </a:solidFill>
              </a:rPr>
              <a:t>位置可比较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BBBC4F-7FB0-44AA-ABF7-A3F85A1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8DE"/>
                </a:solidFill>
              </a:defRPr>
            </a:pPr>
            <a:r>
              <a:rPr sz="1350" b="0">
                <a:solidFill>
                  <a:srgbClr val="D6E8DE"/>
                </a:solidFill>
              </a:rPr>
              <a:t>两条就业方向共同进入家庭时间表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6C5949-F31E-484F-A670-D610523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B56D"/>
                </a:solidFill>
              </a:defRPr>
            </a:pPr>
            <a:r>
              <a:rPr sz="2100" b="1">
                <a:solidFill>
                  <a:srgbClr val="D8B56D"/>
                </a:solidFill>
              </a:rPr>
              <a:t>低密可体验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91720C-7557-4DBD-94B6-B1F1AC5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8DE"/>
                </a:solidFill>
              </a:defRPr>
            </a:pPr>
            <a:r>
              <a:rPr sz="1350" b="0">
                <a:solidFill>
                  <a:srgbClr val="D6E8DE"/>
                </a:solidFill>
              </a:rPr>
              <a:t>连续归家把配置变成每天使用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0FBC202-38B8-4D20-9FBF-2C179349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B56D"/>
                </a:solidFill>
              </a:defRPr>
            </a:pPr>
            <a:r>
              <a:rPr sz="2100" b="1">
                <a:solidFill>
                  <a:srgbClr val="D8B56D"/>
                </a:solidFill>
              </a:rPr>
              <a:t>选择可推进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1587F9-7D75-499A-8EB0-6DEEB58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62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8DE"/>
                </a:solidFill>
              </a:defRPr>
            </a:pPr>
            <a:r>
              <a:rPr sz="1350" b="0">
                <a:solidFill>
                  <a:srgbClr val="D6E8DE"/>
                </a:solidFill>
              </a:rPr>
              <a:t>空间先适配，价格后判断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084213-A6E0-425C-9B7A-C189A95F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青岚澄境｜双节点生活里的低密改善住区</a:t>
            </a:r>
          </a:p>
        </p:txBody>
      </p:sp>
      <p:sp>
        <p:nvSpPr>
          <p:cNvPr id="11" name="fixture-mark">
            <a:extLst xmlns:a="http://schemas.openxmlformats.org/drawingml/2006/main">
              <a:ext uri="{FF2B5EF4-FFF2-40B4-BE49-F238E27FC236}">
                <a16:creationId xmlns:a16="http://schemas.microsoft.com/office/drawing/2014/main" id="{E76F24F9-F41F-4F43-B549-39FBDFC9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8B56D"/>
                </a:solidFill>
              </a:defRPr>
            </a:pPr>
            <a:r>
              <a:rPr sz="750" b="1">
                <a:solidFill>
                  <a:srgbClr val="D8B56D"/>
                </a:solidFill>
              </a:rPr>
              <a:t>PUBLIC-SAFE FICTIONAL REFERENCE</a:t>
            </a:r>
          </a:p>
        </p:txBody>
      </p:sp>
      <p:sp>
        <p:nvSpPr>
          <p:cNvPr id="12" name="relationship-line">
            <a:extLst xmlns:a="http://schemas.openxmlformats.org/drawingml/2006/main">
              <a:ext uri="{FF2B5EF4-FFF2-40B4-BE49-F238E27FC236}">
                <a16:creationId xmlns:a16="http://schemas.microsoft.com/office/drawing/2014/main" id="{7761AC66-1631-4A49-8B4C-520200F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5">
                <a:alpha val="22000"/>
              </a:srgbClr>
            </a:solidFill>
            <a:prstDash val="solid"/>
          </a:ln>
        </p:spPr>
      </p:sp>
      <p:sp>
        <p:nvSpPr>
          <p:cNvPr id="13" name="fixture-footer">
            <a:extLst xmlns:a="http://schemas.openxmlformats.org/drawingml/2006/main">
              <a:ext uri="{FF2B5EF4-FFF2-40B4-BE49-F238E27FC236}">
                <a16:creationId xmlns:a16="http://schemas.microsoft.com/office/drawing/2014/main" id="{50136456-50E6-447E-B772-7A3CAC9C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青岚澄境｜全量虚构公开参考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AA3B57-FE5A-4DD1-B69A-9B76C432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6F2E8">
                    <a:alpha val="58000"/>
                  </a:srgbClr>
                </a:solidFill>
              </a:defRPr>
            </a:pPr>
            <a:r>
              <a:rPr sz="750" b="0">
                <a:solidFill>
                  <a:srgbClr val="F6F2E8">
                    <a:alpha val="58000"/>
                  </a:srgbClr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6632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2026-09-01T05:59:30.4390000Z</dcterms:created>
  <dcterms:modified xsi:type="dcterms:W3CDTF">2026-09-01T05:59:30.4390000Z</dcterms:modified>
</coreProperties>
</file>